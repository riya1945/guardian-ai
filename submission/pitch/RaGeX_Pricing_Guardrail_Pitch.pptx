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RaGeX is a working demo prototype, not a production deployment. It watches AI pricing decisions, flags risky ones, estimates the rupee cost of getting it wrong, and explains the verdict with policy evidence. Data is synthetic and the policy corpus is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repricing runs continuously. A bad move is usually found after the damage. Existing dashboards report what happened but not why a specific decision is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on one path: deterministic guardrails, an ML regret estimate in rupees, and RAG explanation grounded in policy and incident documents. Components are decoupled and communicate only through the shared JSON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emits a DecisionEnvelope, FastAPI receives it, Exasol Personal stores it. Guardrail, regret and RAG layers read from the same store. Person A owns data and guardrails, Person B the regret engine, Person C RAG and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Exasol Personal is the analytical backbone. It holds pricing history, simulator decisions, guardrail flags, policy documents and RAG chunks, and gives us fast SQL for z-score baselines and the audit trail. Local first, so the demo does not depend on network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DEC-1042. Guardrail flags a competitor ceiling breach, regret engine estimates 1562 rupees, RAG cites four snippets, and the dashboard recommends holding the price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pipeline is live. 22 backend tests pass, 1800 history rows are seeded, 132 chunks are indexed, and the Render endpoint accepts guardrail decisions. The RAG layer refuses questions it cannot support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real pricing feeds, cloud Exasol, approval workflow, role based access, a reward model trained on real outcomes, and alerting. Close on the line: every price decision should be explainable before it costs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685800" y="868680"/>
            <a:ext cx="6035040" cy="237744"/>
          </a:xfrm>
          <a:prstGeom prst="rect">
            <a:avLst/>
          </a:prstGeom>
          <a:noFill/>
          <a:ln/>
        </p:spPr>
        <p:txBody>
          <a:bodyPr wrap="square" lIns="0" tIns="0" rIns="0" bIns="0" rtlCol="0" anchor="t"/>
          <a:lstStyle/>
          <a:p>
            <a:pPr indent="0" marL="0">
              <a:buNone/>
            </a:pPr>
            <a:r>
              <a:rPr lang="en-US" sz="1050" b="1" spc="220" kern="0" dirty="0">
                <a:solidFill>
                  <a:srgbClr val="7C6CFF"/>
                </a:solidFill>
                <a:latin typeface="Arial" pitchFamily="34" charset="0"/>
                <a:ea typeface="Arial" pitchFamily="34" charset="-122"/>
                <a:cs typeface="Arial" pitchFamily="34" charset="-120"/>
              </a:rPr>
              <a:t>EXASOL PERSONAL CHALLENGE   ·   HACKATHON PROTOTYPE</a:t>
            </a:r>
            <a:endParaRPr lang="en-US" sz="1050" dirty="0"/>
          </a:p>
        </p:txBody>
      </p:sp>
      <p:sp>
        <p:nvSpPr>
          <p:cNvPr id="3" name="Text 1"/>
          <p:cNvSpPr/>
          <p:nvPr/>
        </p:nvSpPr>
        <p:spPr>
          <a:xfrm>
            <a:off x="685800" y="1207008"/>
            <a:ext cx="6035040" cy="1463040"/>
          </a:xfrm>
          <a:prstGeom prst="rect">
            <a:avLst/>
          </a:prstGeom>
          <a:noFill/>
          <a:ln/>
        </p:spPr>
        <p:txBody>
          <a:bodyPr wrap="square" lIns="0" tIns="0" rIns="0" bIns="0" rtlCol="0" anchor="t"/>
          <a:lstStyle/>
          <a:p>
            <a:pPr indent="0" marL="0">
              <a:lnSpc>
                <a:spcPts val="5000"/>
              </a:lnSpc>
              <a:buNone/>
            </a:pPr>
            <a:r>
              <a:rPr lang="en-US" sz="4600" b="1" spc="-100" kern="0" dirty="0">
                <a:solidFill>
                  <a:srgbClr val="35C4F0"/>
                </a:solidFill>
                <a:latin typeface="Arial" pitchFamily="34" charset="0"/>
                <a:ea typeface="Arial" pitchFamily="34" charset="-122"/>
                <a:cs typeface="Arial" pitchFamily="34" charset="-120"/>
              </a:rPr>
              <a:t>RaGeX</a:t>
            </a:r>
            <a:pPr indent="0" marL="0">
              <a:lnSpc>
                <a:spcPts val="5000"/>
              </a:lnSpc>
              <a:buNone/>
            </a:pPr>
            <a:r>
              <a:rPr lang="en-US" sz="4600" b="1" spc="-100" kern="0" dirty="0">
                <a:solidFill>
                  <a:srgbClr val="EAF1FA"/>
                </a:solidFill>
                <a:latin typeface="Arial" pitchFamily="34" charset="0"/>
                <a:ea typeface="Arial" pitchFamily="34" charset="-122"/>
                <a:cs typeface="Arial" pitchFamily="34" charset="-120"/>
              </a:rPr>
              <a:t> Pricing</a:t>
            </a:r>
            <a:pPr indent="0" marL="0">
              <a:lnSpc>
                <a:spcPts val="5000"/>
              </a:lnSpc>
              <a:buNone/>
            </a:pPr>
            <a:endParaRPr lang="en-US" sz="4600" dirty="0"/>
          </a:p>
          <a:p>
            <a:pPr indent="0" marL="0">
              <a:lnSpc>
                <a:spcPts val="5000"/>
              </a:lnSpc>
              <a:buNone/>
            </a:pPr>
            <a:r>
              <a:rPr lang="en-US" sz="4600" b="1" spc="-100" kern="0" dirty="0">
                <a:solidFill>
                  <a:srgbClr val="EAF1FA"/>
                </a:solidFill>
                <a:latin typeface="Arial" pitchFamily="34" charset="0"/>
                <a:ea typeface="Arial" pitchFamily="34" charset="-122"/>
                <a:cs typeface="Arial" pitchFamily="34" charset="-120"/>
              </a:rPr>
              <a:t>Guardrail</a:t>
            </a:r>
            <a:endParaRPr lang="en-US" sz="4600" dirty="0"/>
          </a:p>
        </p:txBody>
      </p:sp>
      <p:sp>
        <p:nvSpPr>
          <p:cNvPr id="4" name="Text 2"/>
          <p:cNvSpPr/>
          <p:nvPr/>
        </p:nvSpPr>
        <p:spPr>
          <a:xfrm>
            <a:off x="685800" y="2788920"/>
            <a:ext cx="5943600" cy="329184"/>
          </a:xfrm>
          <a:prstGeom prst="rect">
            <a:avLst/>
          </a:prstGeom>
          <a:noFill/>
          <a:ln/>
        </p:spPr>
        <p:txBody>
          <a:bodyPr wrap="square" lIns="0" tIns="0" rIns="0" bIns="0" rtlCol="0" anchor="t"/>
          <a:lstStyle/>
          <a:p>
            <a:pPr indent="0" marL="0">
              <a:buNone/>
            </a:pPr>
            <a:r>
              <a:rPr lang="en-US" sz="1650" dirty="0">
                <a:solidFill>
                  <a:srgbClr val="C6D6EA"/>
                </a:solidFill>
                <a:latin typeface="Arial" pitchFamily="34" charset="0"/>
                <a:ea typeface="Arial" pitchFamily="34" charset="-122"/>
                <a:cs typeface="Arial" pitchFamily="34" charset="-120"/>
              </a:rPr>
              <a:t>Real-time guardrails and explanations for AI pricing decisions</a:t>
            </a:r>
            <a:endParaRPr lang="en-US" sz="1650" dirty="0"/>
          </a:p>
        </p:txBody>
      </p:sp>
      <p:sp>
        <p:nvSpPr>
          <p:cNvPr id="5" name="Text 3"/>
          <p:cNvSpPr/>
          <p:nvPr/>
        </p:nvSpPr>
        <p:spPr>
          <a:xfrm>
            <a:off x="685800" y="3246120"/>
            <a:ext cx="5760720" cy="731520"/>
          </a:xfrm>
          <a:prstGeom prst="rect">
            <a:avLst/>
          </a:prstGeom>
          <a:noFill/>
          <a:ln/>
        </p:spPr>
        <p:txBody>
          <a:bodyPr wrap="square" lIns="0" tIns="0" rIns="0" bIns="0" rtlCol="0" anchor="t"/>
          <a:lstStyle/>
          <a:p>
            <a:pPr indent="0" marL="0">
              <a:lnSpc>
                <a:spcPts val="1900"/>
              </a:lnSpc>
              <a:buNone/>
            </a:pPr>
            <a:r>
              <a:rPr lang="en-US" sz="1300" dirty="0">
                <a:solidFill>
                  <a:srgbClr val="9CB0CB"/>
                </a:solidFill>
                <a:latin typeface="Arial" pitchFamily="34" charset="0"/>
                <a:ea typeface="Arial" pitchFamily="34" charset="-122"/>
                <a:cs typeface="Arial" pitchFamily="34" charset="-120"/>
              </a:rPr>
              <a:t>A demo platform that detects risky AI price changes, estimates regret in ₹, and explains every decision using grounded policy evidence.</a:t>
            </a:r>
            <a:endParaRPr lang="en-US" sz="1300" dirty="0"/>
          </a:p>
        </p:txBody>
      </p:sp>
      <p:sp>
        <p:nvSpPr>
          <p:cNvPr id="6" name="Text 4"/>
          <p:cNvSpPr/>
          <p:nvPr/>
        </p:nvSpPr>
        <p:spPr>
          <a:xfrm>
            <a:off x="685800" y="4224528"/>
            <a:ext cx="1097280" cy="201168"/>
          </a:xfrm>
          <a:prstGeom prst="rect">
            <a:avLst/>
          </a:prstGeom>
          <a:noFill/>
          <a:ln/>
        </p:spPr>
        <p:txBody>
          <a:bodyPr wrap="square" lIns="0" tIns="0" rIns="0" bIns="0" rtlCol="0" anchor="t"/>
          <a:lstStyle/>
          <a:p>
            <a:pPr indent="0" marL="0">
              <a:buNone/>
            </a:pPr>
            <a:r>
              <a:rPr lang="en-US" sz="950" b="1" spc="180" kern="0" dirty="0">
                <a:solidFill>
                  <a:srgbClr val="6E8299"/>
                </a:solidFill>
                <a:latin typeface="Arial" pitchFamily="34" charset="0"/>
                <a:ea typeface="Arial" pitchFamily="34" charset="-122"/>
                <a:cs typeface="Arial" pitchFamily="34" charset="-120"/>
              </a:rPr>
              <a:t>TEAM</a:t>
            </a:r>
            <a:endParaRPr lang="en-US" sz="950" dirty="0"/>
          </a:p>
        </p:txBody>
      </p:sp>
      <p:sp>
        <p:nvSpPr>
          <p:cNvPr id="7" name="Shape 5"/>
          <p:cNvSpPr/>
          <p:nvPr/>
        </p:nvSpPr>
        <p:spPr>
          <a:xfrm>
            <a:off x="685800" y="4480560"/>
            <a:ext cx="1316736" cy="420624"/>
          </a:xfrm>
          <a:prstGeom prst="roundRect">
            <a:avLst>
              <a:gd name="adj" fmla="val 10870"/>
            </a:avLst>
          </a:prstGeom>
          <a:solidFill>
            <a:srgbClr val="0F1D33"/>
          </a:solidFill>
          <a:ln w="12700">
            <a:solidFill>
              <a:srgbClr val="1E3454"/>
            </a:solidFill>
            <a:prstDash val="solid"/>
          </a:ln>
        </p:spPr>
      </p:sp>
      <p:sp>
        <p:nvSpPr>
          <p:cNvPr id="8" name="Text 6"/>
          <p:cNvSpPr/>
          <p:nvPr/>
        </p:nvSpPr>
        <p:spPr>
          <a:xfrm>
            <a:off x="685800" y="4590288"/>
            <a:ext cx="1316736" cy="219456"/>
          </a:xfrm>
          <a:prstGeom prst="rect">
            <a:avLst/>
          </a:prstGeom>
          <a:noFill/>
          <a:ln/>
        </p:spPr>
        <p:txBody>
          <a:bodyPr wrap="square" lIns="0" tIns="0" rIns="0" bIns="0" rtlCol="0" anchor="t"/>
          <a:lstStyle/>
          <a:p>
            <a:pPr algn="ctr" indent="0" marL="0">
              <a:buNone/>
            </a:pPr>
            <a:r>
              <a:rPr lang="en-US" sz="1250" b="1" dirty="0">
                <a:solidFill>
                  <a:srgbClr val="EAF1FA"/>
                </a:solidFill>
                <a:latin typeface="Arial" pitchFamily="34" charset="0"/>
                <a:ea typeface="Arial" pitchFamily="34" charset="-122"/>
                <a:cs typeface="Arial" pitchFamily="34" charset="-120"/>
              </a:rPr>
              <a:t>Divija</a:t>
            </a:r>
            <a:endParaRPr lang="en-US" sz="1250" dirty="0"/>
          </a:p>
        </p:txBody>
      </p:sp>
      <p:sp>
        <p:nvSpPr>
          <p:cNvPr id="9" name="Shape 7"/>
          <p:cNvSpPr/>
          <p:nvPr/>
        </p:nvSpPr>
        <p:spPr>
          <a:xfrm>
            <a:off x="2167128" y="4480560"/>
            <a:ext cx="1316736" cy="420624"/>
          </a:xfrm>
          <a:prstGeom prst="roundRect">
            <a:avLst>
              <a:gd name="adj" fmla="val 10870"/>
            </a:avLst>
          </a:prstGeom>
          <a:solidFill>
            <a:srgbClr val="0F1D33"/>
          </a:solidFill>
          <a:ln w="12700">
            <a:solidFill>
              <a:srgbClr val="1E3454"/>
            </a:solidFill>
            <a:prstDash val="solid"/>
          </a:ln>
        </p:spPr>
      </p:sp>
      <p:sp>
        <p:nvSpPr>
          <p:cNvPr id="10" name="Text 8"/>
          <p:cNvSpPr/>
          <p:nvPr/>
        </p:nvSpPr>
        <p:spPr>
          <a:xfrm>
            <a:off x="2167128" y="4590288"/>
            <a:ext cx="1316736" cy="219456"/>
          </a:xfrm>
          <a:prstGeom prst="rect">
            <a:avLst/>
          </a:prstGeom>
          <a:noFill/>
          <a:ln/>
        </p:spPr>
        <p:txBody>
          <a:bodyPr wrap="square" lIns="0" tIns="0" rIns="0" bIns="0" rtlCol="0" anchor="t"/>
          <a:lstStyle/>
          <a:p>
            <a:pPr algn="ctr" indent="0" marL="0">
              <a:buNone/>
            </a:pPr>
            <a:r>
              <a:rPr lang="en-US" sz="1250" b="1" dirty="0">
                <a:solidFill>
                  <a:srgbClr val="EAF1FA"/>
                </a:solidFill>
                <a:latin typeface="Arial" pitchFamily="34" charset="0"/>
                <a:ea typeface="Arial" pitchFamily="34" charset="-122"/>
                <a:cs typeface="Arial" pitchFamily="34" charset="-120"/>
              </a:rPr>
              <a:t>Riya</a:t>
            </a:r>
            <a:endParaRPr lang="en-US" sz="1250" dirty="0"/>
          </a:p>
        </p:txBody>
      </p:sp>
      <p:sp>
        <p:nvSpPr>
          <p:cNvPr id="11" name="Shape 9"/>
          <p:cNvSpPr/>
          <p:nvPr/>
        </p:nvSpPr>
        <p:spPr>
          <a:xfrm>
            <a:off x="3648456" y="4480560"/>
            <a:ext cx="1316736" cy="420624"/>
          </a:xfrm>
          <a:prstGeom prst="roundRect">
            <a:avLst>
              <a:gd name="adj" fmla="val 10870"/>
            </a:avLst>
          </a:prstGeom>
          <a:solidFill>
            <a:srgbClr val="0F1D33"/>
          </a:solidFill>
          <a:ln w="12700">
            <a:solidFill>
              <a:srgbClr val="1E3454"/>
            </a:solidFill>
            <a:prstDash val="solid"/>
          </a:ln>
        </p:spPr>
      </p:sp>
      <p:sp>
        <p:nvSpPr>
          <p:cNvPr id="12" name="Text 10"/>
          <p:cNvSpPr/>
          <p:nvPr/>
        </p:nvSpPr>
        <p:spPr>
          <a:xfrm>
            <a:off x="3648456" y="4590288"/>
            <a:ext cx="1316736" cy="219456"/>
          </a:xfrm>
          <a:prstGeom prst="rect">
            <a:avLst/>
          </a:prstGeom>
          <a:noFill/>
          <a:ln/>
        </p:spPr>
        <p:txBody>
          <a:bodyPr wrap="square" lIns="0" tIns="0" rIns="0" bIns="0" rtlCol="0" anchor="t"/>
          <a:lstStyle/>
          <a:p>
            <a:pPr algn="ctr" indent="0" marL="0">
              <a:buNone/>
            </a:pPr>
            <a:r>
              <a:rPr lang="en-US" sz="1250" b="1" dirty="0">
                <a:solidFill>
                  <a:srgbClr val="EAF1FA"/>
                </a:solidFill>
                <a:latin typeface="Arial" pitchFamily="34" charset="0"/>
                <a:ea typeface="Arial" pitchFamily="34" charset="-122"/>
                <a:cs typeface="Arial" pitchFamily="34" charset="-120"/>
              </a:rPr>
              <a:t>Ranbir</a:t>
            </a:r>
            <a:endParaRPr lang="en-US" sz="1250" dirty="0"/>
          </a:p>
        </p:txBody>
      </p:sp>
      <p:sp>
        <p:nvSpPr>
          <p:cNvPr id="13" name="Shape 11"/>
          <p:cNvSpPr/>
          <p:nvPr/>
        </p:nvSpPr>
        <p:spPr>
          <a:xfrm>
            <a:off x="6903720" y="960120"/>
            <a:ext cx="4709160" cy="4114800"/>
          </a:xfrm>
          <a:prstGeom prst="roundRect">
            <a:avLst>
              <a:gd name="adj" fmla="val 889"/>
            </a:avLst>
          </a:prstGeom>
          <a:solidFill>
            <a:srgbClr val="0F1D33"/>
          </a:solidFill>
          <a:ln w="12700">
            <a:solidFill>
              <a:srgbClr val="1E3454"/>
            </a:solidFill>
            <a:prstDash val="solid"/>
          </a:ln>
        </p:spPr>
      </p:sp>
      <p:sp>
        <p:nvSpPr>
          <p:cNvPr id="14" name="Text 12"/>
          <p:cNvSpPr/>
          <p:nvPr/>
        </p:nvSpPr>
        <p:spPr>
          <a:xfrm>
            <a:off x="7159752" y="1234440"/>
            <a:ext cx="2377440" cy="219456"/>
          </a:xfrm>
          <a:prstGeom prst="rect">
            <a:avLst/>
          </a:prstGeom>
          <a:noFill/>
          <a:ln/>
        </p:spPr>
        <p:txBody>
          <a:bodyPr wrap="square" lIns="0" tIns="0" rIns="0" bIns="0" rtlCol="0" anchor="t"/>
          <a:lstStyle/>
          <a:p>
            <a:pPr indent="0" marL="0">
              <a:buNone/>
            </a:pPr>
            <a:r>
              <a:rPr lang="en-US" sz="1000" b="1" spc="140" kern="0" dirty="0">
                <a:solidFill>
                  <a:srgbClr val="9CB0CB"/>
                </a:solidFill>
                <a:latin typeface="Arial" pitchFamily="34" charset="0"/>
                <a:ea typeface="Arial" pitchFamily="34" charset="-122"/>
                <a:cs typeface="Arial" pitchFamily="34" charset="-120"/>
              </a:rPr>
              <a:t>RaGeX CONSOLE</a:t>
            </a:r>
            <a:endParaRPr lang="en-US" sz="1000" dirty="0"/>
          </a:p>
        </p:txBody>
      </p:sp>
      <p:sp>
        <p:nvSpPr>
          <p:cNvPr id="15" name="Shape 13"/>
          <p:cNvSpPr/>
          <p:nvPr/>
        </p:nvSpPr>
        <p:spPr>
          <a:xfrm>
            <a:off x="10195560" y="1271016"/>
            <a:ext cx="109728" cy="109728"/>
          </a:xfrm>
          <a:prstGeom prst="ellipse">
            <a:avLst/>
          </a:prstGeom>
          <a:solidFill>
            <a:srgbClr val="2FBF71"/>
          </a:solidFill>
          <a:ln w="12700">
            <a:solidFill>
              <a:srgbClr val="2FBF71"/>
            </a:solidFill>
            <a:prstDash val="solid"/>
          </a:ln>
        </p:spPr>
      </p:sp>
      <p:sp>
        <p:nvSpPr>
          <p:cNvPr id="16" name="Text 14"/>
          <p:cNvSpPr/>
          <p:nvPr/>
        </p:nvSpPr>
        <p:spPr>
          <a:xfrm>
            <a:off x="10369296" y="1243584"/>
            <a:ext cx="1005840" cy="201168"/>
          </a:xfrm>
          <a:prstGeom prst="rect">
            <a:avLst/>
          </a:prstGeom>
          <a:noFill/>
          <a:ln/>
        </p:spPr>
        <p:txBody>
          <a:bodyPr wrap="square" lIns="0" tIns="0" rIns="0" bIns="0" rtlCol="0" anchor="t"/>
          <a:lstStyle/>
          <a:p>
            <a:pPr indent="0" marL="0">
              <a:buNone/>
            </a:pPr>
            <a:r>
              <a:rPr lang="en-US" sz="1000" dirty="0">
                <a:solidFill>
                  <a:srgbClr val="2FBF71"/>
                </a:solidFill>
                <a:latin typeface="Courier New" pitchFamily="34" charset="0"/>
                <a:ea typeface="Courier New" pitchFamily="34" charset="-122"/>
                <a:cs typeface="Courier New" pitchFamily="34" charset="-120"/>
              </a:rPr>
              <a:t>API live</a:t>
            </a:r>
            <a:endParaRPr lang="en-US" sz="1000" dirty="0"/>
          </a:p>
        </p:txBody>
      </p:sp>
      <p:sp>
        <p:nvSpPr>
          <p:cNvPr id="17" name="Shape 15"/>
          <p:cNvSpPr/>
          <p:nvPr/>
        </p:nvSpPr>
        <p:spPr>
          <a:xfrm>
            <a:off x="7159752" y="1618488"/>
            <a:ext cx="4197096" cy="1371600"/>
          </a:xfrm>
          <a:prstGeom prst="roundRect">
            <a:avLst>
              <a:gd name="adj" fmla="val 3333"/>
            </a:avLst>
          </a:prstGeom>
          <a:solidFill>
            <a:srgbClr val="2B1520"/>
          </a:solidFill>
          <a:ln w="12700">
            <a:solidFill>
              <a:srgbClr val="6E2530"/>
            </a:solidFill>
            <a:prstDash val="solid"/>
          </a:ln>
        </p:spPr>
      </p:sp>
      <p:sp>
        <p:nvSpPr>
          <p:cNvPr id="18" name="Text 16"/>
          <p:cNvSpPr/>
          <p:nvPr/>
        </p:nvSpPr>
        <p:spPr>
          <a:xfrm>
            <a:off x="7342632" y="1801368"/>
            <a:ext cx="1463040" cy="219456"/>
          </a:xfrm>
          <a:prstGeom prst="rect">
            <a:avLst/>
          </a:prstGeom>
          <a:noFill/>
          <a:ln/>
        </p:spPr>
        <p:txBody>
          <a:bodyPr wrap="square" lIns="0" tIns="0" rIns="0" bIns="0" rtlCol="0" anchor="t"/>
          <a:lstStyle/>
          <a:p>
            <a:pPr indent="0" marL="0">
              <a:buNone/>
            </a:pPr>
            <a:r>
              <a:rPr lang="en-US" sz="1200" b="1" dirty="0">
                <a:solidFill>
                  <a:srgbClr val="EAF1FA"/>
                </a:solidFill>
                <a:latin typeface="Courier New" pitchFamily="34" charset="0"/>
                <a:ea typeface="Courier New" pitchFamily="34" charset="-122"/>
                <a:cs typeface="Courier New" pitchFamily="34" charset="-120"/>
              </a:rPr>
              <a:t>SKU-0001</a:t>
            </a:r>
            <a:endParaRPr lang="en-US" sz="1200" dirty="0"/>
          </a:p>
        </p:txBody>
      </p:sp>
      <p:sp>
        <p:nvSpPr>
          <p:cNvPr id="19" name="Shape 17"/>
          <p:cNvSpPr/>
          <p:nvPr/>
        </p:nvSpPr>
        <p:spPr>
          <a:xfrm>
            <a:off x="10040112" y="1783080"/>
            <a:ext cx="1133856" cy="256032"/>
          </a:xfrm>
          <a:prstGeom prst="roundRect">
            <a:avLst>
              <a:gd name="adj" fmla="val 178571"/>
            </a:avLst>
          </a:prstGeom>
          <a:solidFill>
            <a:srgbClr val="3A1A22"/>
          </a:solidFill>
          <a:ln w="12700">
            <a:solidFill>
              <a:srgbClr val="6E2530"/>
            </a:solidFill>
            <a:prstDash val="solid"/>
          </a:ln>
        </p:spPr>
      </p:sp>
      <p:sp>
        <p:nvSpPr>
          <p:cNvPr id="20" name="Text 18"/>
          <p:cNvSpPr/>
          <p:nvPr/>
        </p:nvSpPr>
        <p:spPr>
          <a:xfrm>
            <a:off x="10040112" y="1819656"/>
            <a:ext cx="1133856" cy="182880"/>
          </a:xfrm>
          <a:prstGeom prst="rect">
            <a:avLst/>
          </a:prstGeom>
          <a:noFill/>
          <a:ln/>
        </p:spPr>
        <p:txBody>
          <a:bodyPr wrap="square" lIns="0" tIns="0" rIns="0" bIns="0" rtlCol="0" anchor="t"/>
          <a:lstStyle/>
          <a:p>
            <a:pPr algn="ctr" indent="0" marL="0">
              <a:buNone/>
            </a:pPr>
            <a:r>
              <a:rPr lang="en-US" sz="900" b="1" spc="80" kern="0" dirty="0">
                <a:solidFill>
                  <a:srgbClr val="E5484D"/>
                </a:solidFill>
                <a:latin typeface="Arial" pitchFamily="34" charset="0"/>
                <a:ea typeface="Arial" pitchFamily="34" charset="-122"/>
                <a:cs typeface="Arial" pitchFamily="34" charset="-120"/>
              </a:rPr>
              <a:t>HIGH RISK</a:t>
            </a:r>
            <a:endParaRPr lang="en-US" sz="900" dirty="0"/>
          </a:p>
        </p:txBody>
      </p:sp>
      <p:sp>
        <p:nvSpPr>
          <p:cNvPr id="21" name="Text 19"/>
          <p:cNvSpPr/>
          <p:nvPr/>
        </p:nvSpPr>
        <p:spPr>
          <a:xfrm>
            <a:off x="7342632" y="2130552"/>
            <a:ext cx="3108960" cy="365760"/>
          </a:xfrm>
          <a:prstGeom prst="rect">
            <a:avLst/>
          </a:prstGeom>
          <a:noFill/>
          <a:ln/>
        </p:spPr>
        <p:txBody>
          <a:bodyPr wrap="square" lIns="0" tIns="0" rIns="0" bIns="0" rtlCol="0" anchor="t"/>
          <a:lstStyle/>
          <a:p>
            <a:pPr indent="0" marL="0">
              <a:buNone/>
            </a:pPr>
            <a:r>
              <a:rPr lang="en-US" sz="2000" dirty="0">
                <a:solidFill>
                  <a:srgbClr val="9CB0CB"/>
                </a:solidFill>
                <a:latin typeface="Courier New" pitchFamily="34" charset="0"/>
                <a:ea typeface="Courier New" pitchFamily="34" charset="-122"/>
                <a:cs typeface="Courier New" pitchFamily="34" charset="-120"/>
              </a:rPr>
              <a:t>₹313.40</a:t>
            </a:r>
            <a:pPr indent="0" marL="0">
              <a:buNone/>
            </a:pPr>
            <a:r>
              <a:rPr lang="en-US" sz="2000" dirty="0">
                <a:solidFill>
                  <a:srgbClr val="6E8299"/>
                </a:solidFill>
                <a:latin typeface="Courier New" pitchFamily="34" charset="0"/>
                <a:ea typeface="Courier New" pitchFamily="34" charset="-122"/>
                <a:cs typeface="Courier New" pitchFamily="34" charset="-120"/>
              </a:rPr>
              <a:t>  →  </a:t>
            </a:r>
            <a:pPr indent="0" marL="0">
              <a:buNone/>
            </a:pPr>
            <a:r>
              <a:rPr lang="en-US" sz="2000" b="1" dirty="0">
                <a:solidFill>
                  <a:srgbClr val="E5484D"/>
                </a:solidFill>
                <a:latin typeface="Courier New" pitchFamily="34" charset="0"/>
                <a:ea typeface="Courier New" pitchFamily="34" charset="-122"/>
                <a:cs typeface="Courier New" pitchFamily="34" charset="-120"/>
              </a:rPr>
              <a:t>₹563.58</a:t>
            </a:r>
            <a:endParaRPr lang="en-US" sz="2000" dirty="0"/>
          </a:p>
        </p:txBody>
      </p:sp>
      <p:sp>
        <p:nvSpPr>
          <p:cNvPr id="22" name="Text 20"/>
          <p:cNvSpPr/>
          <p:nvPr/>
        </p:nvSpPr>
        <p:spPr>
          <a:xfrm>
            <a:off x="7342632" y="2596896"/>
            <a:ext cx="3840480" cy="219456"/>
          </a:xfrm>
          <a:prstGeom prst="rect">
            <a:avLst/>
          </a:prstGeom>
          <a:noFill/>
          <a:ln/>
        </p:spPr>
        <p:txBody>
          <a:bodyPr wrap="square" lIns="0" tIns="0" rIns="0" bIns="0" rtlCol="0" anchor="t"/>
          <a:lstStyle/>
          <a:p>
            <a:pPr indent="0" marL="0">
              <a:buNone/>
            </a:pPr>
            <a:r>
              <a:rPr lang="en-US" sz="1050" dirty="0">
                <a:solidFill>
                  <a:srgbClr val="9CB0CB"/>
                </a:solidFill>
                <a:latin typeface="Arial" pitchFamily="34" charset="0"/>
                <a:ea typeface="Arial" pitchFamily="34" charset="-122"/>
                <a:cs typeface="Arial" pitchFamily="34" charset="-120"/>
              </a:rPr>
              <a:t>Competitor ceiling breach  ·  +79.8% move</a:t>
            </a:r>
            <a:endParaRPr lang="en-US" sz="1050" dirty="0"/>
          </a:p>
        </p:txBody>
      </p:sp>
      <p:sp>
        <p:nvSpPr>
          <p:cNvPr id="23" name="Shape 21"/>
          <p:cNvSpPr/>
          <p:nvPr/>
        </p:nvSpPr>
        <p:spPr>
          <a:xfrm>
            <a:off x="7159752" y="3118104"/>
            <a:ext cx="1325880" cy="749808"/>
          </a:xfrm>
          <a:prstGeom prst="roundRect">
            <a:avLst>
              <a:gd name="adj" fmla="val 6098"/>
            </a:avLst>
          </a:prstGeom>
          <a:solidFill>
            <a:srgbClr val="14263F"/>
          </a:solidFill>
          <a:ln w="12700">
            <a:solidFill>
              <a:srgbClr val="1E3454"/>
            </a:solidFill>
            <a:prstDash val="solid"/>
          </a:ln>
        </p:spPr>
      </p:sp>
      <p:sp>
        <p:nvSpPr>
          <p:cNvPr id="24" name="Text 22"/>
          <p:cNvSpPr/>
          <p:nvPr/>
        </p:nvSpPr>
        <p:spPr>
          <a:xfrm>
            <a:off x="7269480" y="3246120"/>
            <a:ext cx="1106424" cy="182880"/>
          </a:xfrm>
          <a:prstGeom prst="rect">
            <a:avLst/>
          </a:prstGeom>
          <a:noFill/>
          <a:ln/>
        </p:spPr>
        <p:txBody>
          <a:bodyPr wrap="square" lIns="0" tIns="0" rIns="0" bIns="0" rtlCol="0" anchor="t"/>
          <a:lstStyle/>
          <a:p>
            <a:pPr indent="0" marL="0">
              <a:buNone/>
            </a:pPr>
            <a:r>
              <a:rPr lang="en-US" sz="750" b="1" spc="80" kern="0" dirty="0">
                <a:solidFill>
                  <a:srgbClr val="6E8299"/>
                </a:solidFill>
                <a:latin typeface="Arial" pitchFamily="34" charset="0"/>
                <a:ea typeface="Arial" pitchFamily="34" charset="-122"/>
                <a:cs typeface="Arial" pitchFamily="34" charset="-120"/>
              </a:rPr>
              <a:t>EST. REGRET</a:t>
            </a:r>
            <a:endParaRPr lang="en-US" sz="750" dirty="0"/>
          </a:p>
        </p:txBody>
      </p:sp>
      <p:sp>
        <p:nvSpPr>
          <p:cNvPr id="25" name="Text 23"/>
          <p:cNvSpPr/>
          <p:nvPr/>
        </p:nvSpPr>
        <p:spPr>
          <a:xfrm>
            <a:off x="7269480" y="3474720"/>
            <a:ext cx="1106424" cy="274320"/>
          </a:xfrm>
          <a:prstGeom prst="rect">
            <a:avLst/>
          </a:prstGeom>
          <a:noFill/>
          <a:ln/>
        </p:spPr>
        <p:txBody>
          <a:bodyPr wrap="square" lIns="0" tIns="0" rIns="0" bIns="0" rtlCol="0" anchor="t"/>
          <a:lstStyle/>
          <a:p>
            <a:pPr indent="0" marL="0">
              <a:buNone/>
            </a:pPr>
            <a:r>
              <a:rPr lang="en-US" sz="1300" b="1" dirty="0">
                <a:solidFill>
                  <a:srgbClr val="E5484D"/>
                </a:solidFill>
                <a:latin typeface="Courier New" pitchFamily="34" charset="0"/>
                <a:ea typeface="Courier New" pitchFamily="34" charset="-122"/>
                <a:cs typeface="Courier New" pitchFamily="34" charset="-120"/>
              </a:rPr>
              <a:t>₹1,562.21</a:t>
            </a:r>
            <a:endParaRPr lang="en-US" sz="1300" dirty="0"/>
          </a:p>
        </p:txBody>
      </p:sp>
      <p:sp>
        <p:nvSpPr>
          <p:cNvPr id="26" name="Shape 24"/>
          <p:cNvSpPr/>
          <p:nvPr/>
        </p:nvSpPr>
        <p:spPr>
          <a:xfrm>
            <a:off x="8595360" y="3118104"/>
            <a:ext cx="1325880" cy="749808"/>
          </a:xfrm>
          <a:prstGeom prst="roundRect">
            <a:avLst>
              <a:gd name="adj" fmla="val 6098"/>
            </a:avLst>
          </a:prstGeom>
          <a:solidFill>
            <a:srgbClr val="14263F"/>
          </a:solidFill>
          <a:ln w="12700">
            <a:solidFill>
              <a:srgbClr val="1E3454"/>
            </a:solidFill>
            <a:prstDash val="solid"/>
          </a:ln>
        </p:spPr>
      </p:sp>
      <p:sp>
        <p:nvSpPr>
          <p:cNvPr id="27" name="Text 25"/>
          <p:cNvSpPr/>
          <p:nvPr/>
        </p:nvSpPr>
        <p:spPr>
          <a:xfrm>
            <a:off x="8705088" y="3246120"/>
            <a:ext cx="1106424" cy="182880"/>
          </a:xfrm>
          <a:prstGeom prst="rect">
            <a:avLst/>
          </a:prstGeom>
          <a:noFill/>
          <a:ln/>
        </p:spPr>
        <p:txBody>
          <a:bodyPr wrap="square" lIns="0" tIns="0" rIns="0" bIns="0" rtlCol="0" anchor="t"/>
          <a:lstStyle/>
          <a:p>
            <a:pPr indent="0" marL="0">
              <a:buNone/>
            </a:pPr>
            <a:r>
              <a:rPr lang="en-US" sz="750" b="1" spc="80" kern="0" dirty="0">
                <a:solidFill>
                  <a:srgbClr val="6E8299"/>
                </a:solidFill>
                <a:latin typeface="Arial" pitchFamily="34" charset="0"/>
                <a:ea typeface="Arial" pitchFamily="34" charset="-122"/>
                <a:cs typeface="Arial" pitchFamily="34" charset="-120"/>
              </a:rPr>
              <a:t>EVIDENCE</a:t>
            </a:r>
            <a:endParaRPr lang="en-US" sz="750" dirty="0"/>
          </a:p>
        </p:txBody>
      </p:sp>
      <p:sp>
        <p:nvSpPr>
          <p:cNvPr id="28" name="Text 26"/>
          <p:cNvSpPr/>
          <p:nvPr/>
        </p:nvSpPr>
        <p:spPr>
          <a:xfrm>
            <a:off x="8705088" y="3474720"/>
            <a:ext cx="1106424" cy="274320"/>
          </a:xfrm>
          <a:prstGeom prst="rect">
            <a:avLst/>
          </a:prstGeom>
          <a:noFill/>
          <a:ln/>
        </p:spPr>
        <p:txBody>
          <a:bodyPr wrap="square" lIns="0" tIns="0" rIns="0" bIns="0" rtlCol="0" anchor="t"/>
          <a:lstStyle/>
          <a:p>
            <a:pPr indent="0" marL="0">
              <a:buNone/>
            </a:pPr>
            <a:r>
              <a:rPr lang="en-US" sz="1300" b="1" dirty="0">
                <a:solidFill>
                  <a:srgbClr val="35C4F0"/>
                </a:solidFill>
                <a:latin typeface="Courier New" pitchFamily="34" charset="0"/>
                <a:ea typeface="Courier New" pitchFamily="34" charset="-122"/>
                <a:cs typeface="Courier New" pitchFamily="34" charset="-120"/>
              </a:rPr>
              <a:t>4 snippets</a:t>
            </a:r>
            <a:endParaRPr lang="en-US" sz="1300" dirty="0"/>
          </a:p>
        </p:txBody>
      </p:sp>
      <p:sp>
        <p:nvSpPr>
          <p:cNvPr id="29" name="Shape 27"/>
          <p:cNvSpPr/>
          <p:nvPr/>
        </p:nvSpPr>
        <p:spPr>
          <a:xfrm>
            <a:off x="10030968" y="3118104"/>
            <a:ext cx="1325880" cy="749808"/>
          </a:xfrm>
          <a:prstGeom prst="roundRect">
            <a:avLst>
              <a:gd name="adj" fmla="val 6098"/>
            </a:avLst>
          </a:prstGeom>
          <a:solidFill>
            <a:srgbClr val="14263F"/>
          </a:solidFill>
          <a:ln w="12700">
            <a:solidFill>
              <a:srgbClr val="1E3454"/>
            </a:solidFill>
            <a:prstDash val="solid"/>
          </a:ln>
        </p:spPr>
      </p:sp>
      <p:sp>
        <p:nvSpPr>
          <p:cNvPr id="30" name="Text 28"/>
          <p:cNvSpPr/>
          <p:nvPr/>
        </p:nvSpPr>
        <p:spPr>
          <a:xfrm>
            <a:off x="10140696" y="3246120"/>
            <a:ext cx="1106424" cy="182880"/>
          </a:xfrm>
          <a:prstGeom prst="rect">
            <a:avLst/>
          </a:prstGeom>
          <a:noFill/>
          <a:ln/>
        </p:spPr>
        <p:txBody>
          <a:bodyPr wrap="square" lIns="0" tIns="0" rIns="0" bIns="0" rtlCol="0" anchor="t"/>
          <a:lstStyle/>
          <a:p>
            <a:pPr indent="0" marL="0">
              <a:buNone/>
            </a:pPr>
            <a:r>
              <a:rPr lang="en-US" sz="750" b="1" spc="80" kern="0" dirty="0">
                <a:solidFill>
                  <a:srgbClr val="6E8299"/>
                </a:solidFill>
                <a:latin typeface="Arial" pitchFamily="34" charset="0"/>
                <a:ea typeface="Arial" pitchFamily="34" charset="-122"/>
                <a:cs typeface="Arial" pitchFamily="34" charset="-120"/>
              </a:rPr>
              <a:t>ACTION</a:t>
            </a:r>
            <a:endParaRPr lang="en-US" sz="750" dirty="0"/>
          </a:p>
        </p:txBody>
      </p:sp>
      <p:sp>
        <p:nvSpPr>
          <p:cNvPr id="31" name="Text 29"/>
          <p:cNvSpPr/>
          <p:nvPr/>
        </p:nvSpPr>
        <p:spPr>
          <a:xfrm>
            <a:off x="10140696" y="3474720"/>
            <a:ext cx="1106424" cy="274320"/>
          </a:xfrm>
          <a:prstGeom prst="rect">
            <a:avLst/>
          </a:prstGeom>
          <a:noFill/>
          <a:ln/>
        </p:spPr>
        <p:txBody>
          <a:bodyPr wrap="square" lIns="0" tIns="0" rIns="0" bIns="0" rtlCol="0" anchor="t"/>
          <a:lstStyle/>
          <a:p>
            <a:pPr indent="0" marL="0">
              <a:buNone/>
            </a:pPr>
            <a:r>
              <a:rPr lang="en-US" sz="1300" b="1" dirty="0">
                <a:solidFill>
                  <a:srgbClr val="F2A93B"/>
                </a:solidFill>
                <a:latin typeface="Courier New" pitchFamily="34" charset="0"/>
                <a:ea typeface="Courier New" pitchFamily="34" charset="-122"/>
                <a:cs typeface="Courier New" pitchFamily="34" charset="-120"/>
              </a:rPr>
              <a:t>Hold</a:t>
            </a:r>
            <a:endParaRPr lang="en-US" sz="1300" dirty="0"/>
          </a:p>
        </p:txBody>
      </p:sp>
      <p:sp>
        <p:nvSpPr>
          <p:cNvPr id="32" name="Shape 30"/>
          <p:cNvSpPr/>
          <p:nvPr/>
        </p:nvSpPr>
        <p:spPr>
          <a:xfrm>
            <a:off x="7159752" y="4014216"/>
            <a:ext cx="4197096" cy="420624"/>
          </a:xfrm>
          <a:prstGeom prst="roundRect">
            <a:avLst>
              <a:gd name="adj" fmla="val 10870"/>
            </a:avLst>
          </a:prstGeom>
          <a:solidFill>
            <a:srgbClr val="14263F"/>
          </a:solidFill>
          <a:ln w="12700">
            <a:solidFill>
              <a:srgbClr val="1E3454"/>
            </a:solidFill>
            <a:prstDash val="solid"/>
          </a:ln>
        </p:spPr>
      </p:sp>
      <p:sp>
        <p:nvSpPr>
          <p:cNvPr id="33" name="Text 31"/>
          <p:cNvSpPr/>
          <p:nvPr/>
        </p:nvSpPr>
        <p:spPr>
          <a:xfrm>
            <a:off x="7306056" y="4133088"/>
            <a:ext cx="1188720" cy="201168"/>
          </a:xfrm>
          <a:prstGeom prst="rect">
            <a:avLst/>
          </a:prstGeom>
          <a:noFill/>
          <a:ln/>
        </p:spPr>
        <p:txBody>
          <a:bodyPr wrap="square" lIns="0" tIns="0" rIns="0" bIns="0" rtlCol="0" anchor="t"/>
          <a:lstStyle/>
          <a:p>
            <a:pPr indent="0" marL="0">
              <a:buNone/>
            </a:pPr>
            <a:r>
              <a:rPr lang="en-US" sz="1050" dirty="0">
                <a:solidFill>
                  <a:srgbClr val="EAF1FA"/>
                </a:solidFill>
                <a:latin typeface="Courier New" pitchFamily="34" charset="0"/>
                <a:ea typeface="Courier New" pitchFamily="34" charset="-122"/>
                <a:cs typeface="Courier New" pitchFamily="34" charset="-120"/>
              </a:rPr>
              <a:t>SKU-0117</a:t>
            </a:r>
            <a:endParaRPr lang="en-US" sz="1050" dirty="0"/>
          </a:p>
        </p:txBody>
      </p:sp>
      <p:sp>
        <p:nvSpPr>
          <p:cNvPr id="34" name="Text 32"/>
          <p:cNvSpPr/>
          <p:nvPr/>
        </p:nvSpPr>
        <p:spPr>
          <a:xfrm>
            <a:off x="8494776" y="4133088"/>
            <a:ext cx="1920240" cy="201168"/>
          </a:xfrm>
          <a:prstGeom prst="rect">
            <a:avLst/>
          </a:prstGeom>
          <a:noFill/>
          <a:ln/>
        </p:spPr>
        <p:txBody>
          <a:bodyPr wrap="square" lIns="0" tIns="0" rIns="0" bIns="0" rtlCol="0" anchor="t"/>
          <a:lstStyle/>
          <a:p>
            <a:pPr indent="0" marL="0">
              <a:buNone/>
            </a:pPr>
            <a:r>
              <a:rPr lang="en-US" sz="1050" dirty="0">
                <a:solidFill>
                  <a:srgbClr val="9CB0CB"/>
                </a:solidFill>
                <a:latin typeface="Arial" pitchFamily="34" charset="0"/>
                <a:ea typeface="Arial" pitchFamily="34" charset="-122"/>
                <a:cs typeface="Arial" pitchFamily="34" charset="-120"/>
              </a:rPr>
              <a:t>Floor proximity</a:t>
            </a:r>
            <a:endParaRPr lang="en-US" sz="1050" dirty="0"/>
          </a:p>
        </p:txBody>
      </p:sp>
      <p:sp>
        <p:nvSpPr>
          <p:cNvPr id="35" name="Shape 33"/>
          <p:cNvSpPr/>
          <p:nvPr/>
        </p:nvSpPr>
        <p:spPr>
          <a:xfrm>
            <a:off x="10405872" y="4105656"/>
            <a:ext cx="786384" cy="237744"/>
          </a:xfrm>
          <a:prstGeom prst="roundRect">
            <a:avLst>
              <a:gd name="adj" fmla="val 192308"/>
            </a:avLst>
          </a:prstGeom>
          <a:solidFill>
            <a:srgbClr val="2A2113"/>
          </a:solidFill>
          <a:ln w="12700">
            <a:solidFill>
              <a:srgbClr val="6E5223"/>
            </a:solidFill>
            <a:prstDash val="solid"/>
          </a:ln>
        </p:spPr>
      </p:sp>
      <p:sp>
        <p:nvSpPr>
          <p:cNvPr id="36" name="Text 34"/>
          <p:cNvSpPr/>
          <p:nvPr/>
        </p:nvSpPr>
        <p:spPr>
          <a:xfrm>
            <a:off x="10405872" y="4133088"/>
            <a:ext cx="786384" cy="182880"/>
          </a:xfrm>
          <a:prstGeom prst="rect">
            <a:avLst/>
          </a:prstGeom>
          <a:noFill/>
          <a:ln/>
        </p:spPr>
        <p:txBody>
          <a:bodyPr wrap="square" lIns="0" tIns="0" rIns="0" bIns="0" rtlCol="0" anchor="t"/>
          <a:lstStyle/>
          <a:p>
            <a:pPr algn="ctr" indent="0" marL="0">
              <a:buNone/>
            </a:pPr>
            <a:r>
              <a:rPr lang="en-US" sz="900" b="1" spc="80" kern="0" dirty="0">
                <a:solidFill>
                  <a:srgbClr val="F2A93B"/>
                </a:solidFill>
                <a:latin typeface="Arial" pitchFamily="34" charset="0"/>
                <a:ea typeface="Arial" pitchFamily="34" charset="-122"/>
                <a:cs typeface="Arial" pitchFamily="34" charset="-120"/>
              </a:rPr>
              <a:t>WARN</a:t>
            </a:r>
            <a:endParaRPr lang="en-US" sz="900" dirty="0"/>
          </a:p>
        </p:txBody>
      </p:sp>
      <p:sp>
        <p:nvSpPr>
          <p:cNvPr id="37" name="Shape 35"/>
          <p:cNvSpPr/>
          <p:nvPr/>
        </p:nvSpPr>
        <p:spPr>
          <a:xfrm>
            <a:off x="7159752" y="4517136"/>
            <a:ext cx="4197096" cy="420624"/>
          </a:xfrm>
          <a:prstGeom prst="roundRect">
            <a:avLst>
              <a:gd name="adj" fmla="val 10870"/>
            </a:avLst>
          </a:prstGeom>
          <a:solidFill>
            <a:srgbClr val="14263F"/>
          </a:solidFill>
          <a:ln w="12700">
            <a:solidFill>
              <a:srgbClr val="1E3454"/>
            </a:solidFill>
            <a:prstDash val="solid"/>
          </a:ln>
        </p:spPr>
      </p:sp>
      <p:sp>
        <p:nvSpPr>
          <p:cNvPr id="38" name="Text 36"/>
          <p:cNvSpPr/>
          <p:nvPr/>
        </p:nvSpPr>
        <p:spPr>
          <a:xfrm>
            <a:off x="7306056" y="4636008"/>
            <a:ext cx="1188720" cy="201168"/>
          </a:xfrm>
          <a:prstGeom prst="rect">
            <a:avLst/>
          </a:prstGeom>
          <a:noFill/>
          <a:ln/>
        </p:spPr>
        <p:txBody>
          <a:bodyPr wrap="square" lIns="0" tIns="0" rIns="0" bIns="0" rtlCol="0" anchor="t"/>
          <a:lstStyle/>
          <a:p>
            <a:pPr indent="0" marL="0">
              <a:buNone/>
            </a:pPr>
            <a:r>
              <a:rPr lang="en-US" sz="1050" dirty="0">
                <a:solidFill>
                  <a:srgbClr val="EAF1FA"/>
                </a:solidFill>
                <a:latin typeface="Courier New" pitchFamily="34" charset="0"/>
                <a:ea typeface="Courier New" pitchFamily="34" charset="-122"/>
                <a:cs typeface="Courier New" pitchFamily="34" charset="-120"/>
              </a:rPr>
              <a:t>SKU-0042</a:t>
            </a:r>
            <a:endParaRPr lang="en-US" sz="1050" dirty="0"/>
          </a:p>
        </p:txBody>
      </p:sp>
      <p:sp>
        <p:nvSpPr>
          <p:cNvPr id="39" name="Text 37"/>
          <p:cNvSpPr/>
          <p:nvPr/>
        </p:nvSpPr>
        <p:spPr>
          <a:xfrm>
            <a:off x="8494776" y="4636008"/>
            <a:ext cx="1920240" cy="201168"/>
          </a:xfrm>
          <a:prstGeom prst="rect">
            <a:avLst/>
          </a:prstGeom>
          <a:noFill/>
          <a:ln/>
        </p:spPr>
        <p:txBody>
          <a:bodyPr wrap="square" lIns="0" tIns="0" rIns="0" bIns="0" rtlCol="0" anchor="t"/>
          <a:lstStyle/>
          <a:p>
            <a:pPr indent="0" marL="0">
              <a:buNone/>
            </a:pPr>
            <a:r>
              <a:rPr lang="en-US" sz="1050" dirty="0">
                <a:solidFill>
                  <a:srgbClr val="9CB0CB"/>
                </a:solidFill>
                <a:latin typeface="Arial" pitchFamily="34" charset="0"/>
                <a:ea typeface="Arial" pitchFamily="34" charset="-122"/>
                <a:cs typeface="Arial" pitchFamily="34" charset="-120"/>
              </a:rPr>
              <a:t>Within policy band</a:t>
            </a:r>
            <a:endParaRPr lang="en-US" sz="1050" dirty="0"/>
          </a:p>
        </p:txBody>
      </p:sp>
      <p:sp>
        <p:nvSpPr>
          <p:cNvPr id="40" name="Shape 38"/>
          <p:cNvSpPr/>
          <p:nvPr/>
        </p:nvSpPr>
        <p:spPr>
          <a:xfrm>
            <a:off x="10405872" y="4608576"/>
            <a:ext cx="786384" cy="237744"/>
          </a:xfrm>
          <a:prstGeom prst="roundRect">
            <a:avLst>
              <a:gd name="adj" fmla="val 192308"/>
            </a:avLst>
          </a:prstGeom>
          <a:solidFill>
            <a:srgbClr val="0F2A20"/>
          </a:solidFill>
          <a:ln w="12700">
            <a:solidFill>
              <a:srgbClr val="24634A"/>
            </a:solidFill>
            <a:prstDash val="solid"/>
          </a:ln>
        </p:spPr>
      </p:sp>
      <p:sp>
        <p:nvSpPr>
          <p:cNvPr id="41" name="Text 39"/>
          <p:cNvSpPr/>
          <p:nvPr/>
        </p:nvSpPr>
        <p:spPr>
          <a:xfrm>
            <a:off x="10405872" y="4636008"/>
            <a:ext cx="786384" cy="182880"/>
          </a:xfrm>
          <a:prstGeom prst="rect">
            <a:avLst/>
          </a:prstGeom>
          <a:noFill/>
          <a:ln/>
        </p:spPr>
        <p:txBody>
          <a:bodyPr wrap="square" lIns="0" tIns="0" rIns="0" bIns="0" rtlCol="0" anchor="t"/>
          <a:lstStyle/>
          <a:p>
            <a:pPr algn="ctr" indent="0" marL="0">
              <a:buNone/>
            </a:pPr>
            <a:r>
              <a:rPr lang="en-US" sz="900" b="1" spc="80" kern="0" dirty="0">
                <a:solidFill>
                  <a:srgbClr val="2FBF71"/>
                </a:solidFill>
                <a:latin typeface="Arial" pitchFamily="34" charset="0"/>
                <a:ea typeface="Arial" pitchFamily="34" charset="-122"/>
                <a:cs typeface="Arial" pitchFamily="34" charset="-120"/>
              </a:rPr>
              <a:t>PASS</a:t>
            </a:r>
            <a:endParaRPr lang="en-US" sz="900" dirty="0"/>
          </a:p>
        </p:txBody>
      </p:sp>
      <p:sp>
        <p:nvSpPr>
          <p:cNvPr id="42" name="Shape 40"/>
          <p:cNvSpPr/>
          <p:nvPr/>
        </p:nvSpPr>
        <p:spPr>
          <a:xfrm>
            <a:off x="548640" y="5504688"/>
            <a:ext cx="1589989" cy="475488"/>
          </a:xfrm>
          <a:prstGeom prst="roundRect">
            <a:avLst>
              <a:gd name="adj" fmla="val 9615"/>
            </a:avLst>
          </a:prstGeom>
          <a:solidFill>
            <a:srgbClr val="0F1D33"/>
          </a:solidFill>
          <a:ln w="12700">
            <a:solidFill>
              <a:srgbClr val="1E3454"/>
            </a:solidFill>
            <a:prstDash val="solid"/>
          </a:ln>
        </p:spPr>
      </p:sp>
      <p:sp>
        <p:nvSpPr>
          <p:cNvPr id="43" name="Text 41"/>
          <p:cNvSpPr/>
          <p:nvPr/>
        </p:nvSpPr>
        <p:spPr>
          <a:xfrm>
            <a:off x="603504" y="5641848"/>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Simulator</a:t>
            </a:r>
            <a:endParaRPr lang="en-US" sz="950" dirty="0"/>
          </a:p>
        </p:txBody>
      </p:sp>
      <p:sp>
        <p:nvSpPr>
          <p:cNvPr id="44" name="Shape 42"/>
          <p:cNvSpPr/>
          <p:nvPr/>
        </p:nvSpPr>
        <p:spPr>
          <a:xfrm>
            <a:off x="2202637" y="5742432"/>
            <a:ext cx="182880" cy="0"/>
          </a:xfrm>
          <a:prstGeom prst="line">
            <a:avLst/>
          </a:prstGeom>
          <a:noFill/>
          <a:ln w="19050">
            <a:solidFill>
              <a:srgbClr val="2E4A72"/>
            </a:solidFill>
            <a:prstDash val="solid"/>
            <a:tailEnd type="triangle"/>
          </a:ln>
        </p:spPr>
      </p:sp>
      <p:sp>
        <p:nvSpPr>
          <p:cNvPr id="45" name="Shape 43"/>
          <p:cNvSpPr/>
          <p:nvPr/>
        </p:nvSpPr>
        <p:spPr>
          <a:xfrm>
            <a:off x="2449525" y="5504688"/>
            <a:ext cx="1589989" cy="475488"/>
          </a:xfrm>
          <a:prstGeom prst="roundRect">
            <a:avLst>
              <a:gd name="adj" fmla="val 9615"/>
            </a:avLst>
          </a:prstGeom>
          <a:solidFill>
            <a:srgbClr val="0D2434"/>
          </a:solidFill>
          <a:ln w="12700">
            <a:solidFill>
              <a:srgbClr val="1D5673"/>
            </a:solidFill>
            <a:prstDash val="solid"/>
          </a:ln>
        </p:spPr>
      </p:sp>
      <p:sp>
        <p:nvSpPr>
          <p:cNvPr id="46" name="Text 44"/>
          <p:cNvSpPr/>
          <p:nvPr/>
        </p:nvSpPr>
        <p:spPr>
          <a:xfrm>
            <a:off x="2504389" y="5641848"/>
            <a:ext cx="1480261" cy="201168"/>
          </a:xfrm>
          <a:prstGeom prst="rect">
            <a:avLst/>
          </a:prstGeom>
          <a:noFill/>
          <a:ln/>
        </p:spPr>
        <p:txBody>
          <a:bodyPr wrap="square" lIns="0" tIns="0" rIns="0" bIns="0" rtlCol="0" anchor="t"/>
          <a:lstStyle/>
          <a:p>
            <a:pPr algn="ctr" indent="0" marL="0">
              <a:buNone/>
            </a:pPr>
            <a:r>
              <a:rPr lang="en-US" sz="950" b="1" dirty="0">
                <a:solidFill>
                  <a:srgbClr val="35C4F0"/>
                </a:solidFill>
                <a:latin typeface="Arial" pitchFamily="34" charset="0"/>
                <a:ea typeface="Arial" pitchFamily="34" charset="-122"/>
                <a:cs typeface="Arial" pitchFamily="34" charset="-120"/>
              </a:rPr>
              <a:t>Exasol Personal</a:t>
            </a:r>
            <a:endParaRPr lang="en-US" sz="950" dirty="0"/>
          </a:p>
        </p:txBody>
      </p:sp>
      <p:sp>
        <p:nvSpPr>
          <p:cNvPr id="47" name="Shape 45"/>
          <p:cNvSpPr/>
          <p:nvPr/>
        </p:nvSpPr>
        <p:spPr>
          <a:xfrm>
            <a:off x="4103522" y="5742432"/>
            <a:ext cx="182880" cy="0"/>
          </a:xfrm>
          <a:prstGeom prst="line">
            <a:avLst/>
          </a:prstGeom>
          <a:noFill/>
          <a:ln w="19050">
            <a:solidFill>
              <a:srgbClr val="2E4A72"/>
            </a:solidFill>
            <a:prstDash val="solid"/>
            <a:tailEnd type="triangle"/>
          </a:ln>
        </p:spPr>
      </p:sp>
      <p:sp>
        <p:nvSpPr>
          <p:cNvPr id="48" name="Shape 46"/>
          <p:cNvSpPr/>
          <p:nvPr/>
        </p:nvSpPr>
        <p:spPr>
          <a:xfrm>
            <a:off x="4350410" y="5504688"/>
            <a:ext cx="1589989" cy="475488"/>
          </a:xfrm>
          <a:prstGeom prst="roundRect">
            <a:avLst>
              <a:gd name="adj" fmla="val 9615"/>
            </a:avLst>
          </a:prstGeom>
          <a:solidFill>
            <a:srgbClr val="0F1D33"/>
          </a:solidFill>
          <a:ln w="12700">
            <a:solidFill>
              <a:srgbClr val="1E3454"/>
            </a:solidFill>
            <a:prstDash val="solid"/>
          </a:ln>
        </p:spPr>
      </p:sp>
      <p:sp>
        <p:nvSpPr>
          <p:cNvPr id="49" name="Text 47"/>
          <p:cNvSpPr/>
          <p:nvPr/>
        </p:nvSpPr>
        <p:spPr>
          <a:xfrm>
            <a:off x="4405274" y="5641848"/>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Guardrail</a:t>
            </a:r>
            <a:endParaRPr lang="en-US" sz="950" dirty="0"/>
          </a:p>
        </p:txBody>
      </p:sp>
      <p:sp>
        <p:nvSpPr>
          <p:cNvPr id="50" name="Shape 48"/>
          <p:cNvSpPr/>
          <p:nvPr/>
        </p:nvSpPr>
        <p:spPr>
          <a:xfrm>
            <a:off x="6004408" y="5742432"/>
            <a:ext cx="182880" cy="0"/>
          </a:xfrm>
          <a:prstGeom prst="line">
            <a:avLst/>
          </a:prstGeom>
          <a:noFill/>
          <a:ln w="19050">
            <a:solidFill>
              <a:srgbClr val="2E4A72"/>
            </a:solidFill>
            <a:prstDash val="solid"/>
            <a:tailEnd type="triangle"/>
          </a:ln>
        </p:spPr>
      </p:sp>
      <p:sp>
        <p:nvSpPr>
          <p:cNvPr id="51" name="Shape 49"/>
          <p:cNvSpPr/>
          <p:nvPr/>
        </p:nvSpPr>
        <p:spPr>
          <a:xfrm>
            <a:off x="6251296" y="5504688"/>
            <a:ext cx="1589989" cy="475488"/>
          </a:xfrm>
          <a:prstGeom prst="roundRect">
            <a:avLst>
              <a:gd name="adj" fmla="val 9615"/>
            </a:avLst>
          </a:prstGeom>
          <a:solidFill>
            <a:srgbClr val="0F1D33"/>
          </a:solidFill>
          <a:ln w="12700">
            <a:solidFill>
              <a:srgbClr val="1E3454"/>
            </a:solidFill>
            <a:prstDash val="solid"/>
          </a:ln>
        </p:spPr>
      </p:sp>
      <p:sp>
        <p:nvSpPr>
          <p:cNvPr id="52" name="Text 50"/>
          <p:cNvSpPr/>
          <p:nvPr/>
        </p:nvSpPr>
        <p:spPr>
          <a:xfrm>
            <a:off x="6306160" y="5641848"/>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Regret Engine</a:t>
            </a:r>
            <a:endParaRPr lang="en-US" sz="950" dirty="0"/>
          </a:p>
        </p:txBody>
      </p:sp>
      <p:sp>
        <p:nvSpPr>
          <p:cNvPr id="53" name="Shape 51"/>
          <p:cNvSpPr/>
          <p:nvPr/>
        </p:nvSpPr>
        <p:spPr>
          <a:xfrm>
            <a:off x="7905293" y="5742432"/>
            <a:ext cx="182880" cy="0"/>
          </a:xfrm>
          <a:prstGeom prst="line">
            <a:avLst/>
          </a:prstGeom>
          <a:noFill/>
          <a:ln w="19050">
            <a:solidFill>
              <a:srgbClr val="2E4A72"/>
            </a:solidFill>
            <a:prstDash val="solid"/>
            <a:tailEnd type="triangle"/>
          </a:ln>
        </p:spPr>
      </p:sp>
      <p:sp>
        <p:nvSpPr>
          <p:cNvPr id="54" name="Shape 52"/>
          <p:cNvSpPr/>
          <p:nvPr/>
        </p:nvSpPr>
        <p:spPr>
          <a:xfrm>
            <a:off x="8152181" y="5504688"/>
            <a:ext cx="1589989" cy="475488"/>
          </a:xfrm>
          <a:prstGeom prst="roundRect">
            <a:avLst>
              <a:gd name="adj" fmla="val 9615"/>
            </a:avLst>
          </a:prstGeom>
          <a:solidFill>
            <a:srgbClr val="0F1D33"/>
          </a:solidFill>
          <a:ln w="12700">
            <a:solidFill>
              <a:srgbClr val="1E3454"/>
            </a:solidFill>
            <a:prstDash val="solid"/>
          </a:ln>
        </p:spPr>
      </p:sp>
      <p:sp>
        <p:nvSpPr>
          <p:cNvPr id="55" name="Text 53"/>
          <p:cNvSpPr/>
          <p:nvPr/>
        </p:nvSpPr>
        <p:spPr>
          <a:xfrm>
            <a:off x="8207045" y="5641848"/>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RAG Explanation</a:t>
            </a:r>
            <a:endParaRPr lang="en-US" sz="950" dirty="0"/>
          </a:p>
        </p:txBody>
      </p:sp>
      <p:sp>
        <p:nvSpPr>
          <p:cNvPr id="56" name="Shape 54"/>
          <p:cNvSpPr/>
          <p:nvPr/>
        </p:nvSpPr>
        <p:spPr>
          <a:xfrm>
            <a:off x="9806178" y="5742432"/>
            <a:ext cx="182880" cy="0"/>
          </a:xfrm>
          <a:prstGeom prst="line">
            <a:avLst/>
          </a:prstGeom>
          <a:noFill/>
          <a:ln w="19050">
            <a:solidFill>
              <a:srgbClr val="2E4A72"/>
            </a:solidFill>
            <a:prstDash val="solid"/>
            <a:tailEnd type="triangle"/>
          </a:ln>
        </p:spPr>
      </p:sp>
      <p:sp>
        <p:nvSpPr>
          <p:cNvPr id="57" name="Shape 55"/>
          <p:cNvSpPr/>
          <p:nvPr/>
        </p:nvSpPr>
        <p:spPr>
          <a:xfrm>
            <a:off x="10053066" y="5504688"/>
            <a:ext cx="1589989" cy="475488"/>
          </a:xfrm>
          <a:prstGeom prst="roundRect">
            <a:avLst>
              <a:gd name="adj" fmla="val 9615"/>
            </a:avLst>
          </a:prstGeom>
          <a:solidFill>
            <a:srgbClr val="0F1D33"/>
          </a:solidFill>
          <a:ln w="12700">
            <a:solidFill>
              <a:srgbClr val="1E3454"/>
            </a:solidFill>
            <a:prstDash val="solid"/>
          </a:ln>
        </p:spPr>
      </p:sp>
      <p:sp>
        <p:nvSpPr>
          <p:cNvPr id="58" name="Text 56"/>
          <p:cNvSpPr/>
          <p:nvPr/>
        </p:nvSpPr>
        <p:spPr>
          <a:xfrm>
            <a:off x="10107930" y="5641848"/>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Dashboard</a:t>
            </a:r>
            <a:endParaRPr lang="en-US" sz="950" dirty="0"/>
          </a:p>
        </p:txBody>
      </p:sp>
      <p:sp>
        <p:nvSpPr>
          <p:cNvPr id="59" name="Text 57"/>
          <p:cNvSpPr/>
          <p:nvPr/>
        </p:nvSpPr>
        <p:spPr>
          <a:xfrm>
            <a:off x="548640" y="6236208"/>
            <a:ext cx="8229600" cy="237744"/>
          </a:xfrm>
          <a:prstGeom prst="rect">
            <a:avLst/>
          </a:prstGeom>
          <a:noFill/>
          <a:ln/>
        </p:spPr>
        <p:txBody>
          <a:bodyPr wrap="square" lIns="0" tIns="0" rIns="0" bIns="0" rtlCol="0" anchor="t"/>
          <a:lstStyle/>
          <a:p>
            <a:pPr indent="0" marL="0">
              <a:buNone/>
            </a:pPr>
            <a:r>
              <a:rPr lang="en-US" sz="950" dirty="0">
                <a:solidFill>
                  <a:srgbClr val="6E8299"/>
                </a:solidFill>
                <a:latin typeface="Arial" pitchFamily="34" charset="0"/>
                <a:ea typeface="Arial" pitchFamily="34" charset="-122"/>
                <a:cs typeface="Arial" pitchFamily="34" charset="-120"/>
              </a:rPr>
              <a:t>Working demo prototype. Synthetic pricing data and a mock policy and incident corpus.</a:t>
            </a:r>
            <a:endParaRPr lang="en-US" sz="950" dirty="0"/>
          </a:p>
        </p:txBody>
      </p:sp>
      <p:sp>
        <p:nvSpPr>
          <p:cNvPr id="60" name="Text 58"/>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548640" y="384048"/>
            <a:ext cx="11094415" cy="237744"/>
          </a:xfrm>
          <a:prstGeom prst="rect">
            <a:avLst/>
          </a:prstGeom>
          <a:noFill/>
          <a:ln/>
        </p:spPr>
        <p:txBody>
          <a:bodyPr wrap="square" lIns="0" tIns="0" rIns="0" bIns="0" rtlCol="0" anchor="t"/>
          <a:lstStyle/>
          <a:p>
            <a:pPr indent="0" marL="0">
              <a:buNone/>
            </a:pPr>
            <a:r>
              <a:rPr lang="en-US" sz="1050" b="1" spc="240" kern="0" dirty="0">
                <a:solidFill>
                  <a:srgbClr val="7C6CFF"/>
                </a:solidFill>
                <a:latin typeface="Arial" pitchFamily="34" charset="0"/>
                <a:ea typeface="Arial" pitchFamily="34" charset="-122"/>
                <a:cs typeface="Arial" pitchFamily="34" charset="-120"/>
              </a:rPr>
              <a:t>THE PROBLEM</a:t>
            </a:r>
            <a:endParaRPr lang="en-US" sz="1050" dirty="0"/>
          </a:p>
        </p:txBody>
      </p:sp>
      <p:sp>
        <p:nvSpPr>
          <p:cNvPr id="3" name="Text 1"/>
          <p:cNvSpPr/>
          <p:nvPr/>
        </p:nvSpPr>
        <p:spPr>
          <a:xfrm>
            <a:off x="548640" y="658368"/>
            <a:ext cx="11094415" cy="566928"/>
          </a:xfrm>
          <a:prstGeom prst="rect">
            <a:avLst/>
          </a:prstGeom>
          <a:noFill/>
          <a:ln/>
        </p:spPr>
        <p:txBody>
          <a:bodyPr wrap="square" lIns="0" tIns="0" rIns="0" bIns="0" rtlCol="0" anchor="t"/>
          <a:lstStyle/>
          <a:p>
            <a:pPr indent="0" marL="0">
              <a:buNone/>
            </a:pPr>
            <a:r>
              <a:rPr lang="en-US" sz="3200" b="1" spc="-30" kern="0" dirty="0">
                <a:solidFill>
                  <a:srgbClr val="EAF1FA"/>
                </a:solidFill>
                <a:latin typeface="Arial" pitchFamily="34" charset="0"/>
                <a:ea typeface="Arial" pitchFamily="34" charset="-122"/>
                <a:cs typeface="Arial" pitchFamily="34" charset="-120"/>
              </a:rPr>
              <a:t>AI pricing can move faster than human review</a:t>
            </a:r>
            <a:endParaRPr lang="en-US" sz="3200" dirty="0"/>
          </a:p>
        </p:txBody>
      </p:sp>
      <p:sp>
        <p:nvSpPr>
          <p:cNvPr id="4" name="Text 2"/>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02</a:t>
            </a:r>
            <a:endParaRPr lang="en-US" sz="950" dirty="0"/>
          </a:p>
        </p:txBody>
      </p:sp>
      <p:sp>
        <p:nvSpPr>
          <p:cNvPr id="5" name="Shape 3"/>
          <p:cNvSpPr/>
          <p:nvPr/>
        </p:nvSpPr>
        <p:spPr>
          <a:xfrm>
            <a:off x="548640" y="1371600"/>
            <a:ext cx="2485568" cy="1298448"/>
          </a:xfrm>
          <a:prstGeom prst="roundRect">
            <a:avLst>
              <a:gd name="adj" fmla="val 3521"/>
            </a:avLst>
          </a:prstGeom>
          <a:solidFill>
            <a:srgbClr val="14263F"/>
          </a:solidFill>
          <a:ln w="12700">
            <a:solidFill>
              <a:srgbClr val="1E3454"/>
            </a:solidFill>
            <a:prstDash val="solid"/>
          </a:ln>
        </p:spPr>
      </p:sp>
      <p:sp>
        <p:nvSpPr>
          <p:cNvPr id="6" name="Shape 4"/>
          <p:cNvSpPr/>
          <p:nvPr/>
        </p:nvSpPr>
        <p:spPr>
          <a:xfrm>
            <a:off x="749808" y="1536192"/>
            <a:ext cx="365760" cy="365760"/>
          </a:xfrm>
          <a:prstGeom prst="roundRect">
            <a:avLst>
              <a:gd name="adj" fmla="val 70000"/>
            </a:avLst>
          </a:prstGeom>
          <a:solidFill>
            <a:srgbClr val="0B1728"/>
          </a:solidFill>
          <a:ln w="12700">
            <a:solidFill>
              <a:srgbClr val="1E3454"/>
            </a:solidFill>
            <a:prstDash val="solid"/>
          </a:ln>
        </p:spPr>
      </p:sp>
      <p:pic>
        <p:nvPicPr>
          <p:cNvPr id="7" name="Image 0" descr="preencoded.png">    </p:cNvPr>
          <p:cNvPicPr>
            <a:picLocks noChangeAspect="1"/>
          </p:cNvPicPr>
          <p:nvPr/>
        </p:nvPicPr>
        <p:blipFill>
          <a:blip r:embed="rId1"/>
          <a:stretch>
            <a:fillRect/>
          </a:stretch>
        </p:blipFill>
        <p:spPr>
          <a:xfrm>
            <a:off x="844906" y="1631290"/>
            <a:ext cx="175565" cy="175565"/>
          </a:xfrm>
          <a:prstGeom prst="rect">
            <a:avLst/>
          </a:prstGeom>
        </p:spPr>
      </p:pic>
      <p:sp>
        <p:nvSpPr>
          <p:cNvPr id="8" name="Text 5"/>
          <p:cNvSpPr/>
          <p:nvPr/>
        </p:nvSpPr>
        <p:spPr>
          <a:xfrm>
            <a:off x="749808" y="2011680"/>
            <a:ext cx="2083232" cy="237744"/>
          </a:xfrm>
          <a:prstGeom prst="rect">
            <a:avLst/>
          </a:prstGeom>
          <a:noFill/>
          <a:ln/>
        </p:spPr>
        <p:txBody>
          <a:bodyPr wrap="square" lIns="0" tIns="0" rIns="0" bIns="0" rtlCol="0" anchor="t"/>
          <a:lstStyle/>
          <a:p>
            <a:pPr indent="0" marL="0">
              <a:buNone/>
            </a:pPr>
            <a:r>
              <a:rPr lang="en-US" sz="1300" b="1" dirty="0">
                <a:solidFill>
                  <a:srgbClr val="EAF1FA"/>
                </a:solidFill>
                <a:latin typeface="Arial" pitchFamily="34" charset="0"/>
                <a:ea typeface="Arial" pitchFamily="34" charset="-122"/>
                <a:cs typeface="Arial" pitchFamily="34" charset="-120"/>
              </a:rPr>
              <a:t>AI price bot</a:t>
            </a:r>
            <a:endParaRPr lang="en-US" sz="1300" dirty="0"/>
          </a:p>
        </p:txBody>
      </p:sp>
      <p:sp>
        <p:nvSpPr>
          <p:cNvPr id="9" name="Text 6"/>
          <p:cNvSpPr/>
          <p:nvPr/>
        </p:nvSpPr>
        <p:spPr>
          <a:xfrm>
            <a:off x="749808" y="2286000"/>
            <a:ext cx="2083232" cy="329184"/>
          </a:xfrm>
          <a:prstGeom prst="rect">
            <a:avLst/>
          </a:prstGeom>
          <a:noFill/>
          <a:ln/>
        </p:spPr>
        <p:txBody>
          <a:bodyPr wrap="square" lIns="0" tIns="0" rIns="0" bIns="0" rtlCol="0" anchor="t"/>
          <a:lstStyle/>
          <a:p>
            <a:pPr indent="0" marL="0">
              <a:lnSpc>
                <a:spcPts val="1400"/>
              </a:lnSpc>
              <a:buNone/>
            </a:pPr>
            <a:r>
              <a:rPr lang="en-US" sz="1050" dirty="0">
                <a:solidFill>
                  <a:srgbClr val="9CB0CB"/>
                </a:solidFill>
                <a:latin typeface="Arial" pitchFamily="34" charset="0"/>
                <a:ea typeface="Arial" pitchFamily="34" charset="-122"/>
                <a:cs typeface="Arial" pitchFamily="34" charset="-120"/>
              </a:rPr>
              <a:t>Reprices continuously, no pause for review</a:t>
            </a:r>
            <a:endParaRPr lang="en-US" sz="1050" dirty="0"/>
          </a:p>
        </p:txBody>
      </p:sp>
      <p:sp>
        <p:nvSpPr>
          <p:cNvPr id="10" name="Shape 7"/>
          <p:cNvSpPr/>
          <p:nvPr/>
        </p:nvSpPr>
        <p:spPr>
          <a:xfrm>
            <a:off x="3107360" y="2020824"/>
            <a:ext cx="237744" cy="0"/>
          </a:xfrm>
          <a:prstGeom prst="line">
            <a:avLst/>
          </a:prstGeom>
          <a:noFill/>
          <a:ln w="19050">
            <a:solidFill>
              <a:srgbClr val="2E4A72"/>
            </a:solidFill>
            <a:prstDash val="solid"/>
            <a:tailEnd type="triangle"/>
          </a:ln>
        </p:spPr>
      </p:sp>
      <p:sp>
        <p:nvSpPr>
          <p:cNvPr id="11" name="Shape 8"/>
          <p:cNvSpPr/>
          <p:nvPr/>
        </p:nvSpPr>
        <p:spPr>
          <a:xfrm>
            <a:off x="3418256" y="1371600"/>
            <a:ext cx="2485568" cy="1298448"/>
          </a:xfrm>
          <a:prstGeom prst="roundRect">
            <a:avLst>
              <a:gd name="adj" fmla="val 3521"/>
            </a:avLst>
          </a:prstGeom>
          <a:solidFill>
            <a:srgbClr val="2A2113"/>
          </a:solidFill>
          <a:ln w="12700">
            <a:solidFill>
              <a:srgbClr val="6E5223"/>
            </a:solidFill>
            <a:prstDash val="solid"/>
          </a:ln>
        </p:spPr>
      </p:sp>
      <p:sp>
        <p:nvSpPr>
          <p:cNvPr id="12" name="Shape 9"/>
          <p:cNvSpPr/>
          <p:nvPr/>
        </p:nvSpPr>
        <p:spPr>
          <a:xfrm>
            <a:off x="3619424" y="1536192"/>
            <a:ext cx="365760" cy="365760"/>
          </a:xfrm>
          <a:prstGeom prst="roundRect">
            <a:avLst>
              <a:gd name="adj" fmla="val 70000"/>
            </a:avLst>
          </a:prstGeom>
          <a:solidFill>
            <a:srgbClr val="0B1728"/>
          </a:solidFill>
          <a:ln w="12700">
            <a:solidFill>
              <a:srgbClr val="6E5223"/>
            </a:solidFill>
            <a:prstDash val="solid"/>
          </a:ln>
        </p:spPr>
      </p:sp>
      <p:pic>
        <p:nvPicPr>
          <p:cNvPr id="13" name="Image 1" descr="preencoded.png">    </p:cNvPr>
          <p:cNvPicPr>
            <a:picLocks noChangeAspect="1"/>
          </p:cNvPicPr>
          <p:nvPr/>
        </p:nvPicPr>
        <p:blipFill>
          <a:blip r:embed="rId2"/>
          <a:stretch>
            <a:fillRect/>
          </a:stretch>
        </p:blipFill>
        <p:spPr>
          <a:xfrm>
            <a:off x="3714521" y="1631290"/>
            <a:ext cx="175565" cy="175565"/>
          </a:xfrm>
          <a:prstGeom prst="rect">
            <a:avLst/>
          </a:prstGeom>
        </p:spPr>
      </p:pic>
      <p:sp>
        <p:nvSpPr>
          <p:cNvPr id="14" name="Text 10"/>
          <p:cNvSpPr/>
          <p:nvPr/>
        </p:nvSpPr>
        <p:spPr>
          <a:xfrm>
            <a:off x="3619424" y="2011680"/>
            <a:ext cx="2083232" cy="237744"/>
          </a:xfrm>
          <a:prstGeom prst="rect">
            <a:avLst/>
          </a:prstGeom>
          <a:noFill/>
          <a:ln/>
        </p:spPr>
        <p:txBody>
          <a:bodyPr wrap="square" lIns="0" tIns="0" rIns="0" bIns="0" rtlCol="0" anchor="t"/>
          <a:lstStyle/>
          <a:p>
            <a:pPr indent="0" marL="0">
              <a:buNone/>
            </a:pPr>
            <a:r>
              <a:rPr lang="en-US" sz="1300" b="1" dirty="0">
                <a:solidFill>
                  <a:srgbClr val="EAF1FA"/>
                </a:solidFill>
                <a:latin typeface="Arial" pitchFamily="34" charset="0"/>
                <a:ea typeface="Arial" pitchFamily="34" charset="-122"/>
                <a:cs typeface="Arial" pitchFamily="34" charset="-120"/>
              </a:rPr>
              <a:t>Risky price move</a:t>
            </a:r>
            <a:endParaRPr lang="en-US" sz="1300" dirty="0"/>
          </a:p>
        </p:txBody>
      </p:sp>
      <p:sp>
        <p:nvSpPr>
          <p:cNvPr id="15" name="Text 11"/>
          <p:cNvSpPr/>
          <p:nvPr/>
        </p:nvSpPr>
        <p:spPr>
          <a:xfrm>
            <a:off x="3619424" y="2286000"/>
            <a:ext cx="2083232" cy="329184"/>
          </a:xfrm>
          <a:prstGeom prst="rect">
            <a:avLst/>
          </a:prstGeom>
          <a:noFill/>
          <a:ln/>
        </p:spPr>
        <p:txBody>
          <a:bodyPr wrap="square" lIns="0" tIns="0" rIns="0" bIns="0" rtlCol="0" anchor="t"/>
          <a:lstStyle/>
          <a:p>
            <a:pPr indent="0" marL="0">
              <a:lnSpc>
                <a:spcPts val="1400"/>
              </a:lnSpc>
              <a:buNone/>
            </a:pPr>
            <a:r>
              <a:rPr lang="en-US" sz="1050" dirty="0">
                <a:solidFill>
                  <a:srgbClr val="9CB0CB"/>
                </a:solidFill>
                <a:latin typeface="Arial" pitchFamily="34" charset="0"/>
                <a:ea typeface="Arial" pitchFamily="34" charset="-122"/>
                <a:cs typeface="Arial" pitchFamily="34" charset="-120"/>
              </a:rPr>
              <a:t>Floor or ceiling breach slips through</a:t>
            </a:r>
            <a:endParaRPr lang="en-US" sz="1050" dirty="0"/>
          </a:p>
        </p:txBody>
      </p:sp>
      <p:sp>
        <p:nvSpPr>
          <p:cNvPr id="16" name="Shape 12"/>
          <p:cNvSpPr/>
          <p:nvPr/>
        </p:nvSpPr>
        <p:spPr>
          <a:xfrm>
            <a:off x="5976976" y="2020824"/>
            <a:ext cx="237744" cy="0"/>
          </a:xfrm>
          <a:prstGeom prst="line">
            <a:avLst/>
          </a:prstGeom>
          <a:noFill/>
          <a:ln w="19050">
            <a:solidFill>
              <a:srgbClr val="2E4A72"/>
            </a:solidFill>
            <a:prstDash val="solid"/>
            <a:tailEnd type="triangle"/>
          </a:ln>
        </p:spPr>
      </p:sp>
      <p:sp>
        <p:nvSpPr>
          <p:cNvPr id="17" name="Shape 13"/>
          <p:cNvSpPr/>
          <p:nvPr/>
        </p:nvSpPr>
        <p:spPr>
          <a:xfrm>
            <a:off x="6287872" y="1371600"/>
            <a:ext cx="2485568" cy="1298448"/>
          </a:xfrm>
          <a:prstGeom prst="roundRect">
            <a:avLst>
              <a:gd name="adj" fmla="val 3521"/>
            </a:avLst>
          </a:prstGeom>
          <a:solidFill>
            <a:srgbClr val="2A2113"/>
          </a:solidFill>
          <a:ln w="12700">
            <a:solidFill>
              <a:srgbClr val="6E5223"/>
            </a:solidFill>
            <a:prstDash val="solid"/>
          </a:ln>
        </p:spPr>
      </p:sp>
      <p:sp>
        <p:nvSpPr>
          <p:cNvPr id="18" name="Shape 14"/>
          <p:cNvSpPr/>
          <p:nvPr/>
        </p:nvSpPr>
        <p:spPr>
          <a:xfrm>
            <a:off x="6489040" y="1536192"/>
            <a:ext cx="365760" cy="365760"/>
          </a:xfrm>
          <a:prstGeom prst="roundRect">
            <a:avLst>
              <a:gd name="adj" fmla="val 70000"/>
            </a:avLst>
          </a:prstGeom>
          <a:solidFill>
            <a:srgbClr val="0B1728"/>
          </a:solidFill>
          <a:ln w="12700">
            <a:solidFill>
              <a:srgbClr val="6E5223"/>
            </a:solidFill>
            <a:prstDash val="solid"/>
          </a:ln>
        </p:spPr>
      </p:sp>
      <p:pic>
        <p:nvPicPr>
          <p:cNvPr id="19" name="Image 2" descr="preencoded.png">    </p:cNvPr>
          <p:cNvPicPr>
            <a:picLocks noChangeAspect="1"/>
          </p:cNvPicPr>
          <p:nvPr/>
        </p:nvPicPr>
        <p:blipFill>
          <a:blip r:embed="rId3"/>
          <a:stretch>
            <a:fillRect/>
          </a:stretch>
        </p:blipFill>
        <p:spPr>
          <a:xfrm>
            <a:off x="6584137" y="1631290"/>
            <a:ext cx="175565" cy="175565"/>
          </a:xfrm>
          <a:prstGeom prst="rect">
            <a:avLst/>
          </a:prstGeom>
        </p:spPr>
      </p:pic>
      <p:sp>
        <p:nvSpPr>
          <p:cNvPr id="20" name="Text 15"/>
          <p:cNvSpPr/>
          <p:nvPr/>
        </p:nvSpPr>
        <p:spPr>
          <a:xfrm>
            <a:off x="6489040" y="2011680"/>
            <a:ext cx="2083232" cy="237744"/>
          </a:xfrm>
          <a:prstGeom prst="rect">
            <a:avLst/>
          </a:prstGeom>
          <a:noFill/>
          <a:ln/>
        </p:spPr>
        <p:txBody>
          <a:bodyPr wrap="square" lIns="0" tIns="0" rIns="0" bIns="0" rtlCol="0" anchor="t"/>
          <a:lstStyle/>
          <a:p>
            <a:pPr indent="0" marL="0">
              <a:buNone/>
            </a:pPr>
            <a:r>
              <a:rPr lang="en-US" sz="1300" b="1" dirty="0">
                <a:solidFill>
                  <a:srgbClr val="EAF1FA"/>
                </a:solidFill>
                <a:latin typeface="Arial" pitchFamily="34" charset="0"/>
                <a:ea typeface="Arial" pitchFamily="34" charset="-122"/>
                <a:cs typeface="Arial" pitchFamily="34" charset="-120"/>
              </a:rPr>
              <a:t>Delayed review</a:t>
            </a:r>
            <a:endParaRPr lang="en-US" sz="1300" dirty="0"/>
          </a:p>
        </p:txBody>
      </p:sp>
      <p:sp>
        <p:nvSpPr>
          <p:cNvPr id="21" name="Text 16"/>
          <p:cNvSpPr/>
          <p:nvPr/>
        </p:nvSpPr>
        <p:spPr>
          <a:xfrm>
            <a:off x="6489040" y="2286000"/>
            <a:ext cx="2083232" cy="329184"/>
          </a:xfrm>
          <a:prstGeom prst="rect">
            <a:avLst/>
          </a:prstGeom>
          <a:noFill/>
          <a:ln/>
        </p:spPr>
        <p:txBody>
          <a:bodyPr wrap="square" lIns="0" tIns="0" rIns="0" bIns="0" rtlCol="0" anchor="t"/>
          <a:lstStyle/>
          <a:p>
            <a:pPr indent="0" marL="0">
              <a:lnSpc>
                <a:spcPts val="1400"/>
              </a:lnSpc>
              <a:buNone/>
            </a:pPr>
            <a:r>
              <a:rPr lang="en-US" sz="1050" dirty="0">
                <a:solidFill>
                  <a:srgbClr val="9CB0CB"/>
                </a:solidFill>
                <a:latin typeface="Arial" pitchFamily="34" charset="0"/>
                <a:ea typeface="Arial" pitchFamily="34" charset="-122"/>
                <a:cs typeface="Arial" pitchFamily="34" charset="-120"/>
              </a:rPr>
              <a:t>Spotted hours or days later</a:t>
            </a:r>
            <a:endParaRPr lang="en-US" sz="1050" dirty="0"/>
          </a:p>
        </p:txBody>
      </p:sp>
      <p:sp>
        <p:nvSpPr>
          <p:cNvPr id="22" name="Shape 17"/>
          <p:cNvSpPr/>
          <p:nvPr/>
        </p:nvSpPr>
        <p:spPr>
          <a:xfrm>
            <a:off x="8846591" y="2020824"/>
            <a:ext cx="237744" cy="0"/>
          </a:xfrm>
          <a:prstGeom prst="line">
            <a:avLst/>
          </a:prstGeom>
          <a:noFill/>
          <a:ln w="19050">
            <a:solidFill>
              <a:srgbClr val="2E4A72"/>
            </a:solidFill>
            <a:prstDash val="solid"/>
            <a:tailEnd type="triangle"/>
          </a:ln>
        </p:spPr>
      </p:sp>
      <p:sp>
        <p:nvSpPr>
          <p:cNvPr id="23" name="Shape 18"/>
          <p:cNvSpPr/>
          <p:nvPr/>
        </p:nvSpPr>
        <p:spPr>
          <a:xfrm>
            <a:off x="9157487" y="1371600"/>
            <a:ext cx="2485568" cy="1298448"/>
          </a:xfrm>
          <a:prstGeom prst="roundRect">
            <a:avLst>
              <a:gd name="adj" fmla="val 3521"/>
            </a:avLst>
          </a:prstGeom>
          <a:solidFill>
            <a:srgbClr val="2B1520"/>
          </a:solidFill>
          <a:ln w="12700">
            <a:solidFill>
              <a:srgbClr val="6E2530"/>
            </a:solidFill>
            <a:prstDash val="solid"/>
          </a:ln>
        </p:spPr>
      </p:sp>
      <p:sp>
        <p:nvSpPr>
          <p:cNvPr id="24" name="Shape 19"/>
          <p:cNvSpPr/>
          <p:nvPr/>
        </p:nvSpPr>
        <p:spPr>
          <a:xfrm>
            <a:off x="9358655" y="1536192"/>
            <a:ext cx="365760" cy="365760"/>
          </a:xfrm>
          <a:prstGeom prst="roundRect">
            <a:avLst>
              <a:gd name="adj" fmla="val 70000"/>
            </a:avLst>
          </a:prstGeom>
          <a:solidFill>
            <a:srgbClr val="0B1728"/>
          </a:solidFill>
          <a:ln w="12700">
            <a:solidFill>
              <a:srgbClr val="6E2530"/>
            </a:solidFill>
            <a:prstDash val="solid"/>
          </a:ln>
        </p:spPr>
      </p:sp>
      <p:pic>
        <p:nvPicPr>
          <p:cNvPr id="25" name="Image 3" descr="preencoded.png">    </p:cNvPr>
          <p:cNvPicPr>
            <a:picLocks noChangeAspect="1"/>
          </p:cNvPicPr>
          <p:nvPr/>
        </p:nvPicPr>
        <p:blipFill>
          <a:blip r:embed="rId4"/>
          <a:stretch>
            <a:fillRect/>
          </a:stretch>
        </p:blipFill>
        <p:spPr>
          <a:xfrm>
            <a:off x="9453753" y="1631290"/>
            <a:ext cx="175565" cy="175565"/>
          </a:xfrm>
          <a:prstGeom prst="rect">
            <a:avLst/>
          </a:prstGeom>
        </p:spPr>
      </p:pic>
      <p:sp>
        <p:nvSpPr>
          <p:cNvPr id="26" name="Text 20"/>
          <p:cNvSpPr/>
          <p:nvPr/>
        </p:nvSpPr>
        <p:spPr>
          <a:xfrm>
            <a:off x="9358655" y="2011680"/>
            <a:ext cx="2083232" cy="237744"/>
          </a:xfrm>
          <a:prstGeom prst="rect">
            <a:avLst/>
          </a:prstGeom>
          <a:noFill/>
          <a:ln/>
        </p:spPr>
        <p:txBody>
          <a:bodyPr wrap="square" lIns="0" tIns="0" rIns="0" bIns="0" rtlCol="0" anchor="t"/>
          <a:lstStyle/>
          <a:p>
            <a:pPr indent="0" marL="0">
              <a:buNone/>
            </a:pPr>
            <a:r>
              <a:rPr lang="en-US" sz="1300" b="1" dirty="0">
                <a:solidFill>
                  <a:srgbClr val="EAF1FA"/>
                </a:solidFill>
                <a:latin typeface="Arial" pitchFamily="34" charset="0"/>
                <a:ea typeface="Arial" pitchFamily="34" charset="-122"/>
                <a:cs typeface="Arial" pitchFamily="34" charset="-120"/>
              </a:rPr>
              <a:t>Damage already done</a:t>
            </a:r>
            <a:endParaRPr lang="en-US" sz="1300" dirty="0"/>
          </a:p>
        </p:txBody>
      </p:sp>
      <p:sp>
        <p:nvSpPr>
          <p:cNvPr id="27" name="Text 21"/>
          <p:cNvSpPr/>
          <p:nvPr/>
        </p:nvSpPr>
        <p:spPr>
          <a:xfrm>
            <a:off x="9358655" y="2286000"/>
            <a:ext cx="2083232" cy="329184"/>
          </a:xfrm>
          <a:prstGeom prst="rect">
            <a:avLst/>
          </a:prstGeom>
          <a:noFill/>
          <a:ln/>
        </p:spPr>
        <p:txBody>
          <a:bodyPr wrap="square" lIns="0" tIns="0" rIns="0" bIns="0" rtlCol="0" anchor="t"/>
          <a:lstStyle/>
          <a:p>
            <a:pPr indent="0" marL="0">
              <a:lnSpc>
                <a:spcPts val="1400"/>
              </a:lnSpc>
              <a:buNone/>
            </a:pPr>
            <a:r>
              <a:rPr lang="en-US" sz="1050" dirty="0">
                <a:solidFill>
                  <a:srgbClr val="9CB0CB"/>
                </a:solidFill>
                <a:latin typeface="Arial" pitchFamily="34" charset="0"/>
                <a:ea typeface="Arial" pitchFamily="34" charset="-122"/>
                <a:cs typeface="Arial" pitchFamily="34" charset="-120"/>
              </a:rPr>
              <a:t>Margin leakage, stockouts, lost trust</a:t>
            </a:r>
            <a:endParaRPr lang="en-US" sz="1050" dirty="0"/>
          </a:p>
        </p:txBody>
      </p:sp>
      <p:sp>
        <p:nvSpPr>
          <p:cNvPr id="28" name="Shape 22"/>
          <p:cNvSpPr/>
          <p:nvPr/>
        </p:nvSpPr>
        <p:spPr>
          <a:xfrm>
            <a:off x="548640" y="2980944"/>
            <a:ext cx="5364328" cy="2286000"/>
          </a:xfrm>
          <a:prstGeom prst="roundRect">
            <a:avLst>
              <a:gd name="adj" fmla="val 2400"/>
            </a:avLst>
          </a:prstGeom>
          <a:solidFill>
            <a:srgbClr val="0F1D33"/>
          </a:solidFill>
          <a:ln w="12700">
            <a:solidFill>
              <a:srgbClr val="1E3454"/>
            </a:solidFill>
            <a:prstDash val="solid"/>
          </a:ln>
        </p:spPr>
      </p:sp>
      <p:sp>
        <p:nvSpPr>
          <p:cNvPr id="29" name="Shape 23"/>
          <p:cNvSpPr/>
          <p:nvPr/>
        </p:nvSpPr>
        <p:spPr>
          <a:xfrm>
            <a:off x="804672" y="3200400"/>
            <a:ext cx="347472" cy="347472"/>
          </a:xfrm>
          <a:prstGeom prst="roundRect">
            <a:avLst>
              <a:gd name="adj" fmla="val 73684"/>
            </a:avLst>
          </a:prstGeom>
          <a:solidFill>
            <a:srgbClr val="0D2434"/>
          </a:solidFill>
          <a:ln w="12700">
            <a:solidFill>
              <a:srgbClr val="1D5673"/>
            </a:solidFill>
            <a:prstDash val="solid"/>
          </a:ln>
        </p:spPr>
      </p:sp>
      <p:pic>
        <p:nvPicPr>
          <p:cNvPr id="30" name="Image 4" descr="preencoded.png">    </p:cNvPr>
          <p:cNvPicPr>
            <a:picLocks noChangeAspect="1"/>
          </p:cNvPicPr>
          <p:nvPr/>
        </p:nvPicPr>
        <p:blipFill>
          <a:blip r:embed="rId5"/>
          <a:stretch>
            <a:fillRect/>
          </a:stretch>
        </p:blipFill>
        <p:spPr>
          <a:xfrm>
            <a:off x="895015" y="3290743"/>
            <a:ext cx="166787" cy="166787"/>
          </a:xfrm>
          <a:prstGeom prst="rect">
            <a:avLst/>
          </a:prstGeom>
        </p:spPr>
      </p:pic>
      <p:sp>
        <p:nvSpPr>
          <p:cNvPr id="31" name="Text 24"/>
          <p:cNvSpPr/>
          <p:nvPr/>
        </p:nvSpPr>
        <p:spPr>
          <a:xfrm>
            <a:off x="1261872" y="3273552"/>
            <a:ext cx="4449928" cy="237744"/>
          </a:xfrm>
          <a:prstGeom prst="rect">
            <a:avLst/>
          </a:prstGeom>
          <a:noFill/>
          <a:ln/>
        </p:spPr>
        <p:txBody>
          <a:bodyPr wrap="square" lIns="0" tIns="0" rIns="0" bIns="0" rtlCol="0" anchor="t"/>
          <a:lstStyle/>
          <a:p>
            <a:pPr indent="0" marL="0">
              <a:buNone/>
            </a:pPr>
            <a:r>
              <a:rPr lang="en-US" sz="1500" b="1" dirty="0">
                <a:solidFill>
                  <a:srgbClr val="EAF1FA"/>
                </a:solidFill>
                <a:latin typeface="Arial" pitchFamily="34" charset="0"/>
                <a:ea typeface="Arial" pitchFamily="34" charset="-122"/>
                <a:cs typeface="Arial" pitchFamily="34" charset="-120"/>
              </a:rPr>
              <a:t>Who feels it first</a:t>
            </a:r>
            <a:endParaRPr lang="en-US" sz="1500" dirty="0"/>
          </a:p>
        </p:txBody>
      </p:sp>
      <p:sp>
        <p:nvSpPr>
          <p:cNvPr id="32" name="Shape 25"/>
          <p:cNvSpPr/>
          <p:nvPr/>
        </p:nvSpPr>
        <p:spPr>
          <a:xfrm>
            <a:off x="841248" y="3867912"/>
            <a:ext cx="82296" cy="82296"/>
          </a:xfrm>
          <a:prstGeom prst="ellipse">
            <a:avLst/>
          </a:prstGeom>
          <a:solidFill>
            <a:srgbClr val="35C4F0"/>
          </a:solidFill>
          <a:ln w="12700">
            <a:solidFill>
              <a:srgbClr val="35C4F0"/>
            </a:solidFill>
            <a:prstDash val="solid"/>
          </a:ln>
        </p:spPr>
      </p:sp>
      <p:sp>
        <p:nvSpPr>
          <p:cNvPr id="33" name="Text 26"/>
          <p:cNvSpPr/>
          <p:nvPr/>
        </p:nvSpPr>
        <p:spPr>
          <a:xfrm>
            <a:off x="1060704" y="3785616"/>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Pricing teams owning automated repricing</a:t>
            </a:r>
            <a:endParaRPr lang="en-US" sz="1200" dirty="0"/>
          </a:p>
        </p:txBody>
      </p:sp>
      <p:sp>
        <p:nvSpPr>
          <p:cNvPr id="34" name="Shape 27"/>
          <p:cNvSpPr/>
          <p:nvPr/>
        </p:nvSpPr>
        <p:spPr>
          <a:xfrm>
            <a:off x="841248" y="4251960"/>
            <a:ext cx="82296" cy="82296"/>
          </a:xfrm>
          <a:prstGeom prst="ellipse">
            <a:avLst/>
          </a:prstGeom>
          <a:solidFill>
            <a:srgbClr val="35C4F0"/>
          </a:solidFill>
          <a:ln w="12700">
            <a:solidFill>
              <a:srgbClr val="35C4F0"/>
            </a:solidFill>
            <a:prstDash val="solid"/>
          </a:ln>
        </p:spPr>
      </p:sp>
      <p:sp>
        <p:nvSpPr>
          <p:cNvPr id="35" name="Text 28"/>
          <p:cNvSpPr/>
          <p:nvPr/>
        </p:nvSpPr>
        <p:spPr>
          <a:xfrm>
            <a:off x="1060704" y="4169664"/>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Category managers defending margin targets</a:t>
            </a:r>
            <a:endParaRPr lang="en-US" sz="1200" dirty="0"/>
          </a:p>
        </p:txBody>
      </p:sp>
      <p:sp>
        <p:nvSpPr>
          <p:cNvPr id="36" name="Shape 29"/>
          <p:cNvSpPr/>
          <p:nvPr/>
        </p:nvSpPr>
        <p:spPr>
          <a:xfrm>
            <a:off x="841248" y="4636008"/>
            <a:ext cx="82296" cy="82296"/>
          </a:xfrm>
          <a:prstGeom prst="ellipse">
            <a:avLst/>
          </a:prstGeom>
          <a:solidFill>
            <a:srgbClr val="35C4F0"/>
          </a:solidFill>
          <a:ln w="12700">
            <a:solidFill>
              <a:srgbClr val="35C4F0"/>
            </a:solidFill>
            <a:prstDash val="solid"/>
          </a:ln>
        </p:spPr>
      </p:sp>
      <p:sp>
        <p:nvSpPr>
          <p:cNvPr id="37" name="Text 30"/>
          <p:cNvSpPr/>
          <p:nvPr/>
        </p:nvSpPr>
        <p:spPr>
          <a:xfrm>
            <a:off x="1060704" y="4553712"/>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Marketplace operators policing seller prices</a:t>
            </a:r>
            <a:endParaRPr lang="en-US" sz="1200" dirty="0"/>
          </a:p>
        </p:txBody>
      </p:sp>
      <p:sp>
        <p:nvSpPr>
          <p:cNvPr id="38" name="Shape 31"/>
          <p:cNvSpPr/>
          <p:nvPr/>
        </p:nvSpPr>
        <p:spPr>
          <a:xfrm>
            <a:off x="841248" y="5020056"/>
            <a:ext cx="82296" cy="82296"/>
          </a:xfrm>
          <a:prstGeom prst="ellipse">
            <a:avLst/>
          </a:prstGeom>
          <a:solidFill>
            <a:srgbClr val="35C4F0"/>
          </a:solidFill>
          <a:ln w="12700">
            <a:solidFill>
              <a:srgbClr val="35C4F0"/>
            </a:solidFill>
            <a:prstDash val="solid"/>
          </a:ln>
        </p:spPr>
      </p:sp>
      <p:sp>
        <p:nvSpPr>
          <p:cNvPr id="39" name="Text 32"/>
          <p:cNvSpPr/>
          <p:nvPr/>
        </p:nvSpPr>
        <p:spPr>
          <a:xfrm>
            <a:off x="1060704" y="4937760"/>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Retail and e-commerce automation teams</a:t>
            </a:r>
            <a:endParaRPr lang="en-US" sz="1200" dirty="0"/>
          </a:p>
        </p:txBody>
      </p:sp>
      <p:sp>
        <p:nvSpPr>
          <p:cNvPr id="40" name="Shape 33"/>
          <p:cNvSpPr/>
          <p:nvPr/>
        </p:nvSpPr>
        <p:spPr>
          <a:xfrm>
            <a:off x="6278728" y="2980944"/>
            <a:ext cx="5364328" cy="2286000"/>
          </a:xfrm>
          <a:prstGeom prst="roundRect">
            <a:avLst>
              <a:gd name="adj" fmla="val 2400"/>
            </a:avLst>
          </a:prstGeom>
          <a:solidFill>
            <a:srgbClr val="0F1D33"/>
          </a:solidFill>
          <a:ln w="12700">
            <a:solidFill>
              <a:srgbClr val="1E3454"/>
            </a:solidFill>
            <a:prstDash val="solid"/>
          </a:ln>
        </p:spPr>
      </p:sp>
      <p:sp>
        <p:nvSpPr>
          <p:cNvPr id="41" name="Shape 34"/>
          <p:cNvSpPr/>
          <p:nvPr/>
        </p:nvSpPr>
        <p:spPr>
          <a:xfrm>
            <a:off x="6534760" y="3200400"/>
            <a:ext cx="347472" cy="347472"/>
          </a:xfrm>
          <a:prstGeom prst="roundRect">
            <a:avLst>
              <a:gd name="adj" fmla="val 73684"/>
            </a:avLst>
          </a:prstGeom>
          <a:solidFill>
            <a:srgbClr val="2A2113"/>
          </a:solidFill>
          <a:ln w="12700">
            <a:solidFill>
              <a:srgbClr val="6E5223"/>
            </a:solidFill>
            <a:prstDash val="solid"/>
          </a:ln>
        </p:spPr>
      </p:sp>
      <p:pic>
        <p:nvPicPr>
          <p:cNvPr id="42" name="Image 5" descr="preencoded.png">    </p:cNvPr>
          <p:cNvPicPr>
            <a:picLocks noChangeAspect="1"/>
          </p:cNvPicPr>
          <p:nvPr/>
        </p:nvPicPr>
        <p:blipFill>
          <a:blip r:embed="rId6"/>
          <a:stretch>
            <a:fillRect/>
          </a:stretch>
        </p:blipFill>
        <p:spPr>
          <a:xfrm>
            <a:off x="6625102" y="3290743"/>
            <a:ext cx="166787" cy="166787"/>
          </a:xfrm>
          <a:prstGeom prst="rect">
            <a:avLst/>
          </a:prstGeom>
        </p:spPr>
      </p:pic>
      <p:sp>
        <p:nvSpPr>
          <p:cNvPr id="43" name="Text 35"/>
          <p:cNvSpPr/>
          <p:nvPr/>
        </p:nvSpPr>
        <p:spPr>
          <a:xfrm>
            <a:off x="6991960" y="3273552"/>
            <a:ext cx="4449928" cy="237744"/>
          </a:xfrm>
          <a:prstGeom prst="rect">
            <a:avLst/>
          </a:prstGeom>
          <a:noFill/>
          <a:ln/>
        </p:spPr>
        <p:txBody>
          <a:bodyPr wrap="square" lIns="0" tIns="0" rIns="0" bIns="0" rtlCol="0" anchor="t"/>
          <a:lstStyle/>
          <a:p>
            <a:pPr indent="0" marL="0">
              <a:buNone/>
            </a:pPr>
            <a:r>
              <a:rPr lang="en-US" sz="1500" b="1" dirty="0">
                <a:solidFill>
                  <a:srgbClr val="EAF1FA"/>
                </a:solidFill>
                <a:latin typeface="Arial" pitchFamily="34" charset="0"/>
                <a:ea typeface="Arial" pitchFamily="34" charset="-122"/>
                <a:cs typeface="Arial" pitchFamily="34" charset="-120"/>
              </a:rPr>
              <a:t>Where today's tooling stops</a:t>
            </a:r>
            <a:endParaRPr lang="en-US" sz="1500" dirty="0"/>
          </a:p>
        </p:txBody>
      </p:sp>
      <p:sp>
        <p:nvSpPr>
          <p:cNvPr id="44" name="Shape 36"/>
          <p:cNvSpPr/>
          <p:nvPr/>
        </p:nvSpPr>
        <p:spPr>
          <a:xfrm>
            <a:off x="6571336" y="3867912"/>
            <a:ext cx="82296" cy="82296"/>
          </a:xfrm>
          <a:prstGeom prst="ellipse">
            <a:avLst/>
          </a:prstGeom>
          <a:solidFill>
            <a:srgbClr val="F2A93B"/>
          </a:solidFill>
          <a:ln w="12700">
            <a:solidFill>
              <a:srgbClr val="F2A93B"/>
            </a:solidFill>
            <a:prstDash val="solid"/>
          </a:ln>
        </p:spPr>
      </p:sp>
      <p:sp>
        <p:nvSpPr>
          <p:cNvPr id="45" name="Text 37"/>
          <p:cNvSpPr/>
          <p:nvPr/>
        </p:nvSpPr>
        <p:spPr>
          <a:xfrm>
            <a:off x="6790792" y="3785616"/>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Static rule checks with no context</a:t>
            </a:r>
            <a:endParaRPr lang="en-US" sz="1200" dirty="0"/>
          </a:p>
        </p:txBody>
      </p:sp>
      <p:sp>
        <p:nvSpPr>
          <p:cNvPr id="46" name="Shape 38"/>
          <p:cNvSpPr/>
          <p:nvPr/>
        </p:nvSpPr>
        <p:spPr>
          <a:xfrm>
            <a:off x="6571336" y="4251960"/>
            <a:ext cx="82296" cy="82296"/>
          </a:xfrm>
          <a:prstGeom prst="ellipse">
            <a:avLst/>
          </a:prstGeom>
          <a:solidFill>
            <a:srgbClr val="F2A93B"/>
          </a:solidFill>
          <a:ln w="12700">
            <a:solidFill>
              <a:srgbClr val="F2A93B"/>
            </a:solidFill>
            <a:prstDash val="solid"/>
          </a:ln>
        </p:spPr>
      </p:sp>
      <p:sp>
        <p:nvSpPr>
          <p:cNvPr id="47" name="Text 39"/>
          <p:cNvSpPr/>
          <p:nvPr/>
        </p:nvSpPr>
        <p:spPr>
          <a:xfrm>
            <a:off x="6790792" y="4169664"/>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No counterfactual estimate of what the move costs</a:t>
            </a:r>
            <a:endParaRPr lang="en-US" sz="1200" dirty="0"/>
          </a:p>
        </p:txBody>
      </p:sp>
      <p:sp>
        <p:nvSpPr>
          <p:cNvPr id="48" name="Shape 40"/>
          <p:cNvSpPr/>
          <p:nvPr/>
        </p:nvSpPr>
        <p:spPr>
          <a:xfrm>
            <a:off x="6571336" y="4636008"/>
            <a:ext cx="82296" cy="82296"/>
          </a:xfrm>
          <a:prstGeom prst="ellipse">
            <a:avLst/>
          </a:prstGeom>
          <a:solidFill>
            <a:srgbClr val="F2A93B"/>
          </a:solidFill>
          <a:ln w="12700">
            <a:solidFill>
              <a:srgbClr val="F2A93B"/>
            </a:solidFill>
            <a:prstDash val="solid"/>
          </a:ln>
        </p:spPr>
      </p:sp>
      <p:sp>
        <p:nvSpPr>
          <p:cNvPr id="49" name="Text 41"/>
          <p:cNvSpPr/>
          <p:nvPr/>
        </p:nvSpPr>
        <p:spPr>
          <a:xfrm>
            <a:off x="6790792" y="4553712"/>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Weak auditability once the price has shipped</a:t>
            </a:r>
            <a:endParaRPr lang="en-US" sz="1200" dirty="0"/>
          </a:p>
        </p:txBody>
      </p:sp>
      <p:sp>
        <p:nvSpPr>
          <p:cNvPr id="50" name="Shape 42"/>
          <p:cNvSpPr/>
          <p:nvPr/>
        </p:nvSpPr>
        <p:spPr>
          <a:xfrm>
            <a:off x="6571336" y="5020056"/>
            <a:ext cx="82296" cy="82296"/>
          </a:xfrm>
          <a:prstGeom prst="ellipse">
            <a:avLst/>
          </a:prstGeom>
          <a:solidFill>
            <a:srgbClr val="F2A93B"/>
          </a:solidFill>
          <a:ln w="12700">
            <a:solidFill>
              <a:srgbClr val="F2A93B"/>
            </a:solidFill>
            <a:prstDash val="solid"/>
          </a:ln>
        </p:spPr>
      </p:sp>
      <p:sp>
        <p:nvSpPr>
          <p:cNvPr id="51" name="Text 43"/>
          <p:cNvSpPr/>
          <p:nvPr/>
        </p:nvSpPr>
        <p:spPr>
          <a:xfrm>
            <a:off x="6790792" y="4937760"/>
            <a:ext cx="4577944" cy="274320"/>
          </a:xfrm>
          <a:prstGeom prst="rect">
            <a:avLst/>
          </a:prstGeom>
          <a:noFill/>
          <a:ln/>
        </p:spPr>
        <p:txBody>
          <a:bodyPr wrap="square" lIns="0" tIns="0" rIns="0" bIns="0" rtlCol="0" anchor="t"/>
          <a:lstStyle/>
          <a:p>
            <a:pPr indent="0" marL="0">
              <a:buNone/>
            </a:pPr>
            <a:r>
              <a:rPr lang="en-US" sz="1200" dirty="0">
                <a:solidFill>
                  <a:srgbClr val="9CB0CB"/>
                </a:solidFill>
                <a:latin typeface="Arial" pitchFamily="34" charset="0"/>
                <a:ea typeface="Arial" pitchFamily="34" charset="-122"/>
                <a:cs typeface="Arial" pitchFamily="34" charset="-120"/>
              </a:rPr>
              <a:t>No policy-grounded explanation for the reviewer</a:t>
            </a:r>
            <a:endParaRPr lang="en-US" sz="1200" dirty="0"/>
          </a:p>
        </p:txBody>
      </p:sp>
      <p:sp>
        <p:nvSpPr>
          <p:cNvPr id="52" name="Shape 44"/>
          <p:cNvSpPr/>
          <p:nvPr/>
        </p:nvSpPr>
        <p:spPr>
          <a:xfrm>
            <a:off x="548640" y="5504688"/>
            <a:ext cx="11094415" cy="713232"/>
          </a:xfrm>
          <a:prstGeom prst="roundRect">
            <a:avLst>
              <a:gd name="adj" fmla="val 6410"/>
            </a:avLst>
          </a:prstGeom>
          <a:solidFill>
            <a:srgbClr val="1A1938"/>
          </a:solidFill>
          <a:ln w="12700">
            <a:solidFill>
              <a:srgbClr val="3D3A78"/>
            </a:solidFill>
            <a:prstDash val="solid"/>
          </a:ln>
        </p:spPr>
      </p:sp>
      <p:sp>
        <p:nvSpPr>
          <p:cNvPr id="53" name="Shape 45"/>
          <p:cNvSpPr/>
          <p:nvPr/>
        </p:nvSpPr>
        <p:spPr>
          <a:xfrm>
            <a:off x="786384" y="5660136"/>
            <a:ext cx="365760" cy="365760"/>
          </a:xfrm>
          <a:prstGeom prst="roundRect">
            <a:avLst>
              <a:gd name="adj" fmla="val 70000"/>
            </a:avLst>
          </a:prstGeom>
          <a:solidFill>
            <a:srgbClr val="0F0F26"/>
          </a:solidFill>
          <a:ln w="12700">
            <a:solidFill>
              <a:srgbClr val="3D3A78"/>
            </a:solidFill>
            <a:prstDash val="solid"/>
          </a:ln>
        </p:spPr>
      </p:sp>
      <p:pic>
        <p:nvPicPr>
          <p:cNvPr id="54" name="Image 6" descr="preencoded.png">    </p:cNvPr>
          <p:cNvPicPr>
            <a:picLocks noChangeAspect="1"/>
          </p:cNvPicPr>
          <p:nvPr/>
        </p:nvPicPr>
        <p:blipFill>
          <a:blip r:embed="rId7"/>
          <a:stretch>
            <a:fillRect/>
          </a:stretch>
        </p:blipFill>
        <p:spPr>
          <a:xfrm>
            <a:off x="881482" y="5755234"/>
            <a:ext cx="175565" cy="175565"/>
          </a:xfrm>
          <a:prstGeom prst="rect">
            <a:avLst/>
          </a:prstGeom>
        </p:spPr>
      </p:pic>
      <p:sp>
        <p:nvSpPr>
          <p:cNvPr id="55" name="Text 46"/>
          <p:cNvSpPr/>
          <p:nvPr/>
        </p:nvSpPr>
        <p:spPr>
          <a:xfrm>
            <a:off x="1298448" y="5742432"/>
            <a:ext cx="10088575" cy="274320"/>
          </a:xfrm>
          <a:prstGeom prst="rect">
            <a:avLst/>
          </a:prstGeom>
          <a:noFill/>
          <a:ln/>
        </p:spPr>
        <p:txBody>
          <a:bodyPr wrap="square" lIns="0" tIns="0" rIns="0" bIns="0" rtlCol="0" anchor="t"/>
          <a:lstStyle/>
          <a:p>
            <a:pPr indent="0" marL="0">
              <a:buNone/>
            </a:pPr>
            <a:r>
              <a:rPr lang="en-US" sz="1350" b="1" dirty="0">
                <a:solidFill>
                  <a:srgbClr val="D8DBFF"/>
                </a:solidFill>
                <a:latin typeface="Arial" pitchFamily="34" charset="0"/>
                <a:ea typeface="Arial" pitchFamily="34" charset="-122"/>
                <a:cs typeface="Arial" pitchFamily="34" charset="-120"/>
              </a:rPr>
              <a:t>Dashboards answer "what happened". They rarely explain why one decision is risky, or what it costs.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548640" y="384048"/>
            <a:ext cx="11094415" cy="237744"/>
          </a:xfrm>
          <a:prstGeom prst="rect">
            <a:avLst/>
          </a:prstGeom>
          <a:noFill/>
          <a:ln/>
        </p:spPr>
        <p:txBody>
          <a:bodyPr wrap="square" lIns="0" tIns="0" rIns="0" bIns="0" rtlCol="0" anchor="t"/>
          <a:lstStyle/>
          <a:p>
            <a:pPr indent="0" marL="0">
              <a:buNone/>
            </a:pPr>
            <a:r>
              <a:rPr lang="en-US" sz="1050" b="1" spc="240" kern="0" dirty="0">
                <a:solidFill>
                  <a:srgbClr val="7C6CFF"/>
                </a:solidFill>
                <a:latin typeface="Arial" pitchFamily="34" charset="0"/>
                <a:ea typeface="Arial" pitchFamily="34" charset="-122"/>
                <a:cs typeface="Arial" pitchFamily="34" charset="-120"/>
              </a:rPr>
              <a:t>THE SOLUTION</a:t>
            </a:r>
            <a:endParaRPr lang="en-US" sz="1050" dirty="0"/>
          </a:p>
        </p:txBody>
      </p:sp>
      <p:sp>
        <p:nvSpPr>
          <p:cNvPr id="3" name="Text 1"/>
          <p:cNvSpPr/>
          <p:nvPr/>
        </p:nvSpPr>
        <p:spPr>
          <a:xfrm>
            <a:off x="548640" y="658368"/>
            <a:ext cx="11094415" cy="566928"/>
          </a:xfrm>
          <a:prstGeom prst="rect">
            <a:avLst/>
          </a:prstGeom>
          <a:noFill/>
          <a:ln/>
        </p:spPr>
        <p:txBody>
          <a:bodyPr wrap="square" lIns="0" tIns="0" rIns="0" bIns="0" rtlCol="0" anchor="t"/>
          <a:lstStyle/>
          <a:p>
            <a:pPr indent="0" marL="0">
              <a:buNone/>
            </a:pPr>
            <a:r>
              <a:rPr lang="en-US" sz="3200" b="1" spc="-30" kern="0" dirty="0">
                <a:solidFill>
                  <a:srgbClr val="EAF1FA"/>
                </a:solidFill>
                <a:latin typeface="Arial" pitchFamily="34" charset="0"/>
                <a:ea typeface="Arial" pitchFamily="34" charset="-122"/>
                <a:cs typeface="Arial" pitchFamily="34" charset="-120"/>
              </a:rPr>
              <a:t>Real-time decision intelligence for pricing bots</a:t>
            </a:r>
            <a:endParaRPr lang="en-US" sz="3200" dirty="0"/>
          </a:p>
        </p:txBody>
      </p:sp>
      <p:sp>
        <p:nvSpPr>
          <p:cNvPr id="4" name="Text 2"/>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03</a:t>
            </a:r>
            <a:endParaRPr lang="en-US" sz="950" dirty="0"/>
          </a:p>
        </p:txBody>
      </p:sp>
      <p:sp>
        <p:nvSpPr>
          <p:cNvPr id="5" name="Shape 3"/>
          <p:cNvSpPr/>
          <p:nvPr/>
        </p:nvSpPr>
        <p:spPr>
          <a:xfrm>
            <a:off x="548640" y="1408176"/>
            <a:ext cx="420624" cy="420624"/>
          </a:xfrm>
          <a:prstGeom prst="roundRect">
            <a:avLst>
              <a:gd name="adj" fmla="val 60870"/>
            </a:avLst>
          </a:prstGeom>
          <a:solidFill>
            <a:srgbClr val="0D2434"/>
          </a:solidFill>
          <a:ln w="12700">
            <a:solidFill>
              <a:srgbClr val="1D5673"/>
            </a:solidFill>
            <a:prstDash val="solid"/>
          </a:ln>
        </p:spPr>
      </p:sp>
      <p:pic>
        <p:nvPicPr>
          <p:cNvPr id="6" name="Image 0" descr="preencoded.png">    </p:cNvPr>
          <p:cNvPicPr>
            <a:picLocks noChangeAspect="1"/>
          </p:cNvPicPr>
          <p:nvPr/>
        </p:nvPicPr>
        <p:blipFill>
          <a:blip r:embed="rId1"/>
          <a:stretch>
            <a:fillRect/>
          </a:stretch>
        </p:blipFill>
        <p:spPr>
          <a:xfrm>
            <a:off x="658002" y="1517538"/>
            <a:ext cx="201900" cy="201900"/>
          </a:xfrm>
          <a:prstGeom prst="rect">
            <a:avLst/>
          </a:prstGeom>
        </p:spPr>
      </p:pic>
      <p:sp>
        <p:nvSpPr>
          <p:cNvPr id="7" name="Text 4"/>
          <p:cNvSpPr/>
          <p:nvPr/>
        </p:nvSpPr>
        <p:spPr>
          <a:xfrm>
            <a:off x="1152144" y="1371600"/>
            <a:ext cx="1828800" cy="237744"/>
          </a:xfrm>
          <a:prstGeom prst="rect">
            <a:avLst/>
          </a:prstGeom>
          <a:noFill/>
          <a:ln/>
        </p:spPr>
        <p:txBody>
          <a:bodyPr wrap="square" lIns="0" tIns="0" rIns="0" bIns="0" rtlCol="0" anchor="t"/>
          <a:lstStyle/>
          <a:p>
            <a:pPr indent="0" marL="0">
              <a:buNone/>
            </a:pPr>
            <a:r>
              <a:rPr lang="en-US" sz="1400" b="1" dirty="0">
                <a:solidFill>
                  <a:srgbClr val="35C4F0"/>
                </a:solidFill>
                <a:latin typeface="Arial" pitchFamily="34" charset="0"/>
                <a:ea typeface="Arial" pitchFamily="34" charset="-122"/>
                <a:cs typeface="Arial" pitchFamily="34" charset="-120"/>
              </a:rPr>
              <a:t>Capture</a:t>
            </a:r>
            <a:endParaRPr lang="en-US" sz="1400" dirty="0"/>
          </a:p>
        </p:txBody>
      </p:sp>
      <p:sp>
        <p:nvSpPr>
          <p:cNvPr id="8" name="Text 5"/>
          <p:cNvSpPr/>
          <p:nvPr/>
        </p:nvSpPr>
        <p:spPr>
          <a:xfrm>
            <a:off x="1152144" y="1645920"/>
            <a:ext cx="5202936" cy="438912"/>
          </a:xfrm>
          <a:prstGeom prst="rect">
            <a:avLst/>
          </a:prstGeom>
          <a:noFill/>
          <a:ln/>
        </p:spPr>
        <p:txBody>
          <a:bodyPr wrap="square" lIns="0" tIns="0" rIns="0" bIns="0" rtlCol="0" anchor="t"/>
          <a:lstStyle/>
          <a:p>
            <a:pPr indent="0" marL="0">
              <a:lnSpc>
                <a:spcPts val="1500"/>
              </a:lnSpc>
              <a:buNone/>
            </a:pPr>
            <a:r>
              <a:rPr lang="en-US" sz="1200" dirty="0">
                <a:solidFill>
                  <a:srgbClr val="9CB0CB"/>
                </a:solidFill>
                <a:latin typeface="Arial" pitchFamily="34" charset="0"/>
                <a:ea typeface="Arial" pitchFamily="34" charset="-122"/>
                <a:cs typeface="Arial" pitchFamily="34" charset="-120"/>
              </a:rPr>
              <a:t>Every pricing decision lands in one shared DecisionEnvelope JSON contract.</a:t>
            </a:r>
            <a:endParaRPr lang="en-US" sz="1200" dirty="0"/>
          </a:p>
        </p:txBody>
      </p:sp>
      <p:sp>
        <p:nvSpPr>
          <p:cNvPr id="9" name="Shape 6"/>
          <p:cNvSpPr/>
          <p:nvPr/>
        </p:nvSpPr>
        <p:spPr>
          <a:xfrm>
            <a:off x="548640" y="2231136"/>
            <a:ext cx="420624" cy="420624"/>
          </a:xfrm>
          <a:prstGeom prst="roundRect">
            <a:avLst>
              <a:gd name="adj" fmla="val 60870"/>
            </a:avLst>
          </a:prstGeom>
          <a:solidFill>
            <a:srgbClr val="2A2113"/>
          </a:solidFill>
          <a:ln w="12700">
            <a:solidFill>
              <a:srgbClr val="6E5223"/>
            </a:solidFill>
            <a:prstDash val="solid"/>
          </a:ln>
        </p:spPr>
      </p:sp>
      <p:pic>
        <p:nvPicPr>
          <p:cNvPr id="10" name="Image 1" descr="preencoded.png">    </p:cNvPr>
          <p:cNvPicPr>
            <a:picLocks noChangeAspect="1"/>
          </p:cNvPicPr>
          <p:nvPr/>
        </p:nvPicPr>
        <p:blipFill>
          <a:blip r:embed="rId2"/>
          <a:stretch>
            <a:fillRect/>
          </a:stretch>
        </p:blipFill>
        <p:spPr>
          <a:xfrm>
            <a:off x="658002" y="2340498"/>
            <a:ext cx="201900" cy="201900"/>
          </a:xfrm>
          <a:prstGeom prst="rect">
            <a:avLst/>
          </a:prstGeom>
        </p:spPr>
      </p:pic>
      <p:sp>
        <p:nvSpPr>
          <p:cNvPr id="11" name="Text 7"/>
          <p:cNvSpPr/>
          <p:nvPr/>
        </p:nvSpPr>
        <p:spPr>
          <a:xfrm>
            <a:off x="1152144" y="2194560"/>
            <a:ext cx="1828800" cy="237744"/>
          </a:xfrm>
          <a:prstGeom prst="rect">
            <a:avLst/>
          </a:prstGeom>
          <a:noFill/>
          <a:ln/>
        </p:spPr>
        <p:txBody>
          <a:bodyPr wrap="square" lIns="0" tIns="0" rIns="0" bIns="0" rtlCol="0" anchor="t"/>
          <a:lstStyle/>
          <a:p>
            <a:pPr indent="0" marL="0">
              <a:buNone/>
            </a:pPr>
            <a:r>
              <a:rPr lang="en-US" sz="1400" b="1" dirty="0">
                <a:solidFill>
                  <a:srgbClr val="F2A93B"/>
                </a:solidFill>
                <a:latin typeface="Arial" pitchFamily="34" charset="0"/>
                <a:ea typeface="Arial" pitchFamily="34" charset="-122"/>
                <a:cs typeface="Arial" pitchFamily="34" charset="-120"/>
              </a:rPr>
              <a:t>Guard</a:t>
            </a:r>
            <a:endParaRPr lang="en-US" sz="1400" dirty="0"/>
          </a:p>
        </p:txBody>
      </p:sp>
      <p:sp>
        <p:nvSpPr>
          <p:cNvPr id="12" name="Text 8"/>
          <p:cNvSpPr/>
          <p:nvPr/>
        </p:nvSpPr>
        <p:spPr>
          <a:xfrm>
            <a:off x="1152144" y="2468880"/>
            <a:ext cx="5202936" cy="438912"/>
          </a:xfrm>
          <a:prstGeom prst="rect">
            <a:avLst/>
          </a:prstGeom>
          <a:noFill/>
          <a:ln/>
        </p:spPr>
        <p:txBody>
          <a:bodyPr wrap="square" lIns="0" tIns="0" rIns="0" bIns="0" rtlCol="0" anchor="t"/>
          <a:lstStyle/>
          <a:p>
            <a:pPr indent="0" marL="0">
              <a:lnSpc>
                <a:spcPts val="1500"/>
              </a:lnSpc>
              <a:buNone/>
            </a:pPr>
            <a:r>
              <a:rPr lang="en-US" sz="1200" dirty="0">
                <a:solidFill>
                  <a:srgbClr val="9CB0CB"/>
                </a:solidFill>
                <a:latin typeface="Arial" pitchFamily="34" charset="0"/>
                <a:ea typeface="Arial" pitchFamily="34" charset="-122"/>
                <a:cs typeface="Arial" pitchFamily="34" charset="-120"/>
              </a:rPr>
              <a:t>Live floor, ceiling, z-score spike and drift checks on every move.</a:t>
            </a:r>
            <a:endParaRPr lang="en-US" sz="1200" dirty="0"/>
          </a:p>
        </p:txBody>
      </p:sp>
      <p:sp>
        <p:nvSpPr>
          <p:cNvPr id="13" name="Shape 9"/>
          <p:cNvSpPr/>
          <p:nvPr/>
        </p:nvSpPr>
        <p:spPr>
          <a:xfrm>
            <a:off x="548640" y="3054096"/>
            <a:ext cx="420624" cy="420624"/>
          </a:xfrm>
          <a:prstGeom prst="roundRect">
            <a:avLst>
              <a:gd name="adj" fmla="val 60870"/>
            </a:avLst>
          </a:prstGeom>
          <a:solidFill>
            <a:srgbClr val="2B1520"/>
          </a:solidFill>
          <a:ln w="12700">
            <a:solidFill>
              <a:srgbClr val="6E2530"/>
            </a:solidFill>
            <a:prstDash val="solid"/>
          </a:ln>
        </p:spPr>
      </p:sp>
      <p:pic>
        <p:nvPicPr>
          <p:cNvPr id="14" name="Image 2" descr="preencoded.png">    </p:cNvPr>
          <p:cNvPicPr>
            <a:picLocks noChangeAspect="1"/>
          </p:cNvPicPr>
          <p:nvPr/>
        </p:nvPicPr>
        <p:blipFill>
          <a:blip r:embed="rId3"/>
          <a:stretch>
            <a:fillRect/>
          </a:stretch>
        </p:blipFill>
        <p:spPr>
          <a:xfrm>
            <a:off x="658002" y="3163458"/>
            <a:ext cx="201900" cy="201900"/>
          </a:xfrm>
          <a:prstGeom prst="rect">
            <a:avLst/>
          </a:prstGeom>
        </p:spPr>
      </p:pic>
      <p:sp>
        <p:nvSpPr>
          <p:cNvPr id="15" name="Text 10"/>
          <p:cNvSpPr/>
          <p:nvPr/>
        </p:nvSpPr>
        <p:spPr>
          <a:xfrm>
            <a:off x="1152144" y="3017520"/>
            <a:ext cx="1828800" cy="237744"/>
          </a:xfrm>
          <a:prstGeom prst="rect">
            <a:avLst/>
          </a:prstGeom>
          <a:noFill/>
          <a:ln/>
        </p:spPr>
        <p:txBody>
          <a:bodyPr wrap="square" lIns="0" tIns="0" rIns="0" bIns="0" rtlCol="0" anchor="t"/>
          <a:lstStyle/>
          <a:p>
            <a:pPr indent="0" marL="0">
              <a:buNone/>
            </a:pPr>
            <a:r>
              <a:rPr lang="en-US" sz="1400" b="1" dirty="0">
                <a:solidFill>
                  <a:srgbClr val="E5484D"/>
                </a:solidFill>
                <a:latin typeface="Arial" pitchFamily="34" charset="0"/>
                <a:ea typeface="Arial" pitchFamily="34" charset="-122"/>
                <a:cs typeface="Arial" pitchFamily="34" charset="-120"/>
              </a:rPr>
              <a:t>Score</a:t>
            </a:r>
            <a:endParaRPr lang="en-US" sz="1400" dirty="0"/>
          </a:p>
        </p:txBody>
      </p:sp>
      <p:sp>
        <p:nvSpPr>
          <p:cNvPr id="16" name="Text 11"/>
          <p:cNvSpPr/>
          <p:nvPr/>
        </p:nvSpPr>
        <p:spPr>
          <a:xfrm>
            <a:off x="1152144" y="3291840"/>
            <a:ext cx="5202936" cy="438912"/>
          </a:xfrm>
          <a:prstGeom prst="rect">
            <a:avLst/>
          </a:prstGeom>
          <a:noFill/>
          <a:ln/>
        </p:spPr>
        <p:txBody>
          <a:bodyPr wrap="square" lIns="0" tIns="0" rIns="0" bIns="0" rtlCol="0" anchor="t"/>
          <a:lstStyle/>
          <a:p>
            <a:pPr indent="0" marL="0">
              <a:lnSpc>
                <a:spcPts val="1500"/>
              </a:lnSpc>
              <a:buNone/>
            </a:pPr>
            <a:r>
              <a:rPr lang="en-US" sz="1200" dirty="0">
                <a:solidFill>
                  <a:srgbClr val="9CB0CB"/>
                </a:solidFill>
                <a:latin typeface="Arial" pitchFamily="34" charset="0"/>
                <a:ea typeface="Arial" pitchFamily="34" charset="-122"/>
                <a:cs typeface="Arial" pitchFamily="34" charset="-120"/>
              </a:rPr>
              <a:t>A scikit-learn reward model estimates counterfactual regret in ₹.</a:t>
            </a:r>
            <a:endParaRPr lang="en-US" sz="1200" dirty="0"/>
          </a:p>
        </p:txBody>
      </p:sp>
      <p:sp>
        <p:nvSpPr>
          <p:cNvPr id="17" name="Shape 12"/>
          <p:cNvSpPr/>
          <p:nvPr/>
        </p:nvSpPr>
        <p:spPr>
          <a:xfrm>
            <a:off x="548640" y="3877056"/>
            <a:ext cx="420624" cy="420624"/>
          </a:xfrm>
          <a:prstGeom prst="roundRect">
            <a:avLst>
              <a:gd name="adj" fmla="val 60870"/>
            </a:avLst>
          </a:prstGeom>
          <a:solidFill>
            <a:srgbClr val="1A1938"/>
          </a:solidFill>
          <a:ln w="12700">
            <a:solidFill>
              <a:srgbClr val="3D3A78"/>
            </a:solidFill>
            <a:prstDash val="solid"/>
          </a:ln>
        </p:spPr>
      </p:sp>
      <p:pic>
        <p:nvPicPr>
          <p:cNvPr id="18" name="Image 3" descr="preencoded.png">    </p:cNvPr>
          <p:cNvPicPr>
            <a:picLocks noChangeAspect="1"/>
          </p:cNvPicPr>
          <p:nvPr/>
        </p:nvPicPr>
        <p:blipFill>
          <a:blip r:embed="rId4"/>
          <a:stretch>
            <a:fillRect/>
          </a:stretch>
        </p:blipFill>
        <p:spPr>
          <a:xfrm>
            <a:off x="658002" y="3986418"/>
            <a:ext cx="201900" cy="201900"/>
          </a:xfrm>
          <a:prstGeom prst="rect">
            <a:avLst/>
          </a:prstGeom>
        </p:spPr>
      </p:pic>
      <p:sp>
        <p:nvSpPr>
          <p:cNvPr id="19" name="Text 13"/>
          <p:cNvSpPr/>
          <p:nvPr/>
        </p:nvSpPr>
        <p:spPr>
          <a:xfrm>
            <a:off x="1152144" y="3840480"/>
            <a:ext cx="1828800" cy="237744"/>
          </a:xfrm>
          <a:prstGeom prst="rect">
            <a:avLst/>
          </a:prstGeom>
          <a:noFill/>
          <a:ln/>
        </p:spPr>
        <p:txBody>
          <a:bodyPr wrap="square" lIns="0" tIns="0" rIns="0" bIns="0" rtlCol="0" anchor="t"/>
          <a:lstStyle/>
          <a:p>
            <a:pPr indent="0" marL="0">
              <a:buNone/>
            </a:pPr>
            <a:r>
              <a:rPr lang="en-US" sz="1400" b="1" dirty="0">
                <a:solidFill>
                  <a:srgbClr val="7C6CFF"/>
                </a:solidFill>
                <a:latin typeface="Arial" pitchFamily="34" charset="0"/>
                <a:ea typeface="Arial" pitchFamily="34" charset="-122"/>
                <a:cs typeface="Arial" pitchFamily="34" charset="-120"/>
              </a:rPr>
              <a:t>Explain</a:t>
            </a:r>
            <a:endParaRPr lang="en-US" sz="1400" dirty="0"/>
          </a:p>
        </p:txBody>
      </p:sp>
      <p:sp>
        <p:nvSpPr>
          <p:cNvPr id="20" name="Text 14"/>
          <p:cNvSpPr/>
          <p:nvPr/>
        </p:nvSpPr>
        <p:spPr>
          <a:xfrm>
            <a:off x="1152144" y="4114800"/>
            <a:ext cx="5202936" cy="438912"/>
          </a:xfrm>
          <a:prstGeom prst="rect">
            <a:avLst/>
          </a:prstGeom>
          <a:noFill/>
          <a:ln/>
        </p:spPr>
        <p:txBody>
          <a:bodyPr wrap="square" lIns="0" tIns="0" rIns="0" bIns="0" rtlCol="0" anchor="t"/>
          <a:lstStyle/>
          <a:p>
            <a:pPr indent="0" marL="0">
              <a:lnSpc>
                <a:spcPts val="1500"/>
              </a:lnSpc>
              <a:buNone/>
            </a:pPr>
            <a:r>
              <a:rPr lang="en-US" sz="1200" dirty="0">
                <a:solidFill>
                  <a:srgbClr val="9CB0CB"/>
                </a:solidFill>
                <a:latin typeface="Arial" pitchFamily="34" charset="0"/>
                <a:ea typeface="Arial" pitchFamily="34" charset="-122"/>
                <a:cs typeface="Arial" pitchFamily="34" charset="-120"/>
              </a:rPr>
              <a:t>Answers grounded in the policy and incident corpus, with citations.</a:t>
            </a:r>
            <a:endParaRPr lang="en-US" sz="1200" dirty="0"/>
          </a:p>
        </p:txBody>
      </p:sp>
      <p:sp>
        <p:nvSpPr>
          <p:cNvPr id="21" name="Shape 15"/>
          <p:cNvSpPr/>
          <p:nvPr/>
        </p:nvSpPr>
        <p:spPr>
          <a:xfrm>
            <a:off x="548640" y="4700016"/>
            <a:ext cx="420624" cy="420624"/>
          </a:xfrm>
          <a:prstGeom prst="roundRect">
            <a:avLst>
              <a:gd name="adj" fmla="val 60870"/>
            </a:avLst>
          </a:prstGeom>
          <a:solidFill>
            <a:srgbClr val="0F2A20"/>
          </a:solidFill>
          <a:ln w="12700">
            <a:solidFill>
              <a:srgbClr val="24634A"/>
            </a:solidFill>
            <a:prstDash val="solid"/>
          </a:ln>
        </p:spPr>
      </p:sp>
      <p:pic>
        <p:nvPicPr>
          <p:cNvPr id="22" name="Image 4" descr="preencoded.png">    </p:cNvPr>
          <p:cNvPicPr>
            <a:picLocks noChangeAspect="1"/>
          </p:cNvPicPr>
          <p:nvPr/>
        </p:nvPicPr>
        <p:blipFill>
          <a:blip r:embed="rId5"/>
          <a:stretch>
            <a:fillRect/>
          </a:stretch>
        </p:blipFill>
        <p:spPr>
          <a:xfrm>
            <a:off x="658002" y="4809378"/>
            <a:ext cx="201900" cy="201900"/>
          </a:xfrm>
          <a:prstGeom prst="rect">
            <a:avLst/>
          </a:prstGeom>
        </p:spPr>
      </p:pic>
      <p:sp>
        <p:nvSpPr>
          <p:cNvPr id="23" name="Text 16"/>
          <p:cNvSpPr/>
          <p:nvPr/>
        </p:nvSpPr>
        <p:spPr>
          <a:xfrm>
            <a:off x="1152144" y="4663440"/>
            <a:ext cx="1828800" cy="237744"/>
          </a:xfrm>
          <a:prstGeom prst="rect">
            <a:avLst/>
          </a:prstGeom>
          <a:noFill/>
          <a:ln/>
        </p:spPr>
        <p:txBody>
          <a:bodyPr wrap="square" lIns="0" tIns="0" rIns="0" bIns="0" rtlCol="0" anchor="t"/>
          <a:lstStyle/>
          <a:p>
            <a:pPr indent="0" marL="0">
              <a:buNone/>
            </a:pPr>
            <a:r>
              <a:rPr lang="en-US" sz="1400" b="1" dirty="0">
                <a:solidFill>
                  <a:srgbClr val="2FBF71"/>
                </a:solidFill>
                <a:latin typeface="Arial" pitchFamily="34" charset="0"/>
                <a:ea typeface="Arial" pitchFamily="34" charset="-122"/>
                <a:cs typeface="Arial" pitchFamily="34" charset="-120"/>
              </a:rPr>
              <a:t>Review</a:t>
            </a:r>
            <a:endParaRPr lang="en-US" sz="1400" dirty="0"/>
          </a:p>
        </p:txBody>
      </p:sp>
      <p:sp>
        <p:nvSpPr>
          <p:cNvPr id="24" name="Text 17"/>
          <p:cNvSpPr/>
          <p:nvPr/>
        </p:nvSpPr>
        <p:spPr>
          <a:xfrm>
            <a:off x="1152144" y="4937760"/>
            <a:ext cx="5202936" cy="438912"/>
          </a:xfrm>
          <a:prstGeom prst="rect">
            <a:avLst/>
          </a:prstGeom>
          <a:noFill/>
          <a:ln/>
        </p:spPr>
        <p:txBody>
          <a:bodyPr wrap="square" lIns="0" tIns="0" rIns="0" bIns="0" rtlCol="0" anchor="t"/>
          <a:lstStyle/>
          <a:p>
            <a:pPr indent="0" marL="0">
              <a:lnSpc>
                <a:spcPts val="1500"/>
              </a:lnSpc>
              <a:buNone/>
            </a:pPr>
            <a:r>
              <a:rPr lang="en-US" sz="1200" dirty="0">
                <a:solidFill>
                  <a:srgbClr val="9CB0CB"/>
                </a:solidFill>
                <a:latin typeface="Arial" pitchFamily="34" charset="0"/>
                <a:ea typeface="Arial" pitchFamily="34" charset="-122"/>
                <a:cs typeface="Arial" pitchFamily="34" charset="-120"/>
              </a:rPr>
              <a:t>One live dashboard for risk, regret, evidence and recommended action.</a:t>
            </a:r>
            <a:endParaRPr lang="en-US" sz="1200" dirty="0"/>
          </a:p>
        </p:txBody>
      </p:sp>
      <p:sp>
        <p:nvSpPr>
          <p:cNvPr id="25" name="Shape 18"/>
          <p:cNvSpPr/>
          <p:nvPr/>
        </p:nvSpPr>
        <p:spPr>
          <a:xfrm>
            <a:off x="6720840" y="1371600"/>
            <a:ext cx="4922215" cy="4023360"/>
          </a:xfrm>
          <a:prstGeom prst="roundRect">
            <a:avLst>
              <a:gd name="adj" fmla="val 909"/>
            </a:avLst>
          </a:prstGeom>
          <a:solidFill>
            <a:srgbClr val="0F1D33"/>
          </a:solidFill>
          <a:ln w="12700">
            <a:solidFill>
              <a:srgbClr val="1E3454"/>
            </a:solidFill>
            <a:prstDash val="solid"/>
          </a:ln>
        </p:spPr>
      </p:sp>
      <p:sp>
        <p:nvSpPr>
          <p:cNvPr id="26" name="Text 19"/>
          <p:cNvSpPr/>
          <p:nvPr/>
        </p:nvSpPr>
        <p:spPr>
          <a:xfrm>
            <a:off x="6958584" y="1609344"/>
            <a:ext cx="2194560" cy="201168"/>
          </a:xfrm>
          <a:prstGeom prst="rect">
            <a:avLst/>
          </a:prstGeom>
          <a:noFill/>
          <a:ln/>
        </p:spPr>
        <p:txBody>
          <a:bodyPr wrap="square" lIns="0" tIns="0" rIns="0" bIns="0" rtlCol="0" anchor="t"/>
          <a:lstStyle/>
          <a:p>
            <a:pPr indent="0" marL="0">
              <a:buNone/>
            </a:pPr>
            <a:r>
              <a:rPr lang="en-US" sz="1000" b="1" spc="140" kern="0" dirty="0">
                <a:solidFill>
                  <a:srgbClr val="9CB0CB"/>
                </a:solidFill>
                <a:latin typeface="Arial" pitchFamily="34" charset="0"/>
                <a:ea typeface="Arial" pitchFamily="34" charset="-122"/>
                <a:cs typeface="Arial" pitchFamily="34" charset="-120"/>
              </a:rPr>
              <a:t>DECISION REVIEW</a:t>
            </a:r>
            <a:endParaRPr lang="en-US" sz="1000" dirty="0"/>
          </a:p>
        </p:txBody>
      </p:sp>
      <p:sp>
        <p:nvSpPr>
          <p:cNvPr id="27" name="Shape 20"/>
          <p:cNvSpPr/>
          <p:nvPr/>
        </p:nvSpPr>
        <p:spPr>
          <a:xfrm>
            <a:off x="10710367" y="1645920"/>
            <a:ext cx="100584" cy="100584"/>
          </a:xfrm>
          <a:prstGeom prst="ellipse">
            <a:avLst/>
          </a:prstGeom>
          <a:solidFill>
            <a:srgbClr val="2FBF71"/>
          </a:solidFill>
          <a:ln w="12700">
            <a:solidFill>
              <a:srgbClr val="2FBF71"/>
            </a:solidFill>
            <a:prstDash val="solid"/>
          </a:ln>
        </p:spPr>
      </p:sp>
      <p:sp>
        <p:nvSpPr>
          <p:cNvPr id="28" name="Text 21"/>
          <p:cNvSpPr/>
          <p:nvPr/>
        </p:nvSpPr>
        <p:spPr>
          <a:xfrm>
            <a:off x="10865815" y="1609344"/>
            <a:ext cx="640080" cy="201168"/>
          </a:xfrm>
          <a:prstGeom prst="rect">
            <a:avLst/>
          </a:prstGeom>
          <a:noFill/>
          <a:ln/>
        </p:spPr>
        <p:txBody>
          <a:bodyPr wrap="square" lIns="0" tIns="0" rIns="0" bIns="0" rtlCol="0" anchor="t"/>
          <a:lstStyle/>
          <a:p>
            <a:pPr indent="0" marL="0">
              <a:buNone/>
            </a:pPr>
            <a:r>
              <a:rPr lang="en-US" sz="1000" dirty="0">
                <a:solidFill>
                  <a:srgbClr val="2FBF71"/>
                </a:solidFill>
                <a:latin typeface="Courier New" pitchFamily="34" charset="0"/>
                <a:ea typeface="Courier New" pitchFamily="34" charset="-122"/>
                <a:cs typeface="Courier New" pitchFamily="34" charset="-120"/>
              </a:rPr>
              <a:t>live</a:t>
            </a:r>
            <a:endParaRPr lang="en-US" sz="1000" dirty="0"/>
          </a:p>
        </p:txBody>
      </p:sp>
      <p:sp>
        <p:nvSpPr>
          <p:cNvPr id="29" name="Shape 22"/>
          <p:cNvSpPr/>
          <p:nvPr/>
        </p:nvSpPr>
        <p:spPr>
          <a:xfrm>
            <a:off x="6958584" y="1975104"/>
            <a:ext cx="2131924" cy="1097280"/>
          </a:xfrm>
          <a:prstGeom prst="roundRect">
            <a:avLst>
              <a:gd name="adj" fmla="val 4167"/>
            </a:avLst>
          </a:prstGeom>
          <a:solidFill>
            <a:srgbClr val="14263F"/>
          </a:solidFill>
          <a:ln w="12700">
            <a:solidFill>
              <a:srgbClr val="1E3454"/>
            </a:solidFill>
            <a:prstDash val="solid"/>
          </a:ln>
        </p:spPr>
      </p:sp>
      <p:sp>
        <p:nvSpPr>
          <p:cNvPr id="30" name="Text 23"/>
          <p:cNvSpPr/>
          <p:nvPr/>
        </p:nvSpPr>
        <p:spPr>
          <a:xfrm>
            <a:off x="7104888" y="2121408"/>
            <a:ext cx="1839316" cy="182880"/>
          </a:xfrm>
          <a:prstGeom prst="rect">
            <a:avLst/>
          </a:prstGeom>
          <a:noFill/>
          <a:ln/>
        </p:spPr>
        <p:txBody>
          <a:bodyPr wrap="square" lIns="0" tIns="0" rIns="0" bIns="0" rtlCol="0" anchor="t"/>
          <a:lstStyle/>
          <a:p>
            <a:pPr indent="0" marL="0">
              <a:buNone/>
            </a:pPr>
            <a:r>
              <a:rPr lang="en-US" sz="800" b="1" spc="70" kern="0" dirty="0">
                <a:solidFill>
                  <a:srgbClr val="6E8299"/>
                </a:solidFill>
                <a:latin typeface="Arial" pitchFamily="34" charset="0"/>
                <a:ea typeface="Arial" pitchFamily="34" charset="-122"/>
                <a:cs typeface="Arial" pitchFamily="34" charset="-120"/>
              </a:rPr>
              <a:t>FLAGGED DECISIONS</a:t>
            </a:r>
            <a:endParaRPr lang="en-US" sz="800" dirty="0"/>
          </a:p>
        </p:txBody>
      </p:sp>
      <p:sp>
        <p:nvSpPr>
          <p:cNvPr id="31" name="Text 24"/>
          <p:cNvSpPr/>
          <p:nvPr/>
        </p:nvSpPr>
        <p:spPr>
          <a:xfrm>
            <a:off x="7104888" y="2359152"/>
            <a:ext cx="1839316" cy="384048"/>
          </a:xfrm>
          <a:prstGeom prst="rect">
            <a:avLst/>
          </a:prstGeom>
          <a:noFill/>
          <a:ln/>
        </p:spPr>
        <p:txBody>
          <a:bodyPr wrap="square" lIns="0" tIns="0" rIns="0" bIns="0" rtlCol="0" anchor="t"/>
          <a:lstStyle/>
          <a:p>
            <a:pPr indent="0" marL="0">
              <a:buNone/>
            </a:pPr>
            <a:r>
              <a:rPr lang="en-US" sz="2400" b="1" dirty="0">
                <a:solidFill>
                  <a:srgbClr val="E5484D"/>
                </a:solidFill>
                <a:latin typeface="Courier New" pitchFamily="34" charset="0"/>
                <a:ea typeface="Courier New" pitchFamily="34" charset="-122"/>
                <a:cs typeface="Courier New" pitchFamily="34" charset="-120"/>
              </a:rPr>
              <a:t>12</a:t>
            </a:r>
            <a:endParaRPr lang="en-US" sz="2400" dirty="0"/>
          </a:p>
        </p:txBody>
      </p:sp>
      <p:sp>
        <p:nvSpPr>
          <p:cNvPr id="32" name="Text 25"/>
          <p:cNvSpPr/>
          <p:nvPr/>
        </p:nvSpPr>
        <p:spPr>
          <a:xfrm>
            <a:off x="7104888" y="2798064"/>
            <a:ext cx="1839316" cy="182880"/>
          </a:xfrm>
          <a:prstGeom prst="rect">
            <a:avLst/>
          </a:prstGeom>
          <a:noFill/>
          <a:ln/>
        </p:spPr>
        <p:txBody>
          <a:bodyPr wrap="square" lIns="0" tIns="0" rIns="0" bIns="0" rtlCol="0" anchor="t"/>
          <a:lstStyle/>
          <a:p>
            <a:pPr indent="0" marL="0">
              <a:buNone/>
            </a:pPr>
            <a:r>
              <a:rPr lang="en-US" sz="950" dirty="0">
                <a:solidFill>
                  <a:srgbClr val="9CB0CB"/>
                </a:solidFill>
                <a:latin typeface="Arial" pitchFamily="34" charset="0"/>
                <a:ea typeface="Arial" pitchFamily="34" charset="-122"/>
                <a:cs typeface="Arial" pitchFamily="34" charset="-120"/>
              </a:rPr>
              <a:t>of 40 scored</a:t>
            </a:r>
            <a:endParaRPr lang="en-US" sz="950" dirty="0"/>
          </a:p>
        </p:txBody>
      </p:sp>
      <p:sp>
        <p:nvSpPr>
          <p:cNvPr id="33" name="Shape 26"/>
          <p:cNvSpPr/>
          <p:nvPr/>
        </p:nvSpPr>
        <p:spPr>
          <a:xfrm>
            <a:off x="9273388" y="1975104"/>
            <a:ext cx="2131924" cy="1097280"/>
          </a:xfrm>
          <a:prstGeom prst="roundRect">
            <a:avLst>
              <a:gd name="adj" fmla="val 4167"/>
            </a:avLst>
          </a:prstGeom>
          <a:solidFill>
            <a:srgbClr val="14263F"/>
          </a:solidFill>
          <a:ln w="12700">
            <a:solidFill>
              <a:srgbClr val="1E3454"/>
            </a:solidFill>
            <a:prstDash val="solid"/>
          </a:ln>
        </p:spPr>
      </p:sp>
      <p:sp>
        <p:nvSpPr>
          <p:cNvPr id="34" name="Text 27"/>
          <p:cNvSpPr/>
          <p:nvPr/>
        </p:nvSpPr>
        <p:spPr>
          <a:xfrm>
            <a:off x="9419692" y="2121408"/>
            <a:ext cx="1839316" cy="182880"/>
          </a:xfrm>
          <a:prstGeom prst="rect">
            <a:avLst/>
          </a:prstGeom>
          <a:noFill/>
          <a:ln/>
        </p:spPr>
        <p:txBody>
          <a:bodyPr wrap="square" lIns="0" tIns="0" rIns="0" bIns="0" rtlCol="0" anchor="t"/>
          <a:lstStyle/>
          <a:p>
            <a:pPr indent="0" marL="0">
              <a:buNone/>
            </a:pPr>
            <a:r>
              <a:rPr lang="en-US" sz="800" b="1" spc="70" kern="0" dirty="0">
                <a:solidFill>
                  <a:srgbClr val="6E8299"/>
                </a:solidFill>
                <a:latin typeface="Arial" pitchFamily="34" charset="0"/>
                <a:ea typeface="Arial" pitchFamily="34" charset="-122"/>
                <a:cs typeface="Arial" pitchFamily="34" charset="-120"/>
              </a:rPr>
              <a:t>TOP REGRET</a:t>
            </a:r>
            <a:endParaRPr lang="en-US" sz="800" dirty="0"/>
          </a:p>
        </p:txBody>
      </p:sp>
      <p:sp>
        <p:nvSpPr>
          <p:cNvPr id="35" name="Text 28"/>
          <p:cNvSpPr/>
          <p:nvPr/>
        </p:nvSpPr>
        <p:spPr>
          <a:xfrm>
            <a:off x="9419692" y="2359152"/>
            <a:ext cx="1839316" cy="384048"/>
          </a:xfrm>
          <a:prstGeom prst="rect">
            <a:avLst/>
          </a:prstGeom>
          <a:noFill/>
          <a:ln/>
        </p:spPr>
        <p:txBody>
          <a:bodyPr wrap="square" lIns="0" tIns="0" rIns="0" bIns="0" rtlCol="0" anchor="t"/>
          <a:lstStyle/>
          <a:p>
            <a:pPr indent="0" marL="0">
              <a:buNone/>
            </a:pPr>
            <a:r>
              <a:rPr lang="en-US" sz="2400" b="1" dirty="0">
                <a:solidFill>
                  <a:srgbClr val="F2A93B"/>
                </a:solidFill>
                <a:latin typeface="Courier New" pitchFamily="34" charset="0"/>
                <a:ea typeface="Courier New" pitchFamily="34" charset="-122"/>
                <a:cs typeface="Courier New" pitchFamily="34" charset="-120"/>
              </a:rPr>
              <a:t>₹1,562</a:t>
            </a:r>
            <a:endParaRPr lang="en-US" sz="2400" dirty="0"/>
          </a:p>
        </p:txBody>
      </p:sp>
      <p:sp>
        <p:nvSpPr>
          <p:cNvPr id="36" name="Text 29"/>
          <p:cNvSpPr/>
          <p:nvPr/>
        </p:nvSpPr>
        <p:spPr>
          <a:xfrm>
            <a:off x="9419692" y="2798064"/>
            <a:ext cx="1839316" cy="182880"/>
          </a:xfrm>
          <a:prstGeom prst="rect">
            <a:avLst/>
          </a:prstGeom>
          <a:noFill/>
          <a:ln/>
        </p:spPr>
        <p:txBody>
          <a:bodyPr wrap="square" lIns="0" tIns="0" rIns="0" bIns="0" rtlCol="0" anchor="t"/>
          <a:lstStyle/>
          <a:p>
            <a:pPr indent="0" marL="0">
              <a:buNone/>
            </a:pPr>
            <a:r>
              <a:rPr lang="en-US" sz="950" dirty="0">
                <a:solidFill>
                  <a:srgbClr val="9CB0CB"/>
                </a:solidFill>
                <a:latin typeface="Arial" pitchFamily="34" charset="0"/>
                <a:ea typeface="Arial" pitchFamily="34" charset="-122"/>
                <a:cs typeface="Arial" pitchFamily="34" charset="-120"/>
              </a:rPr>
              <a:t>SKU-0001</a:t>
            </a:r>
            <a:endParaRPr lang="en-US" sz="950" dirty="0"/>
          </a:p>
        </p:txBody>
      </p:sp>
      <p:sp>
        <p:nvSpPr>
          <p:cNvPr id="37" name="Shape 30"/>
          <p:cNvSpPr/>
          <p:nvPr/>
        </p:nvSpPr>
        <p:spPr>
          <a:xfrm>
            <a:off x="6958584" y="3255264"/>
            <a:ext cx="2131924" cy="1097280"/>
          </a:xfrm>
          <a:prstGeom prst="roundRect">
            <a:avLst>
              <a:gd name="adj" fmla="val 4167"/>
            </a:avLst>
          </a:prstGeom>
          <a:solidFill>
            <a:srgbClr val="14263F"/>
          </a:solidFill>
          <a:ln w="12700">
            <a:solidFill>
              <a:srgbClr val="1E3454"/>
            </a:solidFill>
            <a:prstDash val="solid"/>
          </a:ln>
        </p:spPr>
      </p:sp>
      <p:sp>
        <p:nvSpPr>
          <p:cNvPr id="38" name="Text 31"/>
          <p:cNvSpPr/>
          <p:nvPr/>
        </p:nvSpPr>
        <p:spPr>
          <a:xfrm>
            <a:off x="7104888" y="3401568"/>
            <a:ext cx="1839316" cy="182880"/>
          </a:xfrm>
          <a:prstGeom prst="rect">
            <a:avLst/>
          </a:prstGeom>
          <a:noFill/>
          <a:ln/>
        </p:spPr>
        <p:txBody>
          <a:bodyPr wrap="square" lIns="0" tIns="0" rIns="0" bIns="0" rtlCol="0" anchor="t"/>
          <a:lstStyle/>
          <a:p>
            <a:pPr indent="0" marL="0">
              <a:buNone/>
            </a:pPr>
            <a:r>
              <a:rPr lang="en-US" sz="800" b="1" spc="70" kern="0" dirty="0">
                <a:solidFill>
                  <a:srgbClr val="6E8299"/>
                </a:solidFill>
                <a:latin typeface="Arial" pitchFamily="34" charset="0"/>
                <a:ea typeface="Arial" pitchFamily="34" charset="-122"/>
                <a:cs typeface="Arial" pitchFamily="34" charset="-120"/>
              </a:rPr>
              <a:t>EVIDENCE CITED</a:t>
            </a:r>
            <a:endParaRPr lang="en-US" sz="800" dirty="0"/>
          </a:p>
        </p:txBody>
      </p:sp>
      <p:sp>
        <p:nvSpPr>
          <p:cNvPr id="39" name="Text 32"/>
          <p:cNvSpPr/>
          <p:nvPr/>
        </p:nvSpPr>
        <p:spPr>
          <a:xfrm>
            <a:off x="7104888" y="3639312"/>
            <a:ext cx="1839316" cy="384048"/>
          </a:xfrm>
          <a:prstGeom prst="rect">
            <a:avLst/>
          </a:prstGeom>
          <a:noFill/>
          <a:ln/>
        </p:spPr>
        <p:txBody>
          <a:bodyPr wrap="square" lIns="0" tIns="0" rIns="0" bIns="0" rtlCol="0" anchor="t"/>
          <a:lstStyle/>
          <a:p>
            <a:pPr indent="0" marL="0">
              <a:buNone/>
            </a:pPr>
            <a:r>
              <a:rPr lang="en-US" sz="2400" b="1" dirty="0">
                <a:solidFill>
                  <a:srgbClr val="35C4F0"/>
                </a:solidFill>
                <a:latin typeface="Courier New" pitchFamily="34" charset="0"/>
                <a:ea typeface="Courier New" pitchFamily="34" charset="-122"/>
                <a:cs typeface="Courier New" pitchFamily="34" charset="-120"/>
              </a:rPr>
              <a:t>4</a:t>
            </a:r>
            <a:endParaRPr lang="en-US" sz="2400" dirty="0"/>
          </a:p>
        </p:txBody>
      </p:sp>
      <p:sp>
        <p:nvSpPr>
          <p:cNvPr id="40" name="Text 33"/>
          <p:cNvSpPr/>
          <p:nvPr/>
        </p:nvSpPr>
        <p:spPr>
          <a:xfrm>
            <a:off x="7104888" y="4078224"/>
            <a:ext cx="1839316" cy="182880"/>
          </a:xfrm>
          <a:prstGeom prst="rect">
            <a:avLst/>
          </a:prstGeom>
          <a:noFill/>
          <a:ln/>
        </p:spPr>
        <p:txBody>
          <a:bodyPr wrap="square" lIns="0" tIns="0" rIns="0" bIns="0" rtlCol="0" anchor="t"/>
          <a:lstStyle/>
          <a:p>
            <a:pPr indent="0" marL="0">
              <a:buNone/>
            </a:pPr>
            <a:r>
              <a:rPr lang="en-US" sz="950" dirty="0">
                <a:solidFill>
                  <a:srgbClr val="9CB0CB"/>
                </a:solidFill>
                <a:latin typeface="Arial" pitchFamily="34" charset="0"/>
                <a:ea typeface="Arial" pitchFamily="34" charset="-122"/>
                <a:cs typeface="Arial" pitchFamily="34" charset="-120"/>
              </a:rPr>
              <a:t>policy snippets</a:t>
            </a:r>
            <a:endParaRPr lang="en-US" sz="950" dirty="0"/>
          </a:p>
        </p:txBody>
      </p:sp>
      <p:sp>
        <p:nvSpPr>
          <p:cNvPr id="41" name="Shape 34"/>
          <p:cNvSpPr/>
          <p:nvPr/>
        </p:nvSpPr>
        <p:spPr>
          <a:xfrm>
            <a:off x="9273388" y="3255264"/>
            <a:ext cx="2131924" cy="1097280"/>
          </a:xfrm>
          <a:prstGeom prst="roundRect">
            <a:avLst>
              <a:gd name="adj" fmla="val 4167"/>
            </a:avLst>
          </a:prstGeom>
          <a:solidFill>
            <a:srgbClr val="14263F"/>
          </a:solidFill>
          <a:ln w="12700">
            <a:solidFill>
              <a:srgbClr val="1E3454"/>
            </a:solidFill>
            <a:prstDash val="solid"/>
          </a:ln>
        </p:spPr>
      </p:sp>
      <p:sp>
        <p:nvSpPr>
          <p:cNvPr id="42" name="Text 35"/>
          <p:cNvSpPr/>
          <p:nvPr/>
        </p:nvSpPr>
        <p:spPr>
          <a:xfrm>
            <a:off x="9419692" y="3401568"/>
            <a:ext cx="1839316" cy="182880"/>
          </a:xfrm>
          <a:prstGeom prst="rect">
            <a:avLst/>
          </a:prstGeom>
          <a:noFill/>
          <a:ln/>
        </p:spPr>
        <p:txBody>
          <a:bodyPr wrap="square" lIns="0" tIns="0" rIns="0" bIns="0" rtlCol="0" anchor="t"/>
          <a:lstStyle/>
          <a:p>
            <a:pPr indent="0" marL="0">
              <a:buNone/>
            </a:pPr>
            <a:r>
              <a:rPr lang="en-US" sz="800" b="1" spc="70" kern="0" dirty="0">
                <a:solidFill>
                  <a:srgbClr val="6E8299"/>
                </a:solidFill>
                <a:latin typeface="Arial" pitchFamily="34" charset="0"/>
                <a:ea typeface="Arial" pitchFamily="34" charset="-122"/>
                <a:cs typeface="Arial" pitchFamily="34" charset="-120"/>
              </a:rPr>
              <a:t>RECOMMENDATION</a:t>
            </a:r>
            <a:endParaRPr lang="en-US" sz="800" dirty="0"/>
          </a:p>
        </p:txBody>
      </p:sp>
      <p:sp>
        <p:nvSpPr>
          <p:cNvPr id="43" name="Text 36"/>
          <p:cNvSpPr/>
          <p:nvPr/>
        </p:nvSpPr>
        <p:spPr>
          <a:xfrm>
            <a:off x="9419692" y="3639312"/>
            <a:ext cx="1839316" cy="384048"/>
          </a:xfrm>
          <a:prstGeom prst="rect">
            <a:avLst/>
          </a:prstGeom>
          <a:noFill/>
          <a:ln/>
        </p:spPr>
        <p:txBody>
          <a:bodyPr wrap="square" lIns="0" tIns="0" rIns="0" bIns="0" rtlCol="0" anchor="t"/>
          <a:lstStyle/>
          <a:p>
            <a:pPr indent="0" marL="0">
              <a:buNone/>
            </a:pPr>
            <a:r>
              <a:rPr lang="en-US" sz="2400" b="1" dirty="0">
                <a:solidFill>
                  <a:srgbClr val="2FBF71"/>
                </a:solidFill>
                <a:latin typeface="Courier New" pitchFamily="34" charset="0"/>
                <a:ea typeface="Courier New" pitchFamily="34" charset="-122"/>
                <a:cs typeface="Courier New" pitchFamily="34" charset="-120"/>
              </a:rPr>
              <a:t>Hold</a:t>
            </a:r>
            <a:endParaRPr lang="en-US" sz="2400" dirty="0"/>
          </a:p>
        </p:txBody>
      </p:sp>
      <p:sp>
        <p:nvSpPr>
          <p:cNvPr id="44" name="Text 37"/>
          <p:cNvSpPr/>
          <p:nvPr/>
        </p:nvSpPr>
        <p:spPr>
          <a:xfrm>
            <a:off x="9419692" y="4078224"/>
            <a:ext cx="1839316" cy="182880"/>
          </a:xfrm>
          <a:prstGeom prst="rect">
            <a:avLst/>
          </a:prstGeom>
          <a:noFill/>
          <a:ln/>
        </p:spPr>
        <p:txBody>
          <a:bodyPr wrap="square" lIns="0" tIns="0" rIns="0" bIns="0" rtlCol="0" anchor="t"/>
          <a:lstStyle/>
          <a:p>
            <a:pPr indent="0" marL="0">
              <a:buNone/>
            </a:pPr>
            <a:r>
              <a:rPr lang="en-US" sz="950" dirty="0">
                <a:solidFill>
                  <a:srgbClr val="9CB0CB"/>
                </a:solidFill>
                <a:latin typeface="Arial" pitchFamily="34" charset="0"/>
                <a:ea typeface="Arial" pitchFamily="34" charset="-122"/>
                <a:cs typeface="Arial" pitchFamily="34" charset="-120"/>
              </a:rPr>
              <a:t>route to reviewer</a:t>
            </a:r>
            <a:endParaRPr lang="en-US" sz="950" dirty="0"/>
          </a:p>
        </p:txBody>
      </p:sp>
      <p:sp>
        <p:nvSpPr>
          <p:cNvPr id="45" name="Shape 38"/>
          <p:cNvSpPr/>
          <p:nvPr/>
        </p:nvSpPr>
        <p:spPr>
          <a:xfrm>
            <a:off x="6958584" y="4407408"/>
            <a:ext cx="4446727" cy="768096"/>
          </a:xfrm>
          <a:prstGeom prst="roundRect">
            <a:avLst>
              <a:gd name="adj" fmla="val 5952"/>
            </a:avLst>
          </a:prstGeom>
          <a:solidFill>
            <a:srgbClr val="1A1938"/>
          </a:solidFill>
          <a:ln w="12700">
            <a:solidFill>
              <a:srgbClr val="3D3A78"/>
            </a:solidFill>
            <a:prstDash val="solid"/>
          </a:ln>
        </p:spPr>
      </p:sp>
      <p:sp>
        <p:nvSpPr>
          <p:cNvPr id="46" name="Text 39"/>
          <p:cNvSpPr/>
          <p:nvPr/>
        </p:nvSpPr>
        <p:spPr>
          <a:xfrm>
            <a:off x="7104888" y="4535424"/>
            <a:ext cx="2743200" cy="182880"/>
          </a:xfrm>
          <a:prstGeom prst="rect">
            <a:avLst/>
          </a:prstGeom>
          <a:noFill/>
          <a:ln/>
        </p:spPr>
        <p:txBody>
          <a:bodyPr wrap="square" lIns="0" tIns="0" rIns="0" bIns="0" rtlCol="0" anchor="t"/>
          <a:lstStyle/>
          <a:p>
            <a:pPr indent="0" marL="0">
              <a:buNone/>
            </a:pPr>
            <a:r>
              <a:rPr lang="en-US" sz="800" b="1" spc="70" kern="0" dirty="0">
                <a:solidFill>
                  <a:srgbClr val="7C6CFF"/>
                </a:solidFill>
                <a:latin typeface="Arial" pitchFamily="34" charset="0"/>
                <a:ea typeface="Arial" pitchFamily="34" charset="-122"/>
                <a:cs typeface="Arial" pitchFamily="34" charset="-120"/>
              </a:rPr>
              <a:t>GROUNDED EXPLANATION</a:t>
            </a:r>
            <a:endParaRPr lang="en-US" sz="800" dirty="0"/>
          </a:p>
        </p:txBody>
      </p:sp>
      <p:sp>
        <p:nvSpPr>
          <p:cNvPr id="47" name="Text 40"/>
          <p:cNvSpPr/>
          <p:nvPr/>
        </p:nvSpPr>
        <p:spPr>
          <a:xfrm>
            <a:off x="7104888" y="4754880"/>
            <a:ext cx="4154119" cy="329184"/>
          </a:xfrm>
          <a:prstGeom prst="rect">
            <a:avLst/>
          </a:prstGeom>
          <a:noFill/>
          <a:ln/>
        </p:spPr>
        <p:txBody>
          <a:bodyPr wrap="square" lIns="0" tIns="0" rIns="0" bIns="0" rtlCol="0" anchor="t"/>
          <a:lstStyle/>
          <a:p>
            <a:pPr indent="0" marL="0">
              <a:lnSpc>
                <a:spcPts val="1300"/>
              </a:lnSpc>
              <a:buNone/>
            </a:pPr>
            <a:r>
              <a:rPr lang="en-US" sz="1050" dirty="0">
                <a:solidFill>
                  <a:srgbClr val="D8DBFF"/>
                </a:solidFill>
                <a:latin typeface="Arial" pitchFamily="34" charset="0"/>
                <a:ea typeface="Arial" pitchFamily="34" charset="-122"/>
                <a:cs typeface="Arial" pitchFamily="34" charset="-120"/>
              </a:rPr>
              <a:t>Cites POL-03 §2.1 competitor ceiling rule and INC-2024-11 spike incident.</a:t>
            </a:r>
            <a:endParaRPr lang="en-US" sz="1050" dirty="0"/>
          </a:p>
        </p:txBody>
      </p:sp>
      <p:sp>
        <p:nvSpPr>
          <p:cNvPr id="48" name="Shape 41"/>
          <p:cNvSpPr/>
          <p:nvPr/>
        </p:nvSpPr>
        <p:spPr>
          <a:xfrm>
            <a:off x="548640" y="5632704"/>
            <a:ext cx="3576218" cy="603504"/>
          </a:xfrm>
          <a:prstGeom prst="roundRect">
            <a:avLst>
              <a:gd name="adj" fmla="val 7576"/>
            </a:avLst>
          </a:prstGeom>
          <a:solidFill>
            <a:srgbClr val="14263F"/>
          </a:solidFill>
          <a:ln w="12700">
            <a:solidFill>
              <a:srgbClr val="1E3454"/>
            </a:solidFill>
            <a:prstDash val="solid"/>
          </a:ln>
        </p:spPr>
      </p:sp>
      <p:sp>
        <p:nvSpPr>
          <p:cNvPr id="49" name="Shape 42"/>
          <p:cNvSpPr/>
          <p:nvPr/>
        </p:nvSpPr>
        <p:spPr>
          <a:xfrm>
            <a:off x="694944" y="5779008"/>
            <a:ext cx="310896" cy="310896"/>
          </a:xfrm>
          <a:prstGeom prst="roundRect">
            <a:avLst>
              <a:gd name="adj" fmla="val 82353"/>
            </a:avLst>
          </a:prstGeom>
          <a:solidFill>
            <a:srgbClr val="0F2A20"/>
          </a:solidFill>
          <a:ln w="12700">
            <a:solidFill>
              <a:srgbClr val="24634A"/>
            </a:solidFill>
            <a:prstDash val="solid"/>
          </a:ln>
        </p:spPr>
      </p:sp>
      <p:pic>
        <p:nvPicPr>
          <p:cNvPr id="50" name="Image 5" descr="preencoded.png">    </p:cNvPr>
          <p:cNvPicPr>
            <a:picLocks noChangeAspect="1"/>
          </p:cNvPicPr>
          <p:nvPr/>
        </p:nvPicPr>
        <p:blipFill>
          <a:blip r:embed="rId6"/>
          <a:stretch>
            <a:fillRect/>
          </a:stretch>
        </p:blipFill>
        <p:spPr>
          <a:xfrm>
            <a:off x="775777" y="5859841"/>
            <a:ext cx="149230" cy="149230"/>
          </a:xfrm>
          <a:prstGeom prst="rect">
            <a:avLst/>
          </a:prstGeom>
        </p:spPr>
      </p:pic>
      <p:sp>
        <p:nvSpPr>
          <p:cNvPr id="51" name="Text 43"/>
          <p:cNvSpPr/>
          <p:nvPr/>
        </p:nvSpPr>
        <p:spPr>
          <a:xfrm>
            <a:off x="1097280" y="5824728"/>
            <a:ext cx="2899562" cy="237744"/>
          </a:xfrm>
          <a:prstGeom prst="rect">
            <a:avLst/>
          </a:prstGeom>
          <a:noFill/>
          <a:ln/>
        </p:spPr>
        <p:txBody>
          <a:bodyPr wrap="square" lIns="0" tIns="0" rIns="0" bIns="0" rtlCol="0" anchor="t"/>
          <a:lstStyle/>
          <a:p>
            <a:pPr indent="0" marL="0">
              <a:buNone/>
            </a:pPr>
            <a:r>
              <a:rPr lang="en-US" sz="1000" dirty="0">
                <a:solidFill>
                  <a:srgbClr val="9CB0CB"/>
                </a:solidFill>
                <a:latin typeface="Arial" pitchFamily="34" charset="0"/>
                <a:ea typeface="Arial" pitchFamily="34" charset="-122"/>
                <a:cs typeface="Arial" pitchFamily="34" charset="-120"/>
              </a:rPr>
              <a:t>Rules, ML regret and RAG evidence in one path</a:t>
            </a:r>
            <a:endParaRPr lang="en-US" sz="1000" dirty="0"/>
          </a:p>
        </p:txBody>
      </p:sp>
      <p:sp>
        <p:nvSpPr>
          <p:cNvPr id="52" name="Shape 44"/>
          <p:cNvSpPr/>
          <p:nvPr/>
        </p:nvSpPr>
        <p:spPr>
          <a:xfrm>
            <a:off x="4307738" y="5632704"/>
            <a:ext cx="3576218" cy="603504"/>
          </a:xfrm>
          <a:prstGeom prst="roundRect">
            <a:avLst>
              <a:gd name="adj" fmla="val 7576"/>
            </a:avLst>
          </a:prstGeom>
          <a:solidFill>
            <a:srgbClr val="14263F"/>
          </a:solidFill>
          <a:ln w="12700">
            <a:solidFill>
              <a:srgbClr val="1E3454"/>
            </a:solidFill>
            <a:prstDash val="solid"/>
          </a:ln>
        </p:spPr>
      </p:sp>
      <p:sp>
        <p:nvSpPr>
          <p:cNvPr id="53" name="Shape 45"/>
          <p:cNvSpPr/>
          <p:nvPr/>
        </p:nvSpPr>
        <p:spPr>
          <a:xfrm>
            <a:off x="4454042" y="5779008"/>
            <a:ext cx="310896" cy="310896"/>
          </a:xfrm>
          <a:prstGeom prst="roundRect">
            <a:avLst>
              <a:gd name="adj" fmla="val 82353"/>
            </a:avLst>
          </a:prstGeom>
          <a:solidFill>
            <a:srgbClr val="0F2A20"/>
          </a:solidFill>
          <a:ln w="12700">
            <a:solidFill>
              <a:srgbClr val="24634A"/>
            </a:solidFill>
            <a:prstDash val="solid"/>
          </a:ln>
        </p:spPr>
      </p:sp>
      <p:pic>
        <p:nvPicPr>
          <p:cNvPr id="54" name="Image 6" descr="preencoded.png">    </p:cNvPr>
          <p:cNvPicPr>
            <a:picLocks noChangeAspect="1"/>
          </p:cNvPicPr>
          <p:nvPr/>
        </p:nvPicPr>
        <p:blipFill>
          <a:blip r:embed="rId7"/>
          <a:stretch>
            <a:fillRect/>
          </a:stretch>
        </p:blipFill>
        <p:spPr>
          <a:xfrm>
            <a:off x="4534875" y="5859841"/>
            <a:ext cx="149230" cy="149230"/>
          </a:xfrm>
          <a:prstGeom prst="rect">
            <a:avLst/>
          </a:prstGeom>
        </p:spPr>
      </p:pic>
      <p:sp>
        <p:nvSpPr>
          <p:cNvPr id="55" name="Text 46"/>
          <p:cNvSpPr/>
          <p:nvPr/>
        </p:nvSpPr>
        <p:spPr>
          <a:xfrm>
            <a:off x="4856378" y="5824728"/>
            <a:ext cx="2899562" cy="237744"/>
          </a:xfrm>
          <a:prstGeom prst="rect">
            <a:avLst/>
          </a:prstGeom>
          <a:noFill/>
          <a:ln/>
        </p:spPr>
        <p:txBody>
          <a:bodyPr wrap="square" lIns="0" tIns="0" rIns="0" bIns="0" rtlCol="0" anchor="t"/>
          <a:lstStyle/>
          <a:p>
            <a:pPr indent="0" marL="0">
              <a:buNone/>
            </a:pPr>
            <a:r>
              <a:rPr lang="en-US" sz="1000" dirty="0">
                <a:solidFill>
                  <a:srgbClr val="9CB0CB"/>
                </a:solidFill>
                <a:latin typeface="Arial" pitchFamily="34" charset="0"/>
                <a:ea typeface="Arial" pitchFamily="34" charset="-122"/>
                <a:cs typeface="Arial" pitchFamily="34" charset="-120"/>
              </a:rPr>
              <a:t>Components joined only by contracts</a:t>
            </a:r>
            <a:endParaRPr lang="en-US" sz="1000" dirty="0"/>
          </a:p>
        </p:txBody>
      </p:sp>
      <p:sp>
        <p:nvSpPr>
          <p:cNvPr id="56" name="Shape 47"/>
          <p:cNvSpPr/>
          <p:nvPr/>
        </p:nvSpPr>
        <p:spPr>
          <a:xfrm>
            <a:off x="8066837" y="5632704"/>
            <a:ext cx="3576218" cy="603504"/>
          </a:xfrm>
          <a:prstGeom prst="roundRect">
            <a:avLst>
              <a:gd name="adj" fmla="val 7576"/>
            </a:avLst>
          </a:prstGeom>
          <a:solidFill>
            <a:srgbClr val="14263F"/>
          </a:solidFill>
          <a:ln w="12700">
            <a:solidFill>
              <a:srgbClr val="1E3454"/>
            </a:solidFill>
            <a:prstDash val="solid"/>
          </a:ln>
        </p:spPr>
      </p:sp>
      <p:sp>
        <p:nvSpPr>
          <p:cNvPr id="57" name="Shape 48"/>
          <p:cNvSpPr/>
          <p:nvPr/>
        </p:nvSpPr>
        <p:spPr>
          <a:xfrm>
            <a:off x="8213141" y="5779008"/>
            <a:ext cx="310896" cy="310896"/>
          </a:xfrm>
          <a:prstGeom prst="roundRect">
            <a:avLst>
              <a:gd name="adj" fmla="val 82353"/>
            </a:avLst>
          </a:prstGeom>
          <a:solidFill>
            <a:srgbClr val="0F2A20"/>
          </a:solidFill>
          <a:ln w="12700">
            <a:solidFill>
              <a:srgbClr val="24634A"/>
            </a:solidFill>
            <a:prstDash val="solid"/>
          </a:ln>
        </p:spPr>
      </p:sp>
      <p:pic>
        <p:nvPicPr>
          <p:cNvPr id="58" name="Image 7" descr="preencoded.png">    </p:cNvPr>
          <p:cNvPicPr>
            <a:picLocks noChangeAspect="1"/>
          </p:cNvPicPr>
          <p:nvPr/>
        </p:nvPicPr>
        <p:blipFill>
          <a:blip r:embed="rId8"/>
          <a:stretch>
            <a:fillRect/>
          </a:stretch>
        </p:blipFill>
        <p:spPr>
          <a:xfrm>
            <a:off x="8293974" y="5859841"/>
            <a:ext cx="149230" cy="149230"/>
          </a:xfrm>
          <a:prstGeom prst="rect">
            <a:avLst/>
          </a:prstGeom>
        </p:spPr>
      </p:pic>
      <p:sp>
        <p:nvSpPr>
          <p:cNvPr id="59" name="Text 49"/>
          <p:cNvSpPr/>
          <p:nvPr/>
        </p:nvSpPr>
        <p:spPr>
          <a:xfrm>
            <a:off x="8615477" y="5824728"/>
            <a:ext cx="2899562" cy="237744"/>
          </a:xfrm>
          <a:prstGeom prst="rect">
            <a:avLst/>
          </a:prstGeom>
          <a:noFill/>
          <a:ln/>
        </p:spPr>
        <p:txBody>
          <a:bodyPr wrap="square" lIns="0" tIns="0" rIns="0" bIns="0" rtlCol="0" anchor="t"/>
          <a:lstStyle/>
          <a:p>
            <a:pPr indent="0" marL="0">
              <a:buNone/>
            </a:pPr>
            <a:r>
              <a:rPr lang="en-US" sz="1000" dirty="0">
                <a:solidFill>
                  <a:srgbClr val="9CB0CB"/>
                </a:solidFill>
                <a:latin typeface="Arial" pitchFamily="34" charset="0"/>
                <a:ea typeface="Arial" pitchFamily="34" charset="-122"/>
                <a:cs typeface="Arial" pitchFamily="34" charset="-120"/>
              </a:rPr>
              <a:t>Synthetic data, production-shaped path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548640" y="384048"/>
            <a:ext cx="11094415" cy="237744"/>
          </a:xfrm>
          <a:prstGeom prst="rect">
            <a:avLst/>
          </a:prstGeom>
          <a:noFill/>
          <a:ln/>
        </p:spPr>
        <p:txBody>
          <a:bodyPr wrap="square" lIns="0" tIns="0" rIns="0" bIns="0" rtlCol="0" anchor="t"/>
          <a:lstStyle/>
          <a:p>
            <a:pPr indent="0" marL="0">
              <a:buNone/>
            </a:pPr>
            <a:r>
              <a:rPr lang="en-US" sz="1050" b="1" spc="240" kern="0" dirty="0">
                <a:solidFill>
                  <a:srgbClr val="7C6CFF"/>
                </a:solidFill>
                <a:latin typeface="Arial" pitchFamily="34" charset="0"/>
                <a:ea typeface="Arial" pitchFamily="34" charset="-122"/>
                <a:cs typeface="Arial" pitchFamily="34" charset="-120"/>
              </a:rPr>
              <a:t>HOW IT WORKS</a:t>
            </a:r>
            <a:endParaRPr lang="en-US" sz="1050" dirty="0"/>
          </a:p>
        </p:txBody>
      </p:sp>
      <p:sp>
        <p:nvSpPr>
          <p:cNvPr id="3" name="Text 1"/>
          <p:cNvSpPr/>
          <p:nvPr/>
        </p:nvSpPr>
        <p:spPr>
          <a:xfrm>
            <a:off x="548640" y="658368"/>
            <a:ext cx="11094415" cy="566928"/>
          </a:xfrm>
          <a:prstGeom prst="rect">
            <a:avLst/>
          </a:prstGeom>
          <a:noFill/>
          <a:ln/>
        </p:spPr>
        <p:txBody>
          <a:bodyPr wrap="square" lIns="0" tIns="0" rIns="0" bIns="0" rtlCol="0" anchor="t"/>
          <a:lstStyle/>
          <a:p>
            <a:pPr indent="0" marL="0">
              <a:buNone/>
            </a:pPr>
            <a:r>
              <a:rPr lang="en-US" sz="3200" b="1" spc="-30" kern="0" dirty="0">
                <a:solidFill>
                  <a:srgbClr val="EAF1FA"/>
                </a:solidFill>
                <a:latin typeface="Arial" pitchFamily="34" charset="0"/>
                <a:ea typeface="Arial" pitchFamily="34" charset="-122"/>
                <a:cs typeface="Arial" pitchFamily="34" charset="-120"/>
              </a:rPr>
              <a:t>Architecture</a:t>
            </a:r>
            <a:endParaRPr lang="en-US" sz="3200" dirty="0"/>
          </a:p>
        </p:txBody>
      </p:sp>
      <p:sp>
        <p:nvSpPr>
          <p:cNvPr id="4" name="Text 2"/>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04</a:t>
            </a:r>
            <a:endParaRPr lang="en-US" sz="950" dirty="0"/>
          </a:p>
        </p:txBody>
      </p:sp>
      <p:sp>
        <p:nvSpPr>
          <p:cNvPr id="5" name="Shape 3"/>
          <p:cNvSpPr/>
          <p:nvPr/>
        </p:nvSpPr>
        <p:spPr>
          <a:xfrm>
            <a:off x="795528" y="1298448"/>
            <a:ext cx="3277514" cy="713232"/>
          </a:xfrm>
          <a:prstGeom prst="roundRect">
            <a:avLst>
              <a:gd name="adj" fmla="val 6410"/>
            </a:avLst>
          </a:prstGeom>
          <a:solidFill>
            <a:srgbClr val="0F1D33"/>
          </a:solidFill>
          <a:ln w="12700">
            <a:solidFill>
              <a:srgbClr val="1E3454"/>
            </a:solidFill>
            <a:prstDash val="solid"/>
          </a:ln>
        </p:spPr>
      </p:sp>
      <p:sp>
        <p:nvSpPr>
          <p:cNvPr id="6" name="Shape 4"/>
          <p:cNvSpPr/>
          <p:nvPr/>
        </p:nvSpPr>
        <p:spPr>
          <a:xfrm>
            <a:off x="941832" y="1453896"/>
            <a:ext cx="402336" cy="402336"/>
          </a:xfrm>
          <a:prstGeom prst="roundRect">
            <a:avLst>
              <a:gd name="adj" fmla="val 63636"/>
            </a:avLst>
          </a:prstGeom>
          <a:solidFill>
            <a:srgbClr val="0B1728"/>
          </a:solidFill>
          <a:ln w="12700">
            <a:solidFill>
              <a:srgbClr val="1E3454"/>
            </a:solidFill>
            <a:prstDash val="solid"/>
          </a:ln>
        </p:spPr>
      </p:sp>
      <p:pic>
        <p:nvPicPr>
          <p:cNvPr id="7" name="Image 0" descr="preencoded.png">    </p:cNvPr>
          <p:cNvPicPr>
            <a:picLocks noChangeAspect="1"/>
          </p:cNvPicPr>
          <p:nvPr/>
        </p:nvPicPr>
        <p:blipFill>
          <a:blip r:embed="rId1"/>
          <a:stretch>
            <a:fillRect/>
          </a:stretch>
        </p:blipFill>
        <p:spPr>
          <a:xfrm>
            <a:off x="1046439" y="1558503"/>
            <a:ext cx="193121" cy="193121"/>
          </a:xfrm>
          <a:prstGeom prst="rect">
            <a:avLst/>
          </a:prstGeom>
        </p:spPr>
      </p:pic>
      <p:sp>
        <p:nvSpPr>
          <p:cNvPr id="8" name="Text 5"/>
          <p:cNvSpPr/>
          <p:nvPr/>
        </p:nvSpPr>
        <p:spPr>
          <a:xfrm>
            <a:off x="1435608" y="1444752"/>
            <a:ext cx="2509418" cy="219456"/>
          </a:xfrm>
          <a:prstGeom prst="rect">
            <a:avLst/>
          </a:prstGeom>
          <a:noFill/>
          <a:ln/>
        </p:spPr>
        <p:txBody>
          <a:bodyPr wrap="square" lIns="0" tIns="0" rIns="0" bIns="0" rtlCol="0" anchor="t"/>
          <a:lstStyle/>
          <a:p>
            <a:pPr indent="0" marL="0">
              <a:buNone/>
            </a:pPr>
            <a:r>
              <a:rPr lang="en-US" sz="1250" b="1" dirty="0">
                <a:solidFill>
                  <a:srgbClr val="EAF1FA"/>
                </a:solidFill>
                <a:latin typeface="Arial" pitchFamily="34" charset="0"/>
                <a:ea typeface="Arial" pitchFamily="34" charset="-122"/>
                <a:cs typeface="Arial" pitchFamily="34" charset="-120"/>
              </a:rPr>
              <a:t>Pricing Bot Simulator</a:t>
            </a:r>
            <a:endParaRPr lang="en-US" sz="1250" dirty="0"/>
          </a:p>
        </p:txBody>
      </p:sp>
      <p:sp>
        <p:nvSpPr>
          <p:cNvPr id="9" name="Text 6"/>
          <p:cNvSpPr/>
          <p:nvPr/>
        </p:nvSpPr>
        <p:spPr>
          <a:xfrm>
            <a:off x="1435608" y="1700784"/>
            <a:ext cx="2509418" cy="201168"/>
          </a:xfrm>
          <a:prstGeom prst="rect">
            <a:avLst/>
          </a:prstGeom>
          <a:noFill/>
          <a:ln/>
        </p:spPr>
        <p:txBody>
          <a:bodyPr wrap="square" lIns="0" tIns="0" rIns="0" bIns="0" rtlCol="0" anchor="t"/>
          <a:lstStyle/>
          <a:p>
            <a:pPr indent="0" marL="0">
              <a:buNone/>
            </a:pPr>
            <a:r>
              <a:rPr lang="en-US" sz="850" dirty="0">
                <a:solidFill>
                  <a:srgbClr val="6E8299"/>
                </a:solidFill>
                <a:latin typeface="Courier New" pitchFamily="34" charset="0"/>
                <a:ea typeface="Courier New" pitchFamily="34" charset="-122"/>
                <a:cs typeface="Courier New" pitchFamily="34" charset="-120"/>
              </a:rPr>
              <a:t>generates price moves</a:t>
            </a:r>
            <a:endParaRPr lang="en-US" sz="850" dirty="0"/>
          </a:p>
        </p:txBody>
      </p:sp>
      <p:sp>
        <p:nvSpPr>
          <p:cNvPr id="10" name="Shape 7"/>
          <p:cNvSpPr/>
          <p:nvPr/>
        </p:nvSpPr>
        <p:spPr>
          <a:xfrm>
            <a:off x="4146194" y="1655064"/>
            <a:ext cx="237744" cy="0"/>
          </a:xfrm>
          <a:prstGeom prst="line">
            <a:avLst/>
          </a:prstGeom>
          <a:noFill/>
          <a:ln w="19050">
            <a:solidFill>
              <a:srgbClr val="2E4A72"/>
            </a:solidFill>
            <a:prstDash val="solid"/>
            <a:tailEnd type="triangle"/>
          </a:ln>
        </p:spPr>
      </p:sp>
      <p:sp>
        <p:nvSpPr>
          <p:cNvPr id="11" name="Shape 8"/>
          <p:cNvSpPr/>
          <p:nvPr/>
        </p:nvSpPr>
        <p:spPr>
          <a:xfrm>
            <a:off x="4457090" y="1298448"/>
            <a:ext cx="3277514" cy="713232"/>
          </a:xfrm>
          <a:prstGeom prst="roundRect">
            <a:avLst>
              <a:gd name="adj" fmla="val 6410"/>
            </a:avLst>
          </a:prstGeom>
          <a:solidFill>
            <a:srgbClr val="0F1D33"/>
          </a:solidFill>
          <a:ln w="12700">
            <a:solidFill>
              <a:srgbClr val="1E3454"/>
            </a:solidFill>
            <a:prstDash val="solid"/>
          </a:ln>
        </p:spPr>
      </p:sp>
      <p:sp>
        <p:nvSpPr>
          <p:cNvPr id="12" name="Shape 9"/>
          <p:cNvSpPr/>
          <p:nvPr/>
        </p:nvSpPr>
        <p:spPr>
          <a:xfrm>
            <a:off x="4603394" y="1453896"/>
            <a:ext cx="402336" cy="402336"/>
          </a:xfrm>
          <a:prstGeom prst="roundRect">
            <a:avLst>
              <a:gd name="adj" fmla="val 63636"/>
            </a:avLst>
          </a:prstGeom>
          <a:solidFill>
            <a:srgbClr val="0B1728"/>
          </a:solidFill>
          <a:ln w="12700">
            <a:solidFill>
              <a:srgbClr val="1E3454"/>
            </a:solidFill>
            <a:prstDash val="solid"/>
          </a:ln>
        </p:spPr>
      </p:sp>
      <p:pic>
        <p:nvPicPr>
          <p:cNvPr id="13" name="Image 1" descr="preencoded.png">    </p:cNvPr>
          <p:cNvPicPr>
            <a:picLocks noChangeAspect="1"/>
          </p:cNvPicPr>
          <p:nvPr/>
        </p:nvPicPr>
        <p:blipFill>
          <a:blip r:embed="rId2"/>
          <a:stretch>
            <a:fillRect/>
          </a:stretch>
        </p:blipFill>
        <p:spPr>
          <a:xfrm>
            <a:off x="4708002" y="1558503"/>
            <a:ext cx="193121" cy="193121"/>
          </a:xfrm>
          <a:prstGeom prst="rect">
            <a:avLst/>
          </a:prstGeom>
        </p:spPr>
      </p:pic>
      <p:sp>
        <p:nvSpPr>
          <p:cNvPr id="14" name="Text 10"/>
          <p:cNvSpPr/>
          <p:nvPr/>
        </p:nvSpPr>
        <p:spPr>
          <a:xfrm>
            <a:off x="5097170" y="1444752"/>
            <a:ext cx="2509418" cy="219456"/>
          </a:xfrm>
          <a:prstGeom prst="rect">
            <a:avLst/>
          </a:prstGeom>
          <a:noFill/>
          <a:ln/>
        </p:spPr>
        <p:txBody>
          <a:bodyPr wrap="square" lIns="0" tIns="0" rIns="0" bIns="0" rtlCol="0" anchor="t"/>
          <a:lstStyle/>
          <a:p>
            <a:pPr indent="0" marL="0">
              <a:buNone/>
            </a:pPr>
            <a:r>
              <a:rPr lang="en-US" sz="1250" b="1" dirty="0">
                <a:solidFill>
                  <a:srgbClr val="EAF1FA"/>
                </a:solidFill>
                <a:latin typeface="Arial" pitchFamily="34" charset="0"/>
                <a:ea typeface="Arial" pitchFamily="34" charset="-122"/>
                <a:cs typeface="Arial" pitchFamily="34" charset="-120"/>
              </a:rPr>
              <a:t>DecisionEnvelope JSON</a:t>
            </a:r>
            <a:endParaRPr lang="en-US" sz="1250" dirty="0"/>
          </a:p>
        </p:txBody>
      </p:sp>
      <p:sp>
        <p:nvSpPr>
          <p:cNvPr id="15" name="Text 11"/>
          <p:cNvSpPr/>
          <p:nvPr/>
        </p:nvSpPr>
        <p:spPr>
          <a:xfrm>
            <a:off x="5097170" y="1700784"/>
            <a:ext cx="2509418" cy="201168"/>
          </a:xfrm>
          <a:prstGeom prst="rect">
            <a:avLst/>
          </a:prstGeom>
          <a:noFill/>
          <a:ln/>
        </p:spPr>
        <p:txBody>
          <a:bodyPr wrap="square" lIns="0" tIns="0" rIns="0" bIns="0" rtlCol="0" anchor="t"/>
          <a:lstStyle/>
          <a:p>
            <a:pPr indent="0" marL="0">
              <a:buNone/>
            </a:pPr>
            <a:r>
              <a:rPr lang="en-US" sz="850" dirty="0">
                <a:solidFill>
                  <a:srgbClr val="6E8299"/>
                </a:solidFill>
                <a:latin typeface="Courier New" pitchFamily="34" charset="0"/>
                <a:ea typeface="Courier New" pitchFamily="34" charset="-122"/>
                <a:cs typeface="Courier New" pitchFamily="34" charset="-120"/>
              </a:rPr>
              <a:t>shared contract</a:t>
            </a:r>
            <a:endParaRPr lang="en-US" sz="850" dirty="0"/>
          </a:p>
        </p:txBody>
      </p:sp>
      <p:sp>
        <p:nvSpPr>
          <p:cNvPr id="16" name="Shape 12"/>
          <p:cNvSpPr/>
          <p:nvPr/>
        </p:nvSpPr>
        <p:spPr>
          <a:xfrm>
            <a:off x="7807757" y="1655064"/>
            <a:ext cx="237744" cy="0"/>
          </a:xfrm>
          <a:prstGeom prst="line">
            <a:avLst/>
          </a:prstGeom>
          <a:noFill/>
          <a:ln w="19050">
            <a:solidFill>
              <a:srgbClr val="2E4A72"/>
            </a:solidFill>
            <a:prstDash val="solid"/>
            <a:tailEnd type="triangle"/>
          </a:ln>
        </p:spPr>
      </p:sp>
      <p:sp>
        <p:nvSpPr>
          <p:cNvPr id="17" name="Shape 13"/>
          <p:cNvSpPr/>
          <p:nvPr/>
        </p:nvSpPr>
        <p:spPr>
          <a:xfrm>
            <a:off x="8118653" y="1298448"/>
            <a:ext cx="3277514" cy="713232"/>
          </a:xfrm>
          <a:prstGeom prst="roundRect">
            <a:avLst>
              <a:gd name="adj" fmla="val 6410"/>
            </a:avLst>
          </a:prstGeom>
          <a:solidFill>
            <a:srgbClr val="0F1D33"/>
          </a:solidFill>
          <a:ln w="12700">
            <a:solidFill>
              <a:srgbClr val="1E3454"/>
            </a:solidFill>
            <a:prstDash val="solid"/>
          </a:ln>
        </p:spPr>
      </p:sp>
      <p:sp>
        <p:nvSpPr>
          <p:cNvPr id="18" name="Shape 14"/>
          <p:cNvSpPr/>
          <p:nvPr/>
        </p:nvSpPr>
        <p:spPr>
          <a:xfrm>
            <a:off x="8264957" y="1453896"/>
            <a:ext cx="402336" cy="402336"/>
          </a:xfrm>
          <a:prstGeom prst="roundRect">
            <a:avLst>
              <a:gd name="adj" fmla="val 63636"/>
            </a:avLst>
          </a:prstGeom>
          <a:solidFill>
            <a:srgbClr val="0B1728"/>
          </a:solidFill>
          <a:ln w="12700">
            <a:solidFill>
              <a:srgbClr val="1E3454"/>
            </a:solidFill>
            <a:prstDash val="solid"/>
          </a:ln>
        </p:spPr>
      </p:sp>
      <p:pic>
        <p:nvPicPr>
          <p:cNvPr id="19" name="Image 2" descr="preencoded.png">    </p:cNvPr>
          <p:cNvPicPr>
            <a:picLocks noChangeAspect="1"/>
          </p:cNvPicPr>
          <p:nvPr/>
        </p:nvPicPr>
        <p:blipFill>
          <a:blip r:embed="rId3"/>
          <a:stretch>
            <a:fillRect/>
          </a:stretch>
        </p:blipFill>
        <p:spPr>
          <a:xfrm>
            <a:off x="8369564" y="1558503"/>
            <a:ext cx="193121" cy="193121"/>
          </a:xfrm>
          <a:prstGeom prst="rect">
            <a:avLst/>
          </a:prstGeom>
        </p:spPr>
      </p:pic>
      <p:sp>
        <p:nvSpPr>
          <p:cNvPr id="20" name="Text 15"/>
          <p:cNvSpPr/>
          <p:nvPr/>
        </p:nvSpPr>
        <p:spPr>
          <a:xfrm>
            <a:off x="8758733" y="1444752"/>
            <a:ext cx="2509418" cy="219456"/>
          </a:xfrm>
          <a:prstGeom prst="rect">
            <a:avLst/>
          </a:prstGeom>
          <a:noFill/>
          <a:ln/>
        </p:spPr>
        <p:txBody>
          <a:bodyPr wrap="square" lIns="0" tIns="0" rIns="0" bIns="0" rtlCol="0" anchor="t"/>
          <a:lstStyle/>
          <a:p>
            <a:pPr indent="0" marL="0">
              <a:buNone/>
            </a:pPr>
            <a:r>
              <a:rPr lang="en-US" sz="1250" b="1" dirty="0">
                <a:solidFill>
                  <a:srgbClr val="EAF1FA"/>
                </a:solidFill>
                <a:latin typeface="Arial" pitchFamily="34" charset="0"/>
                <a:ea typeface="Arial" pitchFamily="34" charset="-122"/>
                <a:cs typeface="Arial" pitchFamily="34" charset="-120"/>
              </a:rPr>
              <a:t>FastAPI Integration Layer</a:t>
            </a:r>
            <a:endParaRPr lang="en-US" sz="1250" dirty="0"/>
          </a:p>
        </p:txBody>
      </p:sp>
      <p:sp>
        <p:nvSpPr>
          <p:cNvPr id="21" name="Text 16"/>
          <p:cNvSpPr/>
          <p:nvPr/>
        </p:nvSpPr>
        <p:spPr>
          <a:xfrm>
            <a:off x="8758733" y="1700784"/>
            <a:ext cx="2509418" cy="201168"/>
          </a:xfrm>
          <a:prstGeom prst="rect">
            <a:avLst/>
          </a:prstGeom>
          <a:noFill/>
          <a:ln/>
        </p:spPr>
        <p:txBody>
          <a:bodyPr wrap="square" lIns="0" tIns="0" rIns="0" bIns="0" rtlCol="0" anchor="t"/>
          <a:lstStyle/>
          <a:p>
            <a:pPr indent="0" marL="0">
              <a:buNone/>
            </a:pPr>
            <a:r>
              <a:rPr lang="en-US" sz="850" dirty="0">
                <a:solidFill>
                  <a:srgbClr val="6E8299"/>
                </a:solidFill>
                <a:latin typeface="Courier New" pitchFamily="34" charset="0"/>
                <a:ea typeface="Courier New" pitchFamily="34" charset="-122"/>
                <a:cs typeface="Courier New" pitchFamily="34" charset="-120"/>
              </a:rPr>
              <a:t>POST /integrations/guardrail-decision</a:t>
            </a:r>
            <a:endParaRPr lang="en-US" sz="850" dirty="0"/>
          </a:p>
        </p:txBody>
      </p:sp>
      <p:sp>
        <p:nvSpPr>
          <p:cNvPr id="22" name="Shape 17"/>
          <p:cNvSpPr/>
          <p:nvPr/>
        </p:nvSpPr>
        <p:spPr>
          <a:xfrm>
            <a:off x="6095848" y="2048256"/>
            <a:ext cx="0" cy="219456"/>
          </a:xfrm>
          <a:prstGeom prst="line">
            <a:avLst/>
          </a:prstGeom>
          <a:noFill/>
          <a:ln w="19050">
            <a:solidFill>
              <a:srgbClr val="2E4A72"/>
            </a:solidFill>
            <a:prstDash val="solid"/>
            <a:tailEnd type="triangle"/>
          </a:ln>
        </p:spPr>
      </p:sp>
      <p:sp>
        <p:nvSpPr>
          <p:cNvPr id="23" name="Shape 18"/>
          <p:cNvSpPr/>
          <p:nvPr/>
        </p:nvSpPr>
        <p:spPr>
          <a:xfrm>
            <a:off x="795528" y="2304288"/>
            <a:ext cx="10600639" cy="859536"/>
          </a:xfrm>
          <a:prstGeom prst="roundRect">
            <a:avLst>
              <a:gd name="adj" fmla="val 5319"/>
            </a:avLst>
          </a:prstGeom>
          <a:solidFill>
            <a:srgbClr val="0D2434"/>
          </a:solidFill>
          <a:ln w="12700">
            <a:solidFill>
              <a:srgbClr val="1D5673"/>
            </a:solidFill>
            <a:prstDash val="solid"/>
          </a:ln>
        </p:spPr>
      </p:sp>
      <p:sp>
        <p:nvSpPr>
          <p:cNvPr id="24" name="Shape 19"/>
          <p:cNvSpPr/>
          <p:nvPr/>
        </p:nvSpPr>
        <p:spPr>
          <a:xfrm>
            <a:off x="1069848" y="2532888"/>
            <a:ext cx="420624" cy="420624"/>
          </a:xfrm>
          <a:prstGeom prst="roundRect">
            <a:avLst>
              <a:gd name="adj" fmla="val 60870"/>
            </a:avLst>
          </a:prstGeom>
          <a:solidFill>
            <a:srgbClr val="07202F"/>
          </a:solidFill>
          <a:ln w="12700">
            <a:solidFill>
              <a:srgbClr val="1D5673"/>
            </a:solidFill>
            <a:prstDash val="solid"/>
          </a:ln>
        </p:spPr>
      </p:sp>
      <p:pic>
        <p:nvPicPr>
          <p:cNvPr id="25" name="Image 3" descr="preencoded.png">    </p:cNvPr>
          <p:cNvPicPr>
            <a:picLocks noChangeAspect="1"/>
          </p:cNvPicPr>
          <p:nvPr/>
        </p:nvPicPr>
        <p:blipFill>
          <a:blip r:embed="rId4"/>
          <a:stretch>
            <a:fillRect/>
          </a:stretch>
        </p:blipFill>
        <p:spPr>
          <a:xfrm>
            <a:off x="1179210" y="2642250"/>
            <a:ext cx="201900" cy="201900"/>
          </a:xfrm>
          <a:prstGeom prst="rect">
            <a:avLst/>
          </a:prstGeom>
        </p:spPr>
      </p:pic>
      <p:sp>
        <p:nvSpPr>
          <p:cNvPr id="26" name="Text 20"/>
          <p:cNvSpPr/>
          <p:nvPr/>
        </p:nvSpPr>
        <p:spPr>
          <a:xfrm>
            <a:off x="1655064" y="2505456"/>
            <a:ext cx="3657600" cy="256032"/>
          </a:xfrm>
          <a:prstGeom prst="rect">
            <a:avLst/>
          </a:prstGeom>
          <a:noFill/>
          <a:ln/>
        </p:spPr>
        <p:txBody>
          <a:bodyPr wrap="square" lIns="0" tIns="0" rIns="0" bIns="0" rtlCol="0" anchor="t"/>
          <a:lstStyle/>
          <a:p>
            <a:pPr indent="0" marL="0">
              <a:buNone/>
            </a:pPr>
            <a:r>
              <a:rPr lang="en-US" sz="1500" b="1" spc="120" kern="0" dirty="0">
                <a:solidFill>
                  <a:srgbClr val="35C4F0"/>
                </a:solidFill>
                <a:latin typeface="Arial" pitchFamily="34" charset="0"/>
                <a:ea typeface="Arial" pitchFamily="34" charset="-122"/>
                <a:cs typeface="Arial" pitchFamily="34" charset="-120"/>
              </a:rPr>
              <a:t>EXASOL PERSONAL</a:t>
            </a:r>
            <a:endParaRPr lang="en-US" sz="1500" dirty="0"/>
          </a:p>
        </p:txBody>
      </p:sp>
      <p:sp>
        <p:nvSpPr>
          <p:cNvPr id="27" name="Text 21"/>
          <p:cNvSpPr/>
          <p:nvPr/>
        </p:nvSpPr>
        <p:spPr>
          <a:xfrm>
            <a:off x="1655064" y="2779776"/>
            <a:ext cx="9411919" cy="237744"/>
          </a:xfrm>
          <a:prstGeom prst="rect">
            <a:avLst/>
          </a:prstGeom>
          <a:noFill/>
          <a:ln/>
        </p:spPr>
        <p:txBody>
          <a:bodyPr wrap="square" lIns="0" tIns="0" rIns="0" bIns="0" rtlCol="0" anchor="t"/>
          <a:lstStyle/>
          <a:p>
            <a:pPr indent="0" marL="0">
              <a:buNone/>
            </a:pPr>
            <a:r>
              <a:rPr lang="en-US" sz="1100" dirty="0">
                <a:solidFill>
                  <a:srgbClr val="A9CBE0"/>
                </a:solidFill>
                <a:latin typeface="Arial" pitchFamily="34" charset="0"/>
                <a:ea typeface="Arial" pitchFamily="34" charset="-122"/>
                <a:cs typeface="Arial" pitchFamily="34" charset="-120"/>
              </a:rPr>
              <a:t>Analytical backbone: pricing history, simulator decisions, guardrail flags, policy documents, RAG chunks</a:t>
            </a:r>
            <a:endParaRPr lang="en-US" sz="1100" dirty="0"/>
          </a:p>
        </p:txBody>
      </p:sp>
      <p:sp>
        <p:nvSpPr>
          <p:cNvPr id="28" name="Shape 22"/>
          <p:cNvSpPr/>
          <p:nvPr/>
        </p:nvSpPr>
        <p:spPr>
          <a:xfrm>
            <a:off x="6095848" y="3200400"/>
            <a:ext cx="0" cy="219456"/>
          </a:xfrm>
          <a:prstGeom prst="line">
            <a:avLst/>
          </a:prstGeom>
          <a:noFill/>
          <a:ln w="19050">
            <a:solidFill>
              <a:srgbClr val="2E4A72"/>
            </a:solidFill>
            <a:prstDash val="solid"/>
            <a:tailEnd type="triangle"/>
          </a:ln>
        </p:spPr>
      </p:sp>
      <p:sp>
        <p:nvSpPr>
          <p:cNvPr id="29" name="Shape 23"/>
          <p:cNvSpPr/>
          <p:nvPr/>
        </p:nvSpPr>
        <p:spPr>
          <a:xfrm>
            <a:off x="795528" y="3474720"/>
            <a:ext cx="2444420" cy="731520"/>
          </a:xfrm>
          <a:prstGeom prst="roundRect">
            <a:avLst>
              <a:gd name="adj" fmla="val 6250"/>
            </a:avLst>
          </a:prstGeom>
          <a:solidFill>
            <a:srgbClr val="0F1D33"/>
          </a:solidFill>
          <a:ln w="12700">
            <a:solidFill>
              <a:srgbClr val="1E3454"/>
            </a:solidFill>
            <a:prstDash val="solid"/>
          </a:ln>
        </p:spPr>
      </p:sp>
      <p:sp>
        <p:nvSpPr>
          <p:cNvPr id="30" name="Shape 24"/>
          <p:cNvSpPr/>
          <p:nvPr/>
        </p:nvSpPr>
        <p:spPr>
          <a:xfrm>
            <a:off x="941832" y="3639312"/>
            <a:ext cx="402336" cy="402336"/>
          </a:xfrm>
          <a:prstGeom prst="roundRect">
            <a:avLst>
              <a:gd name="adj" fmla="val 63636"/>
            </a:avLst>
          </a:prstGeom>
          <a:solidFill>
            <a:srgbClr val="0B1728"/>
          </a:solidFill>
          <a:ln w="12700">
            <a:solidFill>
              <a:srgbClr val="1E3454"/>
            </a:solidFill>
            <a:prstDash val="solid"/>
          </a:ln>
        </p:spPr>
      </p:sp>
      <p:pic>
        <p:nvPicPr>
          <p:cNvPr id="31" name="Image 4" descr="preencoded.png">    </p:cNvPr>
          <p:cNvPicPr>
            <a:picLocks noChangeAspect="1"/>
          </p:cNvPicPr>
          <p:nvPr/>
        </p:nvPicPr>
        <p:blipFill>
          <a:blip r:embed="rId5"/>
          <a:stretch>
            <a:fillRect/>
          </a:stretch>
        </p:blipFill>
        <p:spPr>
          <a:xfrm>
            <a:off x="1046439" y="3743919"/>
            <a:ext cx="193121" cy="193121"/>
          </a:xfrm>
          <a:prstGeom prst="rect">
            <a:avLst/>
          </a:prstGeom>
        </p:spPr>
      </p:pic>
      <p:sp>
        <p:nvSpPr>
          <p:cNvPr id="32" name="Text 25"/>
          <p:cNvSpPr/>
          <p:nvPr/>
        </p:nvSpPr>
        <p:spPr>
          <a:xfrm>
            <a:off x="1417320" y="3630168"/>
            <a:ext cx="1712900"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Guardrail Engine</a:t>
            </a:r>
            <a:endParaRPr lang="en-US" sz="1200" dirty="0"/>
          </a:p>
        </p:txBody>
      </p:sp>
      <p:sp>
        <p:nvSpPr>
          <p:cNvPr id="33" name="Text 26"/>
          <p:cNvSpPr/>
          <p:nvPr/>
        </p:nvSpPr>
        <p:spPr>
          <a:xfrm>
            <a:off x="1417320" y="3867912"/>
            <a:ext cx="1712900" cy="201168"/>
          </a:xfrm>
          <a:prstGeom prst="rect">
            <a:avLst/>
          </a:prstGeom>
          <a:noFill/>
          <a:ln/>
        </p:spPr>
        <p:txBody>
          <a:bodyPr wrap="square" lIns="0" tIns="0" rIns="0" bIns="0" rtlCol="0" anchor="t"/>
          <a:lstStyle/>
          <a:p>
            <a:pPr indent="0" marL="0">
              <a:buNone/>
            </a:pPr>
            <a:r>
              <a:rPr lang="en-US" sz="950" dirty="0">
                <a:solidFill>
                  <a:srgbClr val="6E8299"/>
                </a:solidFill>
                <a:latin typeface="Arial" pitchFamily="34" charset="0"/>
                <a:ea typeface="Arial" pitchFamily="34" charset="-122"/>
                <a:cs typeface="Arial" pitchFamily="34" charset="-120"/>
              </a:rPr>
              <a:t>floor, ceiling, z-score</a:t>
            </a:r>
            <a:endParaRPr lang="en-US" sz="950" dirty="0"/>
          </a:p>
        </p:txBody>
      </p:sp>
      <p:sp>
        <p:nvSpPr>
          <p:cNvPr id="34" name="Shape 27"/>
          <p:cNvSpPr/>
          <p:nvPr/>
        </p:nvSpPr>
        <p:spPr>
          <a:xfrm>
            <a:off x="3267380" y="3840480"/>
            <a:ext cx="219456" cy="0"/>
          </a:xfrm>
          <a:prstGeom prst="line">
            <a:avLst/>
          </a:prstGeom>
          <a:noFill/>
          <a:ln w="19050">
            <a:solidFill>
              <a:srgbClr val="2E4A72"/>
            </a:solidFill>
            <a:prstDash val="solid"/>
            <a:tailEnd type="triangle"/>
          </a:ln>
        </p:spPr>
      </p:sp>
      <p:sp>
        <p:nvSpPr>
          <p:cNvPr id="35" name="Shape 28"/>
          <p:cNvSpPr/>
          <p:nvPr/>
        </p:nvSpPr>
        <p:spPr>
          <a:xfrm>
            <a:off x="3514268" y="3474720"/>
            <a:ext cx="2444420" cy="731520"/>
          </a:xfrm>
          <a:prstGeom prst="roundRect">
            <a:avLst>
              <a:gd name="adj" fmla="val 6250"/>
            </a:avLst>
          </a:prstGeom>
          <a:solidFill>
            <a:srgbClr val="0F1D33"/>
          </a:solidFill>
          <a:ln w="12700">
            <a:solidFill>
              <a:srgbClr val="1E3454"/>
            </a:solidFill>
            <a:prstDash val="solid"/>
          </a:ln>
        </p:spPr>
      </p:sp>
      <p:sp>
        <p:nvSpPr>
          <p:cNvPr id="36" name="Shape 29"/>
          <p:cNvSpPr/>
          <p:nvPr/>
        </p:nvSpPr>
        <p:spPr>
          <a:xfrm>
            <a:off x="3660572" y="3639312"/>
            <a:ext cx="402336" cy="402336"/>
          </a:xfrm>
          <a:prstGeom prst="roundRect">
            <a:avLst>
              <a:gd name="adj" fmla="val 63636"/>
            </a:avLst>
          </a:prstGeom>
          <a:solidFill>
            <a:srgbClr val="0B1728"/>
          </a:solidFill>
          <a:ln w="12700">
            <a:solidFill>
              <a:srgbClr val="1E3454"/>
            </a:solidFill>
            <a:prstDash val="solid"/>
          </a:ln>
        </p:spPr>
      </p:sp>
      <p:pic>
        <p:nvPicPr>
          <p:cNvPr id="37" name="Image 5" descr="preencoded.png">    </p:cNvPr>
          <p:cNvPicPr>
            <a:picLocks noChangeAspect="1"/>
          </p:cNvPicPr>
          <p:nvPr/>
        </p:nvPicPr>
        <p:blipFill>
          <a:blip r:embed="rId6"/>
          <a:stretch>
            <a:fillRect/>
          </a:stretch>
        </p:blipFill>
        <p:spPr>
          <a:xfrm>
            <a:off x="3765179" y="3743919"/>
            <a:ext cx="193121" cy="193121"/>
          </a:xfrm>
          <a:prstGeom prst="rect">
            <a:avLst/>
          </a:prstGeom>
        </p:spPr>
      </p:pic>
      <p:sp>
        <p:nvSpPr>
          <p:cNvPr id="38" name="Text 30"/>
          <p:cNvSpPr/>
          <p:nvPr/>
        </p:nvSpPr>
        <p:spPr>
          <a:xfrm>
            <a:off x="4136060" y="3630168"/>
            <a:ext cx="1712900"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Regret Engine</a:t>
            </a:r>
            <a:endParaRPr lang="en-US" sz="1200" dirty="0"/>
          </a:p>
        </p:txBody>
      </p:sp>
      <p:sp>
        <p:nvSpPr>
          <p:cNvPr id="39" name="Text 31"/>
          <p:cNvSpPr/>
          <p:nvPr/>
        </p:nvSpPr>
        <p:spPr>
          <a:xfrm>
            <a:off x="4136060" y="3867912"/>
            <a:ext cx="1712900" cy="201168"/>
          </a:xfrm>
          <a:prstGeom prst="rect">
            <a:avLst/>
          </a:prstGeom>
          <a:noFill/>
          <a:ln/>
        </p:spPr>
        <p:txBody>
          <a:bodyPr wrap="square" lIns="0" tIns="0" rIns="0" bIns="0" rtlCol="0" anchor="t"/>
          <a:lstStyle/>
          <a:p>
            <a:pPr indent="0" marL="0">
              <a:buNone/>
            </a:pPr>
            <a:r>
              <a:rPr lang="en-US" sz="950" dirty="0">
                <a:solidFill>
                  <a:srgbClr val="6E8299"/>
                </a:solidFill>
                <a:latin typeface="Arial" pitchFamily="34" charset="0"/>
                <a:ea typeface="Arial" pitchFamily="34" charset="-122"/>
                <a:cs typeface="Arial" pitchFamily="34" charset="-120"/>
              </a:rPr>
              <a:t>reward model in ₹</a:t>
            </a:r>
            <a:endParaRPr lang="en-US" sz="950" dirty="0"/>
          </a:p>
        </p:txBody>
      </p:sp>
      <p:sp>
        <p:nvSpPr>
          <p:cNvPr id="40" name="Shape 32"/>
          <p:cNvSpPr/>
          <p:nvPr/>
        </p:nvSpPr>
        <p:spPr>
          <a:xfrm>
            <a:off x="5986120" y="3840480"/>
            <a:ext cx="219456" cy="0"/>
          </a:xfrm>
          <a:prstGeom prst="line">
            <a:avLst/>
          </a:prstGeom>
          <a:noFill/>
          <a:ln w="19050">
            <a:solidFill>
              <a:srgbClr val="2E4A72"/>
            </a:solidFill>
            <a:prstDash val="solid"/>
            <a:tailEnd type="triangle"/>
          </a:ln>
        </p:spPr>
      </p:sp>
      <p:sp>
        <p:nvSpPr>
          <p:cNvPr id="41" name="Shape 33"/>
          <p:cNvSpPr/>
          <p:nvPr/>
        </p:nvSpPr>
        <p:spPr>
          <a:xfrm>
            <a:off x="6233008" y="3474720"/>
            <a:ext cx="2444420" cy="731520"/>
          </a:xfrm>
          <a:prstGeom prst="roundRect">
            <a:avLst>
              <a:gd name="adj" fmla="val 6250"/>
            </a:avLst>
          </a:prstGeom>
          <a:solidFill>
            <a:srgbClr val="0F1D33"/>
          </a:solidFill>
          <a:ln w="12700">
            <a:solidFill>
              <a:srgbClr val="1E3454"/>
            </a:solidFill>
            <a:prstDash val="solid"/>
          </a:ln>
        </p:spPr>
      </p:sp>
      <p:sp>
        <p:nvSpPr>
          <p:cNvPr id="42" name="Shape 34"/>
          <p:cNvSpPr/>
          <p:nvPr/>
        </p:nvSpPr>
        <p:spPr>
          <a:xfrm>
            <a:off x="6379312" y="3639312"/>
            <a:ext cx="402336" cy="402336"/>
          </a:xfrm>
          <a:prstGeom prst="roundRect">
            <a:avLst>
              <a:gd name="adj" fmla="val 63636"/>
            </a:avLst>
          </a:prstGeom>
          <a:solidFill>
            <a:srgbClr val="0B1728"/>
          </a:solidFill>
          <a:ln w="12700">
            <a:solidFill>
              <a:srgbClr val="1E3454"/>
            </a:solidFill>
            <a:prstDash val="solid"/>
          </a:ln>
        </p:spPr>
      </p:sp>
      <p:pic>
        <p:nvPicPr>
          <p:cNvPr id="43" name="Image 6" descr="preencoded.png">    </p:cNvPr>
          <p:cNvPicPr>
            <a:picLocks noChangeAspect="1"/>
          </p:cNvPicPr>
          <p:nvPr/>
        </p:nvPicPr>
        <p:blipFill>
          <a:blip r:embed="rId7"/>
          <a:stretch>
            <a:fillRect/>
          </a:stretch>
        </p:blipFill>
        <p:spPr>
          <a:xfrm>
            <a:off x="6483919" y="3743919"/>
            <a:ext cx="193121" cy="193121"/>
          </a:xfrm>
          <a:prstGeom prst="rect">
            <a:avLst/>
          </a:prstGeom>
        </p:spPr>
      </p:pic>
      <p:sp>
        <p:nvSpPr>
          <p:cNvPr id="44" name="Text 35"/>
          <p:cNvSpPr/>
          <p:nvPr/>
        </p:nvSpPr>
        <p:spPr>
          <a:xfrm>
            <a:off x="6854800" y="3630168"/>
            <a:ext cx="1712900"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RAG Explain Layer</a:t>
            </a:r>
            <a:endParaRPr lang="en-US" sz="1200" dirty="0"/>
          </a:p>
        </p:txBody>
      </p:sp>
      <p:sp>
        <p:nvSpPr>
          <p:cNvPr id="45" name="Text 36"/>
          <p:cNvSpPr/>
          <p:nvPr/>
        </p:nvSpPr>
        <p:spPr>
          <a:xfrm>
            <a:off x="6854800" y="3867912"/>
            <a:ext cx="1712900" cy="201168"/>
          </a:xfrm>
          <a:prstGeom prst="rect">
            <a:avLst/>
          </a:prstGeom>
          <a:noFill/>
          <a:ln/>
        </p:spPr>
        <p:txBody>
          <a:bodyPr wrap="square" lIns="0" tIns="0" rIns="0" bIns="0" rtlCol="0" anchor="t"/>
          <a:lstStyle/>
          <a:p>
            <a:pPr indent="0" marL="0">
              <a:buNone/>
            </a:pPr>
            <a:r>
              <a:rPr lang="en-US" sz="950" dirty="0">
                <a:solidFill>
                  <a:srgbClr val="6E8299"/>
                </a:solidFill>
                <a:latin typeface="Arial" pitchFamily="34" charset="0"/>
                <a:ea typeface="Arial" pitchFamily="34" charset="-122"/>
                <a:cs typeface="Arial" pitchFamily="34" charset="-120"/>
              </a:rPr>
              <a:t>cites policy evidence</a:t>
            </a:r>
            <a:endParaRPr lang="en-US" sz="950" dirty="0"/>
          </a:p>
        </p:txBody>
      </p:sp>
      <p:sp>
        <p:nvSpPr>
          <p:cNvPr id="46" name="Shape 37"/>
          <p:cNvSpPr/>
          <p:nvPr/>
        </p:nvSpPr>
        <p:spPr>
          <a:xfrm>
            <a:off x="8704859" y="3840480"/>
            <a:ext cx="219456" cy="0"/>
          </a:xfrm>
          <a:prstGeom prst="line">
            <a:avLst/>
          </a:prstGeom>
          <a:noFill/>
          <a:ln w="19050">
            <a:solidFill>
              <a:srgbClr val="2E4A72"/>
            </a:solidFill>
            <a:prstDash val="solid"/>
            <a:tailEnd type="triangle"/>
          </a:ln>
        </p:spPr>
      </p:sp>
      <p:sp>
        <p:nvSpPr>
          <p:cNvPr id="47" name="Shape 38"/>
          <p:cNvSpPr/>
          <p:nvPr/>
        </p:nvSpPr>
        <p:spPr>
          <a:xfrm>
            <a:off x="8951747" y="3474720"/>
            <a:ext cx="2444420" cy="731520"/>
          </a:xfrm>
          <a:prstGeom prst="roundRect">
            <a:avLst>
              <a:gd name="adj" fmla="val 6250"/>
            </a:avLst>
          </a:prstGeom>
          <a:solidFill>
            <a:srgbClr val="0F1D33"/>
          </a:solidFill>
          <a:ln w="12700">
            <a:solidFill>
              <a:srgbClr val="1E3454"/>
            </a:solidFill>
            <a:prstDash val="solid"/>
          </a:ln>
        </p:spPr>
      </p:sp>
      <p:sp>
        <p:nvSpPr>
          <p:cNvPr id="48" name="Shape 39"/>
          <p:cNvSpPr/>
          <p:nvPr/>
        </p:nvSpPr>
        <p:spPr>
          <a:xfrm>
            <a:off x="9098051" y="3639312"/>
            <a:ext cx="402336" cy="402336"/>
          </a:xfrm>
          <a:prstGeom prst="roundRect">
            <a:avLst>
              <a:gd name="adj" fmla="val 63636"/>
            </a:avLst>
          </a:prstGeom>
          <a:solidFill>
            <a:srgbClr val="0B1728"/>
          </a:solidFill>
          <a:ln w="12700">
            <a:solidFill>
              <a:srgbClr val="1E3454"/>
            </a:solidFill>
            <a:prstDash val="solid"/>
          </a:ln>
        </p:spPr>
      </p:sp>
      <p:pic>
        <p:nvPicPr>
          <p:cNvPr id="49" name="Image 7" descr="preencoded.png">    </p:cNvPr>
          <p:cNvPicPr>
            <a:picLocks noChangeAspect="1"/>
          </p:cNvPicPr>
          <p:nvPr/>
        </p:nvPicPr>
        <p:blipFill>
          <a:blip r:embed="rId8"/>
          <a:stretch>
            <a:fillRect/>
          </a:stretch>
        </p:blipFill>
        <p:spPr>
          <a:xfrm>
            <a:off x="9202659" y="3743919"/>
            <a:ext cx="193121" cy="193121"/>
          </a:xfrm>
          <a:prstGeom prst="rect">
            <a:avLst/>
          </a:prstGeom>
        </p:spPr>
      </p:pic>
      <p:sp>
        <p:nvSpPr>
          <p:cNvPr id="50" name="Text 40"/>
          <p:cNvSpPr/>
          <p:nvPr/>
        </p:nvSpPr>
        <p:spPr>
          <a:xfrm>
            <a:off x="9573539" y="3630168"/>
            <a:ext cx="1712900"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Dashboard</a:t>
            </a:r>
            <a:endParaRPr lang="en-US" sz="1200" dirty="0"/>
          </a:p>
        </p:txBody>
      </p:sp>
      <p:sp>
        <p:nvSpPr>
          <p:cNvPr id="51" name="Text 41"/>
          <p:cNvSpPr/>
          <p:nvPr/>
        </p:nvSpPr>
        <p:spPr>
          <a:xfrm>
            <a:off x="9573539" y="3867912"/>
            <a:ext cx="1712900" cy="201168"/>
          </a:xfrm>
          <a:prstGeom prst="rect">
            <a:avLst/>
          </a:prstGeom>
          <a:noFill/>
          <a:ln/>
        </p:spPr>
        <p:txBody>
          <a:bodyPr wrap="square" lIns="0" tIns="0" rIns="0" bIns="0" rtlCol="0" anchor="t"/>
          <a:lstStyle/>
          <a:p>
            <a:pPr indent="0" marL="0">
              <a:buNone/>
            </a:pPr>
            <a:r>
              <a:rPr lang="en-US" sz="950" dirty="0">
                <a:solidFill>
                  <a:srgbClr val="6E8299"/>
                </a:solidFill>
                <a:latin typeface="Arial" pitchFamily="34" charset="0"/>
                <a:ea typeface="Arial" pitchFamily="34" charset="-122"/>
                <a:cs typeface="Arial" pitchFamily="34" charset="-120"/>
              </a:rPr>
              <a:t>risk, regret, evidence</a:t>
            </a:r>
            <a:endParaRPr lang="en-US" sz="950" dirty="0"/>
          </a:p>
        </p:txBody>
      </p:sp>
      <p:sp>
        <p:nvSpPr>
          <p:cNvPr id="52" name="Shape 42"/>
          <p:cNvSpPr/>
          <p:nvPr/>
        </p:nvSpPr>
        <p:spPr>
          <a:xfrm>
            <a:off x="548640" y="4535424"/>
            <a:ext cx="3503066" cy="1097280"/>
          </a:xfrm>
          <a:prstGeom prst="roundRect">
            <a:avLst>
              <a:gd name="adj" fmla="val 5000"/>
            </a:avLst>
          </a:prstGeom>
          <a:solidFill>
            <a:srgbClr val="0F1D33"/>
          </a:solidFill>
          <a:ln w="12700">
            <a:solidFill>
              <a:srgbClr val="1E3454"/>
            </a:solidFill>
            <a:prstDash val="solid"/>
          </a:ln>
        </p:spPr>
      </p:sp>
      <p:sp>
        <p:nvSpPr>
          <p:cNvPr id="53" name="Shape 43"/>
          <p:cNvSpPr/>
          <p:nvPr/>
        </p:nvSpPr>
        <p:spPr>
          <a:xfrm>
            <a:off x="768096" y="4718304"/>
            <a:ext cx="310896" cy="310896"/>
          </a:xfrm>
          <a:prstGeom prst="roundRect">
            <a:avLst>
              <a:gd name="adj" fmla="val 58824"/>
            </a:avLst>
          </a:prstGeom>
          <a:solidFill>
            <a:srgbClr val="0D2434"/>
          </a:solidFill>
          <a:ln w="12700">
            <a:solidFill>
              <a:srgbClr val="1D5673"/>
            </a:solidFill>
            <a:prstDash val="solid"/>
          </a:ln>
        </p:spPr>
      </p:sp>
      <p:sp>
        <p:nvSpPr>
          <p:cNvPr id="54" name="Text 44"/>
          <p:cNvSpPr/>
          <p:nvPr/>
        </p:nvSpPr>
        <p:spPr>
          <a:xfrm>
            <a:off x="768096" y="4782312"/>
            <a:ext cx="310896" cy="201168"/>
          </a:xfrm>
          <a:prstGeom prst="rect">
            <a:avLst/>
          </a:prstGeom>
          <a:noFill/>
          <a:ln/>
        </p:spPr>
        <p:txBody>
          <a:bodyPr wrap="square" lIns="0" tIns="0" rIns="0" bIns="0" rtlCol="0" anchor="t"/>
          <a:lstStyle/>
          <a:p>
            <a:pPr algn="ctr" indent="0" marL="0">
              <a:buNone/>
            </a:pPr>
            <a:r>
              <a:rPr lang="en-US" sz="1200" b="1" dirty="0">
                <a:solidFill>
                  <a:srgbClr val="35C4F0"/>
                </a:solidFill>
                <a:latin typeface="Courier New" pitchFamily="34" charset="0"/>
                <a:ea typeface="Courier New" pitchFamily="34" charset="-122"/>
                <a:cs typeface="Courier New" pitchFamily="34" charset="-120"/>
              </a:rPr>
              <a:t>A</a:t>
            </a:r>
            <a:endParaRPr lang="en-US" sz="1200" dirty="0"/>
          </a:p>
        </p:txBody>
      </p:sp>
      <p:sp>
        <p:nvSpPr>
          <p:cNvPr id="55" name="Text 45"/>
          <p:cNvSpPr/>
          <p:nvPr/>
        </p:nvSpPr>
        <p:spPr>
          <a:xfrm>
            <a:off x="1170432" y="4764024"/>
            <a:ext cx="2680106" cy="237744"/>
          </a:xfrm>
          <a:prstGeom prst="rect">
            <a:avLst/>
          </a:prstGeom>
          <a:noFill/>
          <a:ln/>
        </p:spPr>
        <p:txBody>
          <a:bodyPr wrap="square" lIns="0" tIns="0" rIns="0" bIns="0" rtlCol="0" anchor="t"/>
          <a:lstStyle/>
          <a:p>
            <a:pPr indent="0" marL="0">
              <a:buNone/>
            </a:pPr>
            <a:r>
              <a:rPr lang="en-US" sz="1300" b="1" dirty="0">
                <a:solidFill>
                  <a:srgbClr val="EAF1FA"/>
                </a:solidFill>
                <a:latin typeface="Arial" pitchFamily="34" charset="0"/>
                <a:ea typeface="Arial" pitchFamily="34" charset="-122"/>
                <a:cs typeface="Arial" pitchFamily="34" charset="-120"/>
              </a:rPr>
              <a:t>Data and Guardrail</a:t>
            </a:r>
            <a:endParaRPr lang="en-US" sz="1300" dirty="0"/>
          </a:p>
        </p:txBody>
      </p:sp>
      <p:sp>
        <p:nvSpPr>
          <p:cNvPr id="56" name="Text 46"/>
          <p:cNvSpPr/>
          <p:nvPr/>
        </p:nvSpPr>
        <p:spPr>
          <a:xfrm>
            <a:off x="768096" y="5120640"/>
            <a:ext cx="3064154" cy="457200"/>
          </a:xfrm>
          <a:prstGeom prst="rect">
            <a:avLst/>
          </a:prstGeom>
          <a:noFill/>
          <a:ln/>
        </p:spPr>
        <p:txBody>
          <a:bodyPr wrap="square" lIns="0" tIns="0" rIns="0" bIns="0" rtlCol="0" anchor="t"/>
          <a:lstStyle/>
          <a:p>
            <a:pPr indent="0" marL="0">
              <a:lnSpc>
                <a:spcPts val="1300"/>
              </a:lnSpc>
              <a:buNone/>
            </a:pPr>
            <a:r>
              <a:rPr lang="en-US" sz="1050" dirty="0">
                <a:solidFill>
                  <a:srgbClr val="9CB0CB"/>
                </a:solidFill>
                <a:latin typeface="Arial" pitchFamily="34" charset="0"/>
                <a:ea typeface="Arial" pitchFamily="34" charset="-122"/>
                <a:cs typeface="Arial" pitchFamily="34" charset="-120"/>
              </a:rPr>
              <a:t>Exasol schema, synthetic pricing history, simulator, live guardrail flags</a:t>
            </a:r>
            <a:endParaRPr lang="en-US" sz="1050" dirty="0"/>
          </a:p>
        </p:txBody>
      </p:sp>
      <p:sp>
        <p:nvSpPr>
          <p:cNvPr id="57" name="Shape 47"/>
          <p:cNvSpPr/>
          <p:nvPr/>
        </p:nvSpPr>
        <p:spPr>
          <a:xfrm>
            <a:off x="4344314" y="4535424"/>
            <a:ext cx="3503066" cy="1097280"/>
          </a:xfrm>
          <a:prstGeom prst="roundRect">
            <a:avLst>
              <a:gd name="adj" fmla="val 5000"/>
            </a:avLst>
          </a:prstGeom>
          <a:solidFill>
            <a:srgbClr val="0F1D33"/>
          </a:solidFill>
          <a:ln w="12700">
            <a:solidFill>
              <a:srgbClr val="1E3454"/>
            </a:solidFill>
            <a:prstDash val="solid"/>
          </a:ln>
        </p:spPr>
      </p:sp>
      <p:sp>
        <p:nvSpPr>
          <p:cNvPr id="58" name="Shape 48"/>
          <p:cNvSpPr/>
          <p:nvPr/>
        </p:nvSpPr>
        <p:spPr>
          <a:xfrm>
            <a:off x="4563770" y="4718304"/>
            <a:ext cx="310896" cy="310896"/>
          </a:xfrm>
          <a:prstGeom prst="roundRect">
            <a:avLst>
              <a:gd name="adj" fmla="val 58824"/>
            </a:avLst>
          </a:prstGeom>
          <a:solidFill>
            <a:srgbClr val="1A1938"/>
          </a:solidFill>
          <a:ln w="12700">
            <a:solidFill>
              <a:srgbClr val="3D3A78"/>
            </a:solidFill>
            <a:prstDash val="solid"/>
          </a:ln>
        </p:spPr>
      </p:sp>
      <p:sp>
        <p:nvSpPr>
          <p:cNvPr id="59" name="Text 49"/>
          <p:cNvSpPr/>
          <p:nvPr/>
        </p:nvSpPr>
        <p:spPr>
          <a:xfrm>
            <a:off x="4563770" y="4782312"/>
            <a:ext cx="310896" cy="201168"/>
          </a:xfrm>
          <a:prstGeom prst="rect">
            <a:avLst/>
          </a:prstGeom>
          <a:noFill/>
          <a:ln/>
        </p:spPr>
        <p:txBody>
          <a:bodyPr wrap="square" lIns="0" tIns="0" rIns="0" bIns="0" rtlCol="0" anchor="t"/>
          <a:lstStyle/>
          <a:p>
            <a:pPr algn="ctr" indent="0" marL="0">
              <a:buNone/>
            </a:pPr>
            <a:r>
              <a:rPr lang="en-US" sz="1200" b="1" dirty="0">
                <a:solidFill>
                  <a:srgbClr val="7C6CFF"/>
                </a:solidFill>
                <a:latin typeface="Courier New" pitchFamily="34" charset="0"/>
                <a:ea typeface="Courier New" pitchFamily="34" charset="-122"/>
                <a:cs typeface="Courier New" pitchFamily="34" charset="-120"/>
              </a:rPr>
              <a:t>B</a:t>
            </a:r>
            <a:endParaRPr lang="en-US" sz="1200" dirty="0"/>
          </a:p>
        </p:txBody>
      </p:sp>
      <p:sp>
        <p:nvSpPr>
          <p:cNvPr id="60" name="Text 50"/>
          <p:cNvSpPr/>
          <p:nvPr/>
        </p:nvSpPr>
        <p:spPr>
          <a:xfrm>
            <a:off x="4966106" y="4764024"/>
            <a:ext cx="2680106" cy="237744"/>
          </a:xfrm>
          <a:prstGeom prst="rect">
            <a:avLst/>
          </a:prstGeom>
          <a:noFill/>
          <a:ln/>
        </p:spPr>
        <p:txBody>
          <a:bodyPr wrap="square" lIns="0" tIns="0" rIns="0" bIns="0" rtlCol="0" anchor="t"/>
          <a:lstStyle/>
          <a:p>
            <a:pPr indent="0" marL="0">
              <a:buNone/>
            </a:pPr>
            <a:r>
              <a:rPr lang="en-US" sz="1300" b="1" dirty="0">
                <a:solidFill>
                  <a:srgbClr val="EAF1FA"/>
                </a:solidFill>
                <a:latin typeface="Arial" pitchFamily="34" charset="0"/>
                <a:ea typeface="Arial" pitchFamily="34" charset="-122"/>
                <a:cs typeface="Arial" pitchFamily="34" charset="-120"/>
              </a:rPr>
              <a:t>Regret Engine</a:t>
            </a:r>
            <a:endParaRPr lang="en-US" sz="1300" dirty="0"/>
          </a:p>
        </p:txBody>
      </p:sp>
      <p:sp>
        <p:nvSpPr>
          <p:cNvPr id="61" name="Text 51"/>
          <p:cNvSpPr/>
          <p:nvPr/>
        </p:nvSpPr>
        <p:spPr>
          <a:xfrm>
            <a:off x="4563770" y="5120640"/>
            <a:ext cx="3064154" cy="457200"/>
          </a:xfrm>
          <a:prstGeom prst="rect">
            <a:avLst/>
          </a:prstGeom>
          <a:noFill/>
          <a:ln/>
        </p:spPr>
        <p:txBody>
          <a:bodyPr wrap="square" lIns="0" tIns="0" rIns="0" bIns="0" rtlCol="0" anchor="t"/>
          <a:lstStyle/>
          <a:p>
            <a:pPr indent="0" marL="0">
              <a:lnSpc>
                <a:spcPts val="1300"/>
              </a:lnSpc>
              <a:buNone/>
            </a:pPr>
            <a:r>
              <a:rPr lang="en-US" sz="1050" dirty="0">
                <a:solidFill>
                  <a:srgbClr val="9CB0CB"/>
                </a:solidFill>
                <a:latin typeface="Arial" pitchFamily="34" charset="0"/>
                <a:ea typeface="Arial" pitchFamily="34" charset="-122"/>
                <a:cs typeface="Arial" pitchFamily="34" charset="-120"/>
              </a:rPr>
              <a:t>scikit-learn reward model, counterfactual regret estimated in ₹</a:t>
            </a:r>
            <a:endParaRPr lang="en-US" sz="1050" dirty="0"/>
          </a:p>
        </p:txBody>
      </p:sp>
      <p:sp>
        <p:nvSpPr>
          <p:cNvPr id="62" name="Shape 52"/>
          <p:cNvSpPr/>
          <p:nvPr/>
        </p:nvSpPr>
        <p:spPr>
          <a:xfrm>
            <a:off x="8139989" y="4535424"/>
            <a:ext cx="3503066" cy="1097280"/>
          </a:xfrm>
          <a:prstGeom prst="roundRect">
            <a:avLst>
              <a:gd name="adj" fmla="val 5000"/>
            </a:avLst>
          </a:prstGeom>
          <a:solidFill>
            <a:srgbClr val="0F1D33"/>
          </a:solidFill>
          <a:ln w="12700">
            <a:solidFill>
              <a:srgbClr val="1E3454"/>
            </a:solidFill>
            <a:prstDash val="solid"/>
          </a:ln>
        </p:spPr>
      </p:sp>
      <p:sp>
        <p:nvSpPr>
          <p:cNvPr id="63" name="Shape 53"/>
          <p:cNvSpPr/>
          <p:nvPr/>
        </p:nvSpPr>
        <p:spPr>
          <a:xfrm>
            <a:off x="8359445" y="4718304"/>
            <a:ext cx="310896" cy="310896"/>
          </a:xfrm>
          <a:prstGeom prst="roundRect">
            <a:avLst>
              <a:gd name="adj" fmla="val 58824"/>
            </a:avLst>
          </a:prstGeom>
          <a:solidFill>
            <a:srgbClr val="0F2A20"/>
          </a:solidFill>
          <a:ln w="12700">
            <a:solidFill>
              <a:srgbClr val="24634A"/>
            </a:solidFill>
            <a:prstDash val="solid"/>
          </a:ln>
        </p:spPr>
      </p:sp>
      <p:sp>
        <p:nvSpPr>
          <p:cNvPr id="64" name="Text 54"/>
          <p:cNvSpPr/>
          <p:nvPr/>
        </p:nvSpPr>
        <p:spPr>
          <a:xfrm>
            <a:off x="8359445" y="4782312"/>
            <a:ext cx="310896" cy="201168"/>
          </a:xfrm>
          <a:prstGeom prst="rect">
            <a:avLst/>
          </a:prstGeom>
          <a:noFill/>
          <a:ln/>
        </p:spPr>
        <p:txBody>
          <a:bodyPr wrap="square" lIns="0" tIns="0" rIns="0" bIns="0" rtlCol="0" anchor="t"/>
          <a:lstStyle/>
          <a:p>
            <a:pPr algn="ctr" indent="0" marL="0">
              <a:buNone/>
            </a:pPr>
            <a:r>
              <a:rPr lang="en-US" sz="1200" b="1" dirty="0">
                <a:solidFill>
                  <a:srgbClr val="2FBF71"/>
                </a:solidFill>
                <a:latin typeface="Courier New" pitchFamily="34" charset="0"/>
                <a:ea typeface="Courier New" pitchFamily="34" charset="-122"/>
                <a:cs typeface="Courier New" pitchFamily="34" charset="-120"/>
              </a:rPr>
              <a:t>C</a:t>
            </a:r>
            <a:endParaRPr lang="en-US" sz="1200" dirty="0"/>
          </a:p>
        </p:txBody>
      </p:sp>
      <p:sp>
        <p:nvSpPr>
          <p:cNvPr id="65" name="Text 55"/>
          <p:cNvSpPr/>
          <p:nvPr/>
        </p:nvSpPr>
        <p:spPr>
          <a:xfrm>
            <a:off x="8761781" y="4764024"/>
            <a:ext cx="2680106" cy="237744"/>
          </a:xfrm>
          <a:prstGeom prst="rect">
            <a:avLst/>
          </a:prstGeom>
          <a:noFill/>
          <a:ln/>
        </p:spPr>
        <p:txBody>
          <a:bodyPr wrap="square" lIns="0" tIns="0" rIns="0" bIns="0" rtlCol="0" anchor="t"/>
          <a:lstStyle/>
          <a:p>
            <a:pPr indent="0" marL="0">
              <a:buNone/>
            </a:pPr>
            <a:r>
              <a:rPr lang="en-US" sz="1300" b="1" dirty="0">
                <a:solidFill>
                  <a:srgbClr val="EAF1FA"/>
                </a:solidFill>
                <a:latin typeface="Arial" pitchFamily="34" charset="0"/>
                <a:ea typeface="Arial" pitchFamily="34" charset="-122"/>
                <a:cs typeface="Arial" pitchFamily="34" charset="-120"/>
              </a:rPr>
              <a:t>RAG and Dashboard</a:t>
            </a:r>
            <a:endParaRPr lang="en-US" sz="1300" dirty="0"/>
          </a:p>
        </p:txBody>
      </p:sp>
      <p:sp>
        <p:nvSpPr>
          <p:cNvPr id="66" name="Text 56"/>
          <p:cNvSpPr/>
          <p:nvPr/>
        </p:nvSpPr>
        <p:spPr>
          <a:xfrm>
            <a:off x="8359445" y="5120640"/>
            <a:ext cx="3064154" cy="457200"/>
          </a:xfrm>
          <a:prstGeom prst="rect">
            <a:avLst/>
          </a:prstGeom>
          <a:noFill/>
          <a:ln/>
        </p:spPr>
        <p:txBody>
          <a:bodyPr wrap="square" lIns="0" tIns="0" rIns="0" bIns="0" rtlCol="0" anchor="t"/>
          <a:lstStyle/>
          <a:p>
            <a:pPr indent="0" marL="0">
              <a:lnSpc>
                <a:spcPts val="1300"/>
              </a:lnSpc>
              <a:buNone/>
            </a:pPr>
            <a:r>
              <a:rPr lang="en-US" sz="1050" dirty="0">
                <a:solidFill>
                  <a:srgbClr val="9CB0CB"/>
                </a:solidFill>
                <a:latin typeface="Arial" pitchFamily="34" charset="0"/>
                <a:ea typeface="Arial" pitchFamily="34" charset="-122"/>
                <a:cs typeface="Arial" pitchFamily="34" charset="-120"/>
              </a:rPr>
              <a:t>policy and incident retrieval, grounded explanation, live dashboard</a:t>
            </a:r>
            <a:endParaRPr lang="en-US" sz="1050" dirty="0"/>
          </a:p>
        </p:txBody>
      </p:sp>
      <p:sp>
        <p:nvSpPr>
          <p:cNvPr id="67" name="Text 57"/>
          <p:cNvSpPr/>
          <p:nvPr/>
        </p:nvSpPr>
        <p:spPr>
          <a:xfrm>
            <a:off x="548640" y="5907024"/>
            <a:ext cx="731520" cy="219456"/>
          </a:xfrm>
          <a:prstGeom prst="rect">
            <a:avLst/>
          </a:prstGeom>
          <a:noFill/>
          <a:ln/>
        </p:spPr>
        <p:txBody>
          <a:bodyPr wrap="square" lIns="0" tIns="0" rIns="0" bIns="0" rtlCol="0" anchor="t"/>
          <a:lstStyle/>
          <a:p>
            <a:pPr indent="0" marL="0">
              <a:buNone/>
            </a:pPr>
            <a:r>
              <a:rPr lang="en-US" sz="950" b="1" spc="160" kern="0" dirty="0">
                <a:solidFill>
                  <a:srgbClr val="6E8299"/>
                </a:solidFill>
                <a:latin typeface="Arial" pitchFamily="34" charset="0"/>
                <a:ea typeface="Arial" pitchFamily="34" charset="-122"/>
                <a:cs typeface="Arial" pitchFamily="34" charset="-120"/>
              </a:rPr>
              <a:t>STACK</a:t>
            </a:r>
            <a:endParaRPr lang="en-US" sz="950" dirty="0"/>
          </a:p>
        </p:txBody>
      </p:sp>
      <p:sp>
        <p:nvSpPr>
          <p:cNvPr id="68" name="Text 58"/>
          <p:cNvSpPr/>
          <p:nvPr/>
        </p:nvSpPr>
        <p:spPr>
          <a:xfrm>
            <a:off x="1298448" y="5916168"/>
            <a:ext cx="10344607" cy="237744"/>
          </a:xfrm>
          <a:prstGeom prst="rect">
            <a:avLst/>
          </a:prstGeom>
          <a:noFill/>
          <a:ln/>
        </p:spPr>
        <p:txBody>
          <a:bodyPr wrap="square" lIns="0" tIns="0" rIns="0" bIns="0" rtlCol="0" anchor="t"/>
          <a:lstStyle/>
          <a:p>
            <a:pPr indent="0" marL="0">
              <a:buNone/>
            </a:pPr>
            <a:r>
              <a:rPr lang="en-US" sz="1000" dirty="0">
                <a:solidFill>
                  <a:srgbClr val="9CB0CB"/>
                </a:solidFill>
                <a:latin typeface="Courier New" pitchFamily="34" charset="0"/>
                <a:ea typeface="Courier New" pitchFamily="34" charset="-122"/>
                <a:cs typeface="Courier New" pitchFamily="34" charset="-120"/>
              </a:rPr>
              <a:t>FastAPI · Python · pandas · numpy · scikit-learn · Exasol Personal · PyExasol · RAG retrieval · Render-hosted demo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548640" y="384048"/>
            <a:ext cx="11094415" cy="237744"/>
          </a:xfrm>
          <a:prstGeom prst="rect">
            <a:avLst/>
          </a:prstGeom>
          <a:noFill/>
          <a:ln/>
        </p:spPr>
        <p:txBody>
          <a:bodyPr wrap="square" lIns="0" tIns="0" rIns="0" bIns="0" rtlCol="0" anchor="t"/>
          <a:lstStyle/>
          <a:p>
            <a:pPr indent="0" marL="0">
              <a:buNone/>
            </a:pPr>
            <a:r>
              <a:rPr lang="en-US" sz="1050" b="1" spc="240" kern="0" dirty="0">
                <a:solidFill>
                  <a:srgbClr val="7C6CFF"/>
                </a:solidFill>
                <a:latin typeface="Arial" pitchFamily="34" charset="0"/>
                <a:ea typeface="Arial" pitchFamily="34" charset="-122"/>
                <a:cs typeface="Arial" pitchFamily="34" charset="-120"/>
              </a:rPr>
              <a:t>DATA BACKBONE</a:t>
            </a:r>
            <a:endParaRPr lang="en-US" sz="1050" dirty="0"/>
          </a:p>
        </p:txBody>
      </p:sp>
      <p:sp>
        <p:nvSpPr>
          <p:cNvPr id="3" name="Text 1"/>
          <p:cNvSpPr/>
          <p:nvPr/>
        </p:nvSpPr>
        <p:spPr>
          <a:xfrm>
            <a:off x="548640" y="658368"/>
            <a:ext cx="11094415" cy="566928"/>
          </a:xfrm>
          <a:prstGeom prst="rect">
            <a:avLst/>
          </a:prstGeom>
          <a:noFill/>
          <a:ln/>
        </p:spPr>
        <p:txBody>
          <a:bodyPr wrap="square" lIns="0" tIns="0" rIns="0" bIns="0" rtlCol="0" anchor="t"/>
          <a:lstStyle/>
          <a:p>
            <a:pPr indent="0" marL="0">
              <a:buNone/>
            </a:pPr>
            <a:r>
              <a:rPr lang="en-US" sz="3200" b="1" spc="-30" kern="0" dirty="0">
                <a:solidFill>
                  <a:srgbClr val="EAF1FA"/>
                </a:solidFill>
                <a:latin typeface="Arial" pitchFamily="34" charset="0"/>
                <a:ea typeface="Arial" pitchFamily="34" charset="-122"/>
                <a:cs typeface="Arial" pitchFamily="34" charset="-120"/>
              </a:rPr>
              <a:t>Why Exasol Personal matters</a:t>
            </a:r>
            <a:endParaRPr lang="en-US" sz="3200" dirty="0"/>
          </a:p>
        </p:txBody>
      </p:sp>
      <p:sp>
        <p:nvSpPr>
          <p:cNvPr id="4" name="Text 2"/>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05</a:t>
            </a:r>
            <a:endParaRPr lang="en-US" sz="950" dirty="0"/>
          </a:p>
        </p:txBody>
      </p:sp>
      <p:sp>
        <p:nvSpPr>
          <p:cNvPr id="5" name="Shape 3"/>
          <p:cNvSpPr/>
          <p:nvPr/>
        </p:nvSpPr>
        <p:spPr>
          <a:xfrm>
            <a:off x="548640" y="1298448"/>
            <a:ext cx="5120640" cy="1783080"/>
          </a:xfrm>
          <a:prstGeom prst="roundRect">
            <a:avLst>
              <a:gd name="adj" fmla="val 3077"/>
            </a:avLst>
          </a:prstGeom>
          <a:solidFill>
            <a:srgbClr val="0F1D33"/>
          </a:solidFill>
          <a:ln w="12700">
            <a:solidFill>
              <a:srgbClr val="1E3454"/>
            </a:solidFill>
            <a:prstDash val="solid"/>
          </a:ln>
        </p:spPr>
      </p:sp>
      <p:sp>
        <p:nvSpPr>
          <p:cNvPr id="6" name="Shape 4"/>
          <p:cNvSpPr/>
          <p:nvPr/>
        </p:nvSpPr>
        <p:spPr>
          <a:xfrm>
            <a:off x="786384" y="1481328"/>
            <a:ext cx="347472" cy="347472"/>
          </a:xfrm>
          <a:prstGeom prst="roundRect">
            <a:avLst>
              <a:gd name="adj" fmla="val 73684"/>
            </a:avLst>
          </a:prstGeom>
          <a:solidFill>
            <a:srgbClr val="0D2434"/>
          </a:solidFill>
          <a:ln w="12700">
            <a:solidFill>
              <a:srgbClr val="1D5673"/>
            </a:solidFill>
            <a:prstDash val="solid"/>
          </a:ln>
        </p:spPr>
      </p:sp>
      <p:pic>
        <p:nvPicPr>
          <p:cNvPr id="7" name="Image 0" descr="preencoded.png">    </p:cNvPr>
          <p:cNvPicPr>
            <a:picLocks noChangeAspect="1"/>
          </p:cNvPicPr>
          <p:nvPr/>
        </p:nvPicPr>
        <p:blipFill>
          <a:blip r:embed="rId1"/>
          <a:stretch>
            <a:fillRect/>
          </a:stretch>
        </p:blipFill>
        <p:spPr>
          <a:xfrm>
            <a:off x="876727" y="1571671"/>
            <a:ext cx="166787" cy="166787"/>
          </a:xfrm>
          <a:prstGeom prst="rect">
            <a:avLst/>
          </a:prstGeom>
        </p:spPr>
      </p:pic>
      <p:sp>
        <p:nvSpPr>
          <p:cNvPr id="8" name="Text 5"/>
          <p:cNvSpPr/>
          <p:nvPr/>
        </p:nvSpPr>
        <p:spPr>
          <a:xfrm>
            <a:off x="1243584" y="1545336"/>
            <a:ext cx="4206240" cy="237744"/>
          </a:xfrm>
          <a:prstGeom prst="rect">
            <a:avLst/>
          </a:prstGeom>
          <a:noFill/>
          <a:ln/>
        </p:spPr>
        <p:txBody>
          <a:bodyPr wrap="square" lIns="0" tIns="0" rIns="0" bIns="0" rtlCol="0" anchor="t"/>
          <a:lstStyle/>
          <a:p>
            <a:pPr indent="0" marL="0">
              <a:buNone/>
            </a:pPr>
            <a:r>
              <a:rPr lang="en-US" sz="1450" b="1" dirty="0">
                <a:solidFill>
                  <a:srgbClr val="EAF1FA"/>
                </a:solidFill>
                <a:latin typeface="Arial" pitchFamily="34" charset="0"/>
                <a:ea typeface="Arial" pitchFamily="34" charset="-122"/>
                <a:cs typeface="Arial" pitchFamily="34" charset="-120"/>
              </a:rPr>
              <a:t>Role in the system</a:t>
            </a:r>
            <a:endParaRPr lang="en-US" sz="1450" dirty="0"/>
          </a:p>
        </p:txBody>
      </p:sp>
      <p:sp>
        <p:nvSpPr>
          <p:cNvPr id="9" name="Shape 6"/>
          <p:cNvSpPr/>
          <p:nvPr/>
        </p:nvSpPr>
        <p:spPr>
          <a:xfrm>
            <a:off x="822960" y="2103120"/>
            <a:ext cx="82296" cy="82296"/>
          </a:xfrm>
          <a:prstGeom prst="ellipse">
            <a:avLst/>
          </a:prstGeom>
          <a:solidFill>
            <a:srgbClr val="35C4F0"/>
          </a:solidFill>
          <a:ln w="12700">
            <a:solidFill>
              <a:srgbClr val="35C4F0"/>
            </a:solidFill>
            <a:prstDash val="solid"/>
          </a:ln>
        </p:spPr>
      </p:sp>
      <p:sp>
        <p:nvSpPr>
          <p:cNvPr id="10" name="Text 7"/>
          <p:cNvSpPr/>
          <p:nvPr/>
        </p:nvSpPr>
        <p:spPr>
          <a:xfrm>
            <a:off x="1042416" y="2029968"/>
            <a:ext cx="4352544" cy="256032"/>
          </a:xfrm>
          <a:prstGeom prst="rect">
            <a:avLst/>
          </a:prstGeom>
          <a:noFill/>
          <a:ln/>
        </p:spPr>
        <p:txBody>
          <a:bodyPr wrap="square" lIns="0" tIns="0" rIns="0" bIns="0" rtlCol="0" anchor="t"/>
          <a:lstStyle/>
          <a:p>
            <a:pPr indent="0" marL="0">
              <a:buNone/>
            </a:pPr>
            <a:r>
              <a:rPr lang="en-US" sz="1150" dirty="0">
                <a:solidFill>
                  <a:srgbClr val="9CB0CB"/>
                </a:solidFill>
                <a:latin typeface="Arial" pitchFamily="34" charset="0"/>
                <a:ea typeface="Arial" pitchFamily="34" charset="-122"/>
                <a:cs typeface="Arial" pitchFamily="34" charset="-120"/>
              </a:rPr>
              <a:t>Single analytical store for every pricing event and decision</a:t>
            </a:r>
            <a:endParaRPr lang="en-US" sz="1150" dirty="0"/>
          </a:p>
        </p:txBody>
      </p:sp>
      <p:sp>
        <p:nvSpPr>
          <p:cNvPr id="11" name="Shape 8"/>
          <p:cNvSpPr/>
          <p:nvPr/>
        </p:nvSpPr>
        <p:spPr>
          <a:xfrm>
            <a:off x="822960" y="2450592"/>
            <a:ext cx="82296" cy="82296"/>
          </a:xfrm>
          <a:prstGeom prst="ellipse">
            <a:avLst/>
          </a:prstGeom>
          <a:solidFill>
            <a:srgbClr val="35C4F0"/>
          </a:solidFill>
          <a:ln w="12700">
            <a:solidFill>
              <a:srgbClr val="35C4F0"/>
            </a:solidFill>
            <a:prstDash val="solid"/>
          </a:ln>
        </p:spPr>
      </p:sp>
      <p:sp>
        <p:nvSpPr>
          <p:cNvPr id="12" name="Text 9"/>
          <p:cNvSpPr/>
          <p:nvPr/>
        </p:nvSpPr>
        <p:spPr>
          <a:xfrm>
            <a:off x="1042416" y="2377440"/>
            <a:ext cx="4352544" cy="256032"/>
          </a:xfrm>
          <a:prstGeom prst="rect">
            <a:avLst/>
          </a:prstGeom>
          <a:noFill/>
          <a:ln/>
        </p:spPr>
        <p:txBody>
          <a:bodyPr wrap="square" lIns="0" tIns="0" rIns="0" bIns="0" rtlCol="0" anchor="t"/>
          <a:lstStyle/>
          <a:p>
            <a:pPr indent="0" marL="0">
              <a:buNone/>
            </a:pPr>
            <a:r>
              <a:rPr lang="en-US" sz="1150" dirty="0">
                <a:solidFill>
                  <a:srgbClr val="9CB0CB"/>
                </a:solidFill>
                <a:latin typeface="Arial" pitchFamily="34" charset="0"/>
                <a:ea typeface="Arial" pitchFamily="34" charset="-122"/>
                <a:cs typeface="Arial" pitchFamily="34" charset="-120"/>
              </a:rPr>
              <a:t>SQL inspection of anomaly patterns and decision history</a:t>
            </a:r>
            <a:endParaRPr lang="en-US" sz="1150" dirty="0"/>
          </a:p>
        </p:txBody>
      </p:sp>
      <p:sp>
        <p:nvSpPr>
          <p:cNvPr id="13" name="Shape 10"/>
          <p:cNvSpPr/>
          <p:nvPr/>
        </p:nvSpPr>
        <p:spPr>
          <a:xfrm>
            <a:off x="822960" y="2798064"/>
            <a:ext cx="82296" cy="82296"/>
          </a:xfrm>
          <a:prstGeom prst="ellipse">
            <a:avLst/>
          </a:prstGeom>
          <a:solidFill>
            <a:srgbClr val="35C4F0"/>
          </a:solidFill>
          <a:ln w="12700">
            <a:solidFill>
              <a:srgbClr val="35C4F0"/>
            </a:solidFill>
            <a:prstDash val="solid"/>
          </a:ln>
        </p:spPr>
      </p:sp>
      <p:sp>
        <p:nvSpPr>
          <p:cNvPr id="14" name="Text 11"/>
          <p:cNvSpPr/>
          <p:nvPr/>
        </p:nvSpPr>
        <p:spPr>
          <a:xfrm>
            <a:off x="1042416" y="2724912"/>
            <a:ext cx="4352544" cy="256032"/>
          </a:xfrm>
          <a:prstGeom prst="rect">
            <a:avLst/>
          </a:prstGeom>
          <a:noFill/>
          <a:ln/>
        </p:spPr>
        <p:txBody>
          <a:bodyPr wrap="square" lIns="0" tIns="0" rIns="0" bIns="0" rtlCol="0" anchor="t"/>
          <a:lstStyle/>
          <a:p>
            <a:pPr indent="0" marL="0">
              <a:buNone/>
            </a:pPr>
            <a:r>
              <a:rPr lang="en-US" sz="1150" dirty="0">
                <a:solidFill>
                  <a:srgbClr val="9CB0CB"/>
                </a:solidFill>
                <a:latin typeface="Arial" pitchFamily="34" charset="0"/>
                <a:ea typeface="Arial" pitchFamily="34" charset="-122"/>
                <a:cs typeface="Arial" pitchFamily="34" charset="-120"/>
              </a:rPr>
              <a:t>Realistic local analytical database, no enterprise infrastructure</a:t>
            </a:r>
            <a:endParaRPr lang="en-US" sz="1150" dirty="0"/>
          </a:p>
        </p:txBody>
      </p:sp>
      <p:sp>
        <p:nvSpPr>
          <p:cNvPr id="15" name="Shape 12"/>
          <p:cNvSpPr/>
          <p:nvPr/>
        </p:nvSpPr>
        <p:spPr>
          <a:xfrm>
            <a:off x="548640" y="3355848"/>
            <a:ext cx="5120640" cy="1783080"/>
          </a:xfrm>
          <a:prstGeom prst="roundRect">
            <a:avLst>
              <a:gd name="adj" fmla="val 3077"/>
            </a:avLst>
          </a:prstGeom>
          <a:solidFill>
            <a:srgbClr val="0F1D33"/>
          </a:solidFill>
          <a:ln w="12700">
            <a:solidFill>
              <a:srgbClr val="1E3454"/>
            </a:solidFill>
            <a:prstDash val="solid"/>
          </a:ln>
        </p:spPr>
      </p:sp>
      <p:sp>
        <p:nvSpPr>
          <p:cNvPr id="16" name="Shape 13"/>
          <p:cNvSpPr/>
          <p:nvPr/>
        </p:nvSpPr>
        <p:spPr>
          <a:xfrm>
            <a:off x="786384" y="3538728"/>
            <a:ext cx="347472" cy="347472"/>
          </a:xfrm>
          <a:prstGeom prst="roundRect">
            <a:avLst>
              <a:gd name="adj" fmla="val 73684"/>
            </a:avLst>
          </a:prstGeom>
          <a:solidFill>
            <a:srgbClr val="1A1938"/>
          </a:solidFill>
          <a:ln w="12700">
            <a:solidFill>
              <a:srgbClr val="3D3A78"/>
            </a:solidFill>
            <a:prstDash val="solid"/>
          </a:ln>
        </p:spPr>
      </p:sp>
      <p:pic>
        <p:nvPicPr>
          <p:cNvPr id="17" name="Image 1" descr="preencoded.png">    </p:cNvPr>
          <p:cNvPicPr>
            <a:picLocks noChangeAspect="1"/>
          </p:cNvPicPr>
          <p:nvPr/>
        </p:nvPicPr>
        <p:blipFill>
          <a:blip r:embed="rId2"/>
          <a:stretch>
            <a:fillRect/>
          </a:stretch>
        </p:blipFill>
        <p:spPr>
          <a:xfrm>
            <a:off x="876727" y="3629071"/>
            <a:ext cx="166787" cy="166787"/>
          </a:xfrm>
          <a:prstGeom prst="rect">
            <a:avLst/>
          </a:prstGeom>
        </p:spPr>
      </p:pic>
      <p:sp>
        <p:nvSpPr>
          <p:cNvPr id="18" name="Text 14"/>
          <p:cNvSpPr/>
          <p:nvPr/>
        </p:nvSpPr>
        <p:spPr>
          <a:xfrm>
            <a:off x="1243584" y="3602736"/>
            <a:ext cx="4206240" cy="237744"/>
          </a:xfrm>
          <a:prstGeom prst="rect">
            <a:avLst/>
          </a:prstGeom>
          <a:noFill/>
          <a:ln/>
        </p:spPr>
        <p:txBody>
          <a:bodyPr wrap="square" lIns="0" tIns="0" rIns="0" bIns="0" rtlCol="0" anchor="t"/>
          <a:lstStyle/>
          <a:p>
            <a:pPr indent="0" marL="0">
              <a:buNone/>
            </a:pPr>
            <a:r>
              <a:rPr lang="en-US" sz="1450" b="1" dirty="0">
                <a:solidFill>
                  <a:srgbClr val="EAF1FA"/>
                </a:solidFill>
                <a:latin typeface="Arial" pitchFamily="34" charset="0"/>
                <a:ea typeface="Arial" pitchFamily="34" charset="-122"/>
                <a:cs typeface="Arial" pitchFamily="34" charset="-120"/>
              </a:rPr>
              <a:t>Queries the demo runs</a:t>
            </a:r>
            <a:endParaRPr lang="en-US" sz="1450" dirty="0"/>
          </a:p>
        </p:txBody>
      </p:sp>
      <p:sp>
        <p:nvSpPr>
          <p:cNvPr id="19" name="Shape 15"/>
          <p:cNvSpPr/>
          <p:nvPr/>
        </p:nvSpPr>
        <p:spPr>
          <a:xfrm>
            <a:off x="822960" y="4160520"/>
            <a:ext cx="82296" cy="82296"/>
          </a:xfrm>
          <a:prstGeom prst="ellipse">
            <a:avLst/>
          </a:prstGeom>
          <a:solidFill>
            <a:srgbClr val="7C6CFF"/>
          </a:solidFill>
          <a:ln w="12700">
            <a:solidFill>
              <a:srgbClr val="7C6CFF"/>
            </a:solidFill>
            <a:prstDash val="solid"/>
          </a:ln>
        </p:spPr>
      </p:sp>
      <p:sp>
        <p:nvSpPr>
          <p:cNvPr id="20" name="Text 16"/>
          <p:cNvSpPr/>
          <p:nvPr/>
        </p:nvSpPr>
        <p:spPr>
          <a:xfrm>
            <a:off x="1024128" y="4087368"/>
            <a:ext cx="219456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Latest decisions by SKU</a:t>
            </a:r>
            <a:endParaRPr lang="en-US" sz="1100" dirty="0"/>
          </a:p>
        </p:txBody>
      </p:sp>
      <p:sp>
        <p:nvSpPr>
          <p:cNvPr id="21" name="Shape 17"/>
          <p:cNvSpPr/>
          <p:nvPr/>
        </p:nvSpPr>
        <p:spPr>
          <a:xfrm>
            <a:off x="3255264" y="4160520"/>
            <a:ext cx="82296" cy="82296"/>
          </a:xfrm>
          <a:prstGeom prst="ellipse">
            <a:avLst/>
          </a:prstGeom>
          <a:solidFill>
            <a:srgbClr val="7C6CFF"/>
          </a:solidFill>
          <a:ln w="12700">
            <a:solidFill>
              <a:srgbClr val="7C6CFF"/>
            </a:solidFill>
            <a:prstDash val="solid"/>
          </a:ln>
        </p:spPr>
      </p:sp>
      <p:sp>
        <p:nvSpPr>
          <p:cNvPr id="22" name="Text 18"/>
          <p:cNvSpPr/>
          <p:nvPr/>
        </p:nvSpPr>
        <p:spPr>
          <a:xfrm>
            <a:off x="3456432" y="4087368"/>
            <a:ext cx="219456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Flagged decision counts</a:t>
            </a:r>
            <a:endParaRPr lang="en-US" sz="1100" dirty="0"/>
          </a:p>
        </p:txBody>
      </p:sp>
      <p:sp>
        <p:nvSpPr>
          <p:cNvPr id="23" name="Shape 19"/>
          <p:cNvSpPr/>
          <p:nvPr/>
        </p:nvSpPr>
        <p:spPr>
          <a:xfrm>
            <a:off x="822960" y="4489704"/>
            <a:ext cx="82296" cy="82296"/>
          </a:xfrm>
          <a:prstGeom prst="ellipse">
            <a:avLst/>
          </a:prstGeom>
          <a:solidFill>
            <a:srgbClr val="7C6CFF"/>
          </a:solidFill>
          <a:ln w="12700">
            <a:solidFill>
              <a:srgbClr val="7C6CFF"/>
            </a:solidFill>
            <a:prstDash val="solid"/>
          </a:ln>
        </p:spPr>
      </p:sp>
      <p:sp>
        <p:nvSpPr>
          <p:cNvPr id="24" name="Text 20"/>
          <p:cNvSpPr/>
          <p:nvPr/>
        </p:nvSpPr>
        <p:spPr>
          <a:xfrm>
            <a:off x="1024128" y="4416552"/>
            <a:ext cx="219456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Price movement patterns</a:t>
            </a:r>
            <a:endParaRPr lang="en-US" sz="1100" dirty="0"/>
          </a:p>
        </p:txBody>
      </p:sp>
      <p:sp>
        <p:nvSpPr>
          <p:cNvPr id="25" name="Shape 21"/>
          <p:cNvSpPr/>
          <p:nvPr/>
        </p:nvSpPr>
        <p:spPr>
          <a:xfrm>
            <a:off x="3255264" y="4489704"/>
            <a:ext cx="82296" cy="82296"/>
          </a:xfrm>
          <a:prstGeom prst="ellipse">
            <a:avLst/>
          </a:prstGeom>
          <a:solidFill>
            <a:srgbClr val="7C6CFF"/>
          </a:solidFill>
          <a:ln w="12700">
            <a:solidFill>
              <a:srgbClr val="7C6CFF"/>
            </a:solidFill>
            <a:prstDash val="solid"/>
          </a:ln>
        </p:spPr>
      </p:sp>
      <p:sp>
        <p:nvSpPr>
          <p:cNvPr id="26" name="Text 22"/>
          <p:cNvSpPr/>
          <p:nvPr/>
        </p:nvSpPr>
        <p:spPr>
          <a:xfrm>
            <a:off x="3456432" y="4416552"/>
            <a:ext cx="219456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Historical z-score context</a:t>
            </a:r>
            <a:endParaRPr lang="en-US" sz="1100" dirty="0"/>
          </a:p>
        </p:txBody>
      </p:sp>
      <p:sp>
        <p:nvSpPr>
          <p:cNvPr id="27" name="Shape 23"/>
          <p:cNvSpPr/>
          <p:nvPr/>
        </p:nvSpPr>
        <p:spPr>
          <a:xfrm>
            <a:off x="822960" y="4818888"/>
            <a:ext cx="82296" cy="82296"/>
          </a:xfrm>
          <a:prstGeom prst="ellipse">
            <a:avLst/>
          </a:prstGeom>
          <a:solidFill>
            <a:srgbClr val="7C6CFF"/>
          </a:solidFill>
          <a:ln w="12700">
            <a:solidFill>
              <a:srgbClr val="7C6CFF"/>
            </a:solidFill>
            <a:prstDash val="solid"/>
          </a:ln>
        </p:spPr>
      </p:sp>
      <p:sp>
        <p:nvSpPr>
          <p:cNvPr id="28" name="Text 24"/>
          <p:cNvSpPr/>
          <p:nvPr/>
        </p:nvSpPr>
        <p:spPr>
          <a:xfrm>
            <a:off x="1024128" y="4745736"/>
            <a:ext cx="219456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Full decision audit trail</a:t>
            </a:r>
            <a:endParaRPr lang="en-US" sz="1100" dirty="0"/>
          </a:p>
        </p:txBody>
      </p:sp>
      <p:sp>
        <p:nvSpPr>
          <p:cNvPr id="29" name="Shape 25"/>
          <p:cNvSpPr/>
          <p:nvPr/>
        </p:nvSpPr>
        <p:spPr>
          <a:xfrm>
            <a:off x="3255264" y="4818888"/>
            <a:ext cx="82296" cy="82296"/>
          </a:xfrm>
          <a:prstGeom prst="ellipse">
            <a:avLst/>
          </a:prstGeom>
          <a:solidFill>
            <a:srgbClr val="7C6CFF"/>
          </a:solidFill>
          <a:ln w="12700">
            <a:solidFill>
              <a:srgbClr val="7C6CFF"/>
            </a:solidFill>
            <a:prstDash val="solid"/>
          </a:ln>
        </p:spPr>
      </p:sp>
      <p:sp>
        <p:nvSpPr>
          <p:cNvPr id="30" name="Text 26"/>
          <p:cNvSpPr/>
          <p:nvPr/>
        </p:nvSpPr>
        <p:spPr>
          <a:xfrm>
            <a:off x="3456432" y="4745736"/>
            <a:ext cx="219456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RAG evidence retrieval</a:t>
            </a:r>
            <a:endParaRPr lang="en-US" sz="1100" dirty="0"/>
          </a:p>
        </p:txBody>
      </p:sp>
      <p:sp>
        <p:nvSpPr>
          <p:cNvPr id="31" name="Shape 27"/>
          <p:cNvSpPr/>
          <p:nvPr/>
        </p:nvSpPr>
        <p:spPr>
          <a:xfrm>
            <a:off x="5943600" y="1298448"/>
            <a:ext cx="5699455" cy="3840480"/>
          </a:xfrm>
          <a:prstGeom prst="roundRect">
            <a:avLst>
              <a:gd name="adj" fmla="val 1429"/>
            </a:avLst>
          </a:prstGeom>
          <a:solidFill>
            <a:srgbClr val="0F1D33"/>
          </a:solidFill>
          <a:ln w="12700">
            <a:solidFill>
              <a:srgbClr val="1E3454"/>
            </a:solidFill>
            <a:prstDash val="solid"/>
          </a:ln>
        </p:spPr>
      </p:sp>
      <p:sp>
        <p:nvSpPr>
          <p:cNvPr id="32" name="Text 28"/>
          <p:cNvSpPr/>
          <p:nvPr/>
        </p:nvSpPr>
        <p:spPr>
          <a:xfrm>
            <a:off x="6199632" y="1499616"/>
            <a:ext cx="3657600" cy="219456"/>
          </a:xfrm>
          <a:prstGeom prst="rect">
            <a:avLst/>
          </a:prstGeom>
          <a:noFill/>
          <a:ln/>
        </p:spPr>
        <p:txBody>
          <a:bodyPr wrap="square" lIns="0" tIns="0" rIns="0" bIns="0" rtlCol="0" anchor="t"/>
          <a:lstStyle/>
          <a:p>
            <a:pPr indent="0" marL="0">
              <a:buNone/>
            </a:pPr>
            <a:r>
              <a:rPr lang="en-US" sz="950" b="1" spc="150" kern="0" dirty="0">
                <a:solidFill>
                  <a:srgbClr val="6E8299"/>
                </a:solidFill>
                <a:latin typeface="Arial" pitchFamily="34" charset="0"/>
                <a:ea typeface="Arial" pitchFamily="34" charset="-122"/>
                <a:cs typeface="Arial" pitchFamily="34" charset="-120"/>
              </a:rPr>
              <a:t>STORED IN EXASOL PERSONAL</a:t>
            </a:r>
            <a:endParaRPr lang="en-US" sz="950" dirty="0"/>
          </a:p>
        </p:txBody>
      </p:sp>
      <p:sp>
        <p:nvSpPr>
          <p:cNvPr id="33" name="Shape 29"/>
          <p:cNvSpPr/>
          <p:nvPr/>
        </p:nvSpPr>
        <p:spPr>
          <a:xfrm>
            <a:off x="8134960" y="1847088"/>
            <a:ext cx="1316736" cy="932688"/>
          </a:xfrm>
          <a:prstGeom prst="can">
            <a:avLst/>
          </a:prstGeom>
          <a:solidFill>
            <a:srgbClr val="0D2434"/>
          </a:solidFill>
          <a:ln w="15875">
            <a:solidFill>
              <a:srgbClr val="35C4F0"/>
            </a:solidFill>
            <a:prstDash val="solid"/>
          </a:ln>
        </p:spPr>
      </p:sp>
      <p:pic>
        <p:nvPicPr>
          <p:cNvPr id="34" name="Image 2" descr="preencoded.png">    </p:cNvPr>
          <p:cNvPicPr>
            <a:picLocks noChangeAspect="1"/>
          </p:cNvPicPr>
          <p:nvPr/>
        </p:nvPicPr>
        <p:blipFill>
          <a:blip r:embed="rId3"/>
          <a:stretch>
            <a:fillRect/>
          </a:stretch>
        </p:blipFill>
        <p:spPr>
          <a:xfrm>
            <a:off x="8619592" y="2212848"/>
            <a:ext cx="347472" cy="347472"/>
          </a:xfrm>
          <a:prstGeom prst="rect">
            <a:avLst/>
          </a:prstGeom>
        </p:spPr>
      </p:pic>
      <p:sp>
        <p:nvSpPr>
          <p:cNvPr id="35" name="Text 30"/>
          <p:cNvSpPr/>
          <p:nvPr/>
        </p:nvSpPr>
        <p:spPr>
          <a:xfrm>
            <a:off x="5943600" y="2871216"/>
            <a:ext cx="5699455" cy="219456"/>
          </a:xfrm>
          <a:prstGeom prst="rect">
            <a:avLst/>
          </a:prstGeom>
          <a:noFill/>
          <a:ln/>
        </p:spPr>
        <p:txBody>
          <a:bodyPr wrap="square" lIns="0" tIns="0" rIns="0" bIns="0" rtlCol="0" anchor="t"/>
          <a:lstStyle/>
          <a:p>
            <a:pPr algn="ctr" indent="0" marL="0">
              <a:buNone/>
            </a:pPr>
            <a:r>
              <a:rPr lang="en-US" sz="1100" b="1" spc="60" kern="0" dirty="0">
                <a:solidFill>
                  <a:srgbClr val="35C4F0"/>
                </a:solidFill>
                <a:latin typeface="Courier New" pitchFamily="34" charset="0"/>
                <a:ea typeface="Courier New" pitchFamily="34" charset="-122"/>
                <a:cs typeface="Courier New" pitchFamily="34" charset="-120"/>
              </a:rPr>
              <a:t>EXASOL PERSONAL</a:t>
            </a:r>
            <a:endParaRPr lang="en-US" sz="1100" dirty="0"/>
          </a:p>
        </p:txBody>
      </p:sp>
      <p:sp>
        <p:nvSpPr>
          <p:cNvPr id="36" name="Shape 31"/>
          <p:cNvSpPr/>
          <p:nvPr/>
        </p:nvSpPr>
        <p:spPr>
          <a:xfrm>
            <a:off x="6199632" y="3255264"/>
            <a:ext cx="2511400" cy="530352"/>
          </a:xfrm>
          <a:prstGeom prst="roundRect">
            <a:avLst>
              <a:gd name="adj" fmla="val 8621"/>
            </a:avLst>
          </a:prstGeom>
          <a:solidFill>
            <a:srgbClr val="14263F"/>
          </a:solidFill>
          <a:ln w="12700">
            <a:solidFill>
              <a:srgbClr val="1E3454"/>
            </a:solidFill>
            <a:prstDash val="solid"/>
          </a:ln>
        </p:spPr>
      </p:sp>
      <p:sp>
        <p:nvSpPr>
          <p:cNvPr id="37" name="Text 32"/>
          <p:cNvSpPr/>
          <p:nvPr/>
        </p:nvSpPr>
        <p:spPr>
          <a:xfrm>
            <a:off x="6327648" y="3346704"/>
            <a:ext cx="2255368" cy="182880"/>
          </a:xfrm>
          <a:prstGeom prst="rect">
            <a:avLst/>
          </a:prstGeom>
          <a:noFill/>
          <a:ln/>
        </p:spPr>
        <p:txBody>
          <a:bodyPr wrap="square" lIns="0" tIns="0" rIns="0" bIns="0" rtlCol="0" anchor="t"/>
          <a:lstStyle/>
          <a:p>
            <a:pPr indent="0" marL="0">
              <a:buNone/>
            </a:pPr>
            <a:r>
              <a:rPr lang="en-US" sz="900" b="1" dirty="0">
                <a:solidFill>
                  <a:srgbClr val="35C4F0"/>
                </a:solidFill>
                <a:latin typeface="Courier New" pitchFamily="34" charset="0"/>
                <a:ea typeface="Courier New" pitchFamily="34" charset="-122"/>
                <a:cs typeface="Courier New" pitchFamily="34" charset="-120"/>
              </a:rPr>
              <a:t>HISTORICAL_PRICING_EVENTS</a:t>
            </a:r>
            <a:endParaRPr lang="en-US" sz="900" dirty="0"/>
          </a:p>
        </p:txBody>
      </p:sp>
      <p:sp>
        <p:nvSpPr>
          <p:cNvPr id="38" name="Text 33"/>
          <p:cNvSpPr/>
          <p:nvPr/>
        </p:nvSpPr>
        <p:spPr>
          <a:xfrm>
            <a:off x="6327648" y="3547872"/>
            <a:ext cx="2255368" cy="164592"/>
          </a:xfrm>
          <a:prstGeom prst="rect">
            <a:avLst/>
          </a:prstGeom>
          <a:noFill/>
          <a:ln/>
        </p:spPr>
        <p:txBody>
          <a:bodyPr wrap="square" lIns="0" tIns="0" rIns="0" bIns="0" rtlCol="0" anchor="t"/>
          <a:lstStyle/>
          <a:p>
            <a:pPr indent="0" marL="0">
              <a:buNone/>
            </a:pPr>
            <a:r>
              <a:rPr lang="en-US" sz="900" dirty="0">
                <a:solidFill>
                  <a:srgbClr val="6E8299"/>
                </a:solidFill>
                <a:latin typeface="Arial" pitchFamily="34" charset="0"/>
                <a:ea typeface="Arial" pitchFamily="34" charset="-122"/>
                <a:cs typeface="Arial" pitchFamily="34" charset="-120"/>
              </a:rPr>
              <a:t>1,800 rows</a:t>
            </a:r>
            <a:endParaRPr lang="en-US" sz="900" dirty="0"/>
          </a:p>
        </p:txBody>
      </p:sp>
      <p:sp>
        <p:nvSpPr>
          <p:cNvPr id="39" name="Shape 34"/>
          <p:cNvSpPr/>
          <p:nvPr/>
        </p:nvSpPr>
        <p:spPr>
          <a:xfrm>
            <a:off x="8875624" y="3255264"/>
            <a:ext cx="2511400" cy="530352"/>
          </a:xfrm>
          <a:prstGeom prst="roundRect">
            <a:avLst>
              <a:gd name="adj" fmla="val 8621"/>
            </a:avLst>
          </a:prstGeom>
          <a:solidFill>
            <a:srgbClr val="14263F"/>
          </a:solidFill>
          <a:ln w="12700">
            <a:solidFill>
              <a:srgbClr val="1E3454"/>
            </a:solidFill>
            <a:prstDash val="solid"/>
          </a:ln>
        </p:spPr>
      </p:sp>
      <p:sp>
        <p:nvSpPr>
          <p:cNvPr id="40" name="Text 35"/>
          <p:cNvSpPr/>
          <p:nvPr/>
        </p:nvSpPr>
        <p:spPr>
          <a:xfrm>
            <a:off x="9003640" y="3346704"/>
            <a:ext cx="2255368" cy="182880"/>
          </a:xfrm>
          <a:prstGeom prst="rect">
            <a:avLst/>
          </a:prstGeom>
          <a:noFill/>
          <a:ln/>
        </p:spPr>
        <p:txBody>
          <a:bodyPr wrap="square" lIns="0" tIns="0" rIns="0" bIns="0" rtlCol="0" anchor="t"/>
          <a:lstStyle/>
          <a:p>
            <a:pPr indent="0" marL="0">
              <a:buNone/>
            </a:pPr>
            <a:r>
              <a:rPr lang="en-US" sz="900" b="1" dirty="0">
                <a:solidFill>
                  <a:srgbClr val="35C4F0"/>
                </a:solidFill>
                <a:latin typeface="Courier New" pitchFamily="34" charset="0"/>
                <a:ea typeface="Courier New" pitchFamily="34" charset="-122"/>
                <a:cs typeface="Courier New" pitchFamily="34" charset="-120"/>
              </a:rPr>
              <a:t>MARKET_CONTEXT</a:t>
            </a:r>
            <a:endParaRPr lang="en-US" sz="900" dirty="0"/>
          </a:p>
        </p:txBody>
      </p:sp>
      <p:sp>
        <p:nvSpPr>
          <p:cNvPr id="41" name="Text 36"/>
          <p:cNvSpPr/>
          <p:nvPr/>
        </p:nvSpPr>
        <p:spPr>
          <a:xfrm>
            <a:off x="9003640" y="3547872"/>
            <a:ext cx="2255368" cy="164592"/>
          </a:xfrm>
          <a:prstGeom prst="rect">
            <a:avLst/>
          </a:prstGeom>
          <a:noFill/>
          <a:ln/>
        </p:spPr>
        <p:txBody>
          <a:bodyPr wrap="square" lIns="0" tIns="0" rIns="0" bIns="0" rtlCol="0" anchor="t"/>
          <a:lstStyle/>
          <a:p>
            <a:pPr indent="0" marL="0">
              <a:buNone/>
            </a:pPr>
            <a:r>
              <a:rPr lang="en-US" sz="900" dirty="0">
                <a:solidFill>
                  <a:srgbClr val="6E8299"/>
                </a:solidFill>
                <a:latin typeface="Arial" pitchFamily="34" charset="0"/>
                <a:ea typeface="Arial" pitchFamily="34" charset="-122"/>
                <a:cs typeface="Arial" pitchFamily="34" charset="-120"/>
              </a:rPr>
              <a:t>1,800 rows</a:t>
            </a:r>
            <a:endParaRPr lang="en-US" sz="900" dirty="0"/>
          </a:p>
        </p:txBody>
      </p:sp>
      <p:sp>
        <p:nvSpPr>
          <p:cNvPr id="42" name="Shape 37"/>
          <p:cNvSpPr/>
          <p:nvPr/>
        </p:nvSpPr>
        <p:spPr>
          <a:xfrm>
            <a:off x="6199632" y="3913632"/>
            <a:ext cx="2511400" cy="530352"/>
          </a:xfrm>
          <a:prstGeom prst="roundRect">
            <a:avLst>
              <a:gd name="adj" fmla="val 8621"/>
            </a:avLst>
          </a:prstGeom>
          <a:solidFill>
            <a:srgbClr val="14263F"/>
          </a:solidFill>
          <a:ln w="12700">
            <a:solidFill>
              <a:srgbClr val="1E3454"/>
            </a:solidFill>
            <a:prstDash val="solid"/>
          </a:ln>
        </p:spPr>
      </p:sp>
      <p:sp>
        <p:nvSpPr>
          <p:cNvPr id="43" name="Text 38"/>
          <p:cNvSpPr/>
          <p:nvPr/>
        </p:nvSpPr>
        <p:spPr>
          <a:xfrm>
            <a:off x="6327648" y="4005072"/>
            <a:ext cx="2255368" cy="182880"/>
          </a:xfrm>
          <a:prstGeom prst="rect">
            <a:avLst/>
          </a:prstGeom>
          <a:noFill/>
          <a:ln/>
        </p:spPr>
        <p:txBody>
          <a:bodyPr wrap="square" lIns="0" tIns="0" rIns="0" bIns="0" rtlCol="0" anchor="t"/>
          <a:lstStyle/>
          <a:p>
            <a:pPr indent="0" marL="0">
              <a:buNone/>
            </a:pPr>
            <a:r>
              <a:rPr lang="en-US" sz="900" b="1" dirty="0">
                <a:solidFill>
                  <a:srgbClr val="35C4F0"/>
                </a:solidFill>
                <a:latin typeface="Courier New" pitchFamily="34" charset="0"/>
                <a:ea typeface="Courier New" pitchFamily="34" charset="-122"/>
                <a:cs typeface="Courier New" pitchFamily="34" charset="-120"/>
              </a:rPr>
              <a:t>DECISIONS</a:t>
            </a:r>
            <a:endParaRPr lang="en-US" sz="900" dirty="0"/>
          </a:p>
        </p:txBody>
      </p:sp>
      <p:sp>
        <p:nvSpPr>
          <p:cNvPr id="44" name="Text 39"/>
          <p:cNvSpPr/>
          <p:nvPr/>
        </p:nvSpPr>
        <p:spPr>
          <a:xfrm>
            <a:off x="6327648" y="4206240"/>
            <a:ext cx="2255368" cy="164592"/>
          </a:xfrm>
          <a:prstGeom prst="rect">
            <a:avLst/>
          </a:prstGeom>
          <a:noFill/>
          <a:ln/>
        </p:spPr>
        <p:txBody>
          <a:bodyPr wrap="square" lIns="0" tIns="0" rIns="0" bIns="0" rtlCol="0" anchor="t"/>
          <a:lstStyle/>
          <a:p>
            <a:pPr indent="0" marL="0">
              <a:buNone/>
            </a:pPr>
            <a:r>
              <a:rPr lang="en-US" sz="900" dirty="0">
                <a:solidFill>
                  <a:srgbClr val="6E8299"/>
                </a:solidFill>
                <a:latin typeface="Arial" pitchFamily="34" charset="0"/>
                <a:ea typeface="Arial" pitchFamily="34" charset="-122"/>
                <a:cs typeface="Arial" pitchFamily="34" charset="-120"/>
              </a:rPr>
              <a:t>simulator + scored</a:t>
            </a:r>
            <a:endParaRPr lang="en-US" sz="900" dirty="0"/>
          </a:p>
        </p:txBody>
      </p:sp>
      <p:sp>
        <p:nvSpPr>
          <p:cNvPr id="45" name="Shape 40"/>
          <p:cNvSpPr/>
          <p:nvPr/>
        </p:nvSpPr>
        <p:spPr>
          <a:xfrm>
            <a:off x="8875624" y="3913632"/>
            <a:ext cx="2511400" cy="530352"/>
          </a:xfrm>
          <a:prstGeom prst="roundRect">
            <a:avLst>
              <a:gd name="adj" fmla="val 8621"/>
            </a:avLst>
          </a:prstGeom>
          <a:solidFill>
            <a:srgbClr val="14263F"/>
          </a:solidFill>
          <a:ln w="12700">
            <a:solidFill>
              <a:srgbClr val="1E3454"/>
            </a:solidFill>
            <a:prstDash val="solid"/>
          </a:ln>
        </p:spPr>
      </p:sp>
      <p:sp>
        <p:nvSpPr>
          <p:cNvPr id="46" name="Text 41"/>
          <p:cNvSpPr/>
          <p:nvPr/>
        </p:nvSpPr>
        <p:spPr>
          <a:xfrm>
            <a:off x="9003640" y="4005072"/>
            <a:ext cx="2255368" cy="182880"/>
          </a:xfrm>
          <a:prstGeom prst="rect">
            <a:avLst/>
          </a:prstGeom>
          <a:noFill/>
          <a:ln/>
        </p:spPr>
        <p:txBody>
          <a:bodyPr wrap="square" lIns="0" tIns="0" rIns="0" bIns="0" rtlCol="0" anchor="t"/>
          <a:lstStyle/>
          <a:p>
            <a:pPr indent="0" marL="0">
              <a:buNone/>
            </a:pPr>
            <a:r>
              <a:rPr lang="en-US" sz="900" b="1" dirty="0">
                <a:solidFill>
                  <a:srgbClr val="35C4F0"/>
                </a:solidFill>
                <a:latin typeface="Courier New" pitchFamily="34" charset="0"/>
                <a:ea typeface="Courier New" pitchFamily="34" charset="-122"/>
                <a:cs typeface="Courier New" pitchFamily="34" charset="-120"/>
              </a:rPr>
              <a:t>GUARDRAIL_FLAGS</a:t>
            </a:r>
            <a:endParaRPr lang="en-US" sz="900" dirty="0"/>
          </a:p>
        </p:txBody>
      </p:sp>
      <p:sp>
        <p:nvSpPr>
          <p:cNvPr id="47" name="Text 42"/>
          <p:cNvSpPr/>
          <p:nvPr/>
        </p:nvSpPr>
        <p:spPr>
          <a:xfrm>
            <a:off x="9003640" y="4206240"/>
            <a:ext cx="2255368" cy="164592"/>
          </a:xfrm>
          <a:prstGeom prst="rect">
            <a:avLst/>
          </a:prstGeom>
          <a:noFill/>
          <a:ln/>
        </p:spPr>
        <p:txBody>
          <a:bodyPr wrap="square" lIns="0" tIns="0" rIns="0" bIns="0" rtlCol="0" anchor="t"/>
          <a:lstStyle/>
          <a:p>
            <a:pPr indent="0" marL="0">
              <a:buNone/>
            </a:pPr>
            <a:r>
              <a:rPr lang="en-US" sz="900" dirty="0">
                <a:solidFill>
                  <a:srgbClr val="6E8299"/>
                </a:solidFill>
                <a:latin typeface="Arial" pitchFamily="34" charset="0"/>
                <a:ea typeface="Arial" pitchFamily="34" charset="-122"/>
                <a:cs typeface="Arial" pitchFamily="34" charset="-120"/>
              </a:rPr>
              <a:t>live severity</a:t>
            </a:r>
            <a:endParaRPr lang="en-US" sz="900" dirty="0"/>
          </a:p>
        </p:txBody>
      </p:sp>
      <p:sp>
        <p:nvSpPr>
          <p:cNvPr id="48" name="Shape 43"/>
          <p:cNvSpPr/>
          <p:nvPr/>
        </p:nvSpPr>
        <p:spPr>
          <a:xfrm>
            <a:off x="6199632" y="4572000"/>
            <a:ext cx="2511400" cy="530352"/>
          </a:xfrm>
          <a:prstGeom prst="roundRect">
            <a:avLst>
              <a:gd name="adj" fmla="val 8621"/>
            </a:avLst>
          </a:prstGeom>
          <a:solidFill>
            <a:srgbClr val="14263F"/>
          </a:solidFill>
          <a:ln w="12700">
            <a:solidFill>
              <a:srgbClr val="1E3454"/>
            </a:solidFill>
            <a:prstDash val="solid"/>
          </a:ln>
        </p:spPr>
      </p:sp>
      <p:sp>
        <p:nvSpPr>
          <p:cNvPr id="49" name="Text 44"/>
          <p:cNvSpPr/>
          <p:nvPr/>
        </p:nvSpPr>
        <p:spPr>
          <a:xfrm>
            <a:off x="6327648" y="4663440"/>
            <a:ext cx="2255368" cy="182880"/>
          </a:xfrm>
          <a:prstGeom prst="rect">
            <a:avLst/>
          </a:prstGeom>
          <a:noFill/>
          <a:ln/>
        </p:spPr>
        <p:txBody>
          <a:bodyPr wrap="square" lIns="0" tIns="0" rIns="0" bIns="0" rtlCol="0" anchor="t"/>
          <a:lstStyle/>
          <a:p>
            <a:pPr indent="0" marL="0">
              <a:buNone/>
            </a:pPr>
            <a:r>
              <a:rPr lang="en-US" sz="900" b="1" dirty="0">
                <a:solidFill>
                  <a:srgbClr val="35C4F0"/>
                </a:solidFill>
                <a:latin typeface="Courier New" pitchFamily="34" charset="0"/>
                <a:ea typeface="Courier New" pitchFamily="34" charset="-122"/>
                <a:cs typeface="Courier New" pitchFamily="34" charset="-120"/>
              </a:rPr>
              <a:t>KNOWLEDGE_CHUNKS</a:t>
            </a:r>
            <a:endParaRPr lang="en-US" sz="900" dirty="0"/>
          </a:p>
        </p:txBody>
      </p:sp>
      <p:sp>
        <p:nvSpPr>
          <p:cNvPr id="50" name="Text 45"/>
          <p:cNvSpPr/>
          <p:nvPr/>
        </p:nvSpPr>
        <p:spPr>
          <a:xfrm>
            <a:off x="6327648" y="4864608"/>
            <a:ext cx="2255368" cy="164592"/>
          </a:xfrm>
          <a:prstGeom prst="rect">
            <a:avLst/>
          </a:prstGeom>
          <a:noFill/>
          <a:ln/>
        </p:spPr>
        <p:txBody>
          <a:bodyPr wrap="square" lIns="0" tIns="0" rIns="0" bIns="0" rtlCol="0" anchor="t"/>
          <a:lstStyle/>
          <a:p>
            <a:pPr indent="0" marL="0">
              <a:buNone/>
            </a:pPr>
            <a:r>
              <a:rPr lang="en-US" sz="900" dirty="0">
                <a:solidFill>
                  <a:srgbClr val="6E8299"/>
                </a:solidFill>
                <a:latin typeface="Arial" pitchFamily="34" charset="0"/>
                <a:ea typeface="Arial" pitchFamily="34" charset="-122"/>
                <a:cs typeface="Arial" pitchFamily="34" charset="-120"/>
              </a:rPr>
              <a:t>132 chunks</a:t>
            </a:r>
            <a:endParaRPr lang="en-US" sz="900" dirty="0"/>
          </a:p>
        </p:txBody>
      </p:sp>
      <p:sp>
        <p:nvSpPr>
          <p:cNvPr id="51" name="Shape 46"/>
          <p:cNvSpPr/>
          <p:nvPr/>
        </p:nvSpPr>
        <p:spPr>
          <a:xfrm>
            <a:off x="8875624" y="4572000"/>
            <a:ext cx="2511400" cy="530352"/>
          </a:xfrm>
          <a:prstGeom prst="roundRect">
            <a:avLst>
              <a:gd name="adj" fmla="val 8621"/>
            </a:avLst>
          </a:prstGeom>
          <a:solidFill>
            <a:srgbClr val="14263F"/>
          </a:solidFill>
          <a:ln w="12700">
            <a:solidFill>
              <a:srgbClr val="1E3454"/>
            </a:solidFill>
            <a:prstDash val="solid"/>
          </a:ln>
        </p:spPr>
      </p:sp>
      <p:sp>
        <p:nvSpPr>
          <p:cNvPr id="52" name="Text 47"/>
          <p:cNvSpPr/>
          <p:nvPr/>
        </p:nvSpPr>
        <p:spPr>
          <a:xfrm>
            <a:off x="9003640" y="4663440"/>
            <a:ext cx="2255368" cy="182880"/>
          </a:xfrm>
          <a:prstGeom prst="rect">
            <a:avLst/>
          </a:prstGeom>
          <a:noFill/>
          <a:ln/>
        </p:spPr>
        <p:txBody>
          <a:bodyPr wrap="square" lIns="0" tIns="0" rIns="0" bIns="0" rtlCol="0" anchor="t"/>
          <a:lstStyle/>
          <a:p>
            <a:pPr indent="0" marL="0">
              <a:buNone/>
            </a:pPr>
            <a:r>
              <a:rPr lang="en-US" sz="900" b="1" dirty="0">
                <a:solidFill>
                  <a:srgbClr val="35C4F0"/>
                </a:solidFill>
                <a:latin typeface="Courier New" pitchFamily="34" charset="0"/>
                <a:ea typeface="Courier New" pitchFamily="34" charset="-122"/>
                <a:cs typeface="Courier New" pitchFamily="34" charset="-120"/>
              </a:rPr>
              <a:t>POLICY_DOCUMENTS</a:t>
            </a:r>
            <a:endParaRPr lang="en-US" sz="900" dirty="0"/>
          </a:p>
        </p:txBody>
      </p:sp>
      <p:sp>
        <p:nvSpPr>
          <p:cNvPr id="53" name="Text 48"/>
          <p:cNvSpPr/>
          <p:nvPr/>
        </p:nvSpPr>
        <p:spPr>
          <a:xfrm>
            <a:off x="9003640" y="4864608"/>
            <a:ext cx="2255368" cy="164592"/>
          </a:xfrm>
          <a:prstGeom prst="rect">
            <a:avLst/>
          </a:prstGeom>
          <a:noFill/>
          <a:ln/>
        </p:spPr>
        <p:txBody>
          <a:bodyPr wrap="square" lIns="0" tIns="0" rIns="0" bIns="0" rtlCol="0" anchor="t"/>
          <a:lstStyle/>
          <a:p>
            <a:pPr indent="0" marL="0">
              <a:buNone/>
            </a:pPr>
            <a:r>
              <a:rPr lang="en-US" sz="900" dirty="0">
                <a:solidFill>
                  <a:srgbClr val="6E8299"/>
                </a:solidFill>
                <a:latin typeface="Arial" pitchFamily="34" charset="0"/>
                <a:ea typeface="Arial" pitchFamily="34" charset="-122"/>
                <a:cs typeface="Arial" pitchFamily="34" charset="-120"/>
              </a:rPr>
              <a:t>policies + incidents</a:t>
            </a:r>
            <a:endParaRPr lang="en-US" sz="900" dirty="0"/>
          </a:p>
        </p:txBody>
      </p:sp>
      <p:sp>
        <p:nvSpPr>
          <p:cNvPr id="54" name="Shape 49"/>
          <p:cNvSpPr/>
          <p:nvPr/>
        </p:nvSpPr>
        <p:spPr>
          <a:xfrm>
            <a:off x="548640" y="5413248"/>
            <a:ext cx="2057949" cy="804672"/>
          </a:xfrm>
          <a:prstGeom prst="roundRect">
            <a:avLst>
              <a:gd name="adj" fmla="val 5682"/>
            </a:avLst>
          </a:prstGeom>
          <a:solidFill>
            <a:srgbClr val="0D2434"/>
          </a:solidFill>
          <a:ln w="12700">
            <a:solidFill>
              <a:srgbClr val="1D5673"/>
            </a:solidFill>
            <a:prstDash val="solid"/>
          </a:ln>
        </p:spPr>
      </p:sp>
      <p:sp>
        <p:nvSpPr>
          <p:cNvPr id="55" name="Text 50"/>
          <p:cNvSpPr/>
          <p:nvPr/>
        </p:nvSpPr>
        <p:spPr>
          <a:xfrm>
            <a:off x="713232" y="5504688"/>
            <a:ext cx="1728765" cy="292608"/>
          </a:xfrm>
          <a:prstGeom prst="rect">
            <a:avLst/>
          </a:prstGeom>
          <a:noFill/>
          <a:ln/>
        </p:spPr>
        <p:txBody>
          <a:bodyPr wrap="square" lIns="0" tIns="0" rIns="0" bIns="0" rtlCol="0" anchor="t"/>
          <a:lstStyle/>
          <a:p>
            <a:pPr indent="0" marL="0">
              <a:buNone/>
            </a:pPr>
            <a:r>
              <a:rPr lang="en-US" sz="1900" b="1" dirty="0">
                <a:solidFill>
                  <a:srgbClr val="35C4F0"/>
                </a:solidFill>
                <a:latin typeface="Courier New" pitchFamily="34" charset="0"/>
                <a:ea typeface="Courier New" pitchFamily="34" charset="-122"/>
                <a:cs typeface="Courier New" pitchFamily="34" charset="-120"/>
              </a:rPr>
              <a:t>1,800</a:t>
            </a:r>
            <a:endParaRPr lang="en-US" sz="1900" dirty="0"/>
          </a:p>
        </p:txBody>
      </p:sp>
      <p:sp>
        <p:nvSpPr>
          <p:cNvPr id="56" name="Text 51"/>
          <p:cNvSpPr/>
          <p:nvPr/>
        </p:nvSpPr>
        <p:spPr>
          <a:xfrm>
            <a:off x="713232" y="5815584"/>
            <a:ext cx="1728765" cy="329184"/>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seeded pricing decisions</a:t>
            </a:r>
            <a:endParaRPr lang="en-US" sz="950" dirty="0"/>
          </a:p>
        </p:txBody>
      </p:sp>
      <p:sp>
        <p:nvSpPr>
          <p:cNvPr id="57" name="Shape 52"/>
          <p:cNvSpPr/>
          <p:nvPr/>
        </p:nvSpPr>
        <p:spPr>
          <a:xfrm>
            <a:off x="2807757" y="5413248"/>
            <a:ext cx="2057949" cy="804672"/>
          </a:xfrm>
          <a:prstGeom prst="roundRect">
            <a:avLst>
              <a:gd name="adj" fmla="val 5682"/>
            </a:avLst>
          </a:prstGeom>
          <a:solidFill>
            <a:srgbClr val="0D2434"/>
          </a:solidFill>
          <a:ln w="12700">
            <a:solidFill>
              <a:srgbClr val="1D5673"/>
            </a:solidFill>
            <a:prstDash val="solid"/>
          </a:ln>
        </p:spPr>
      </p:sp>
      <p:sp>
        <p:nvSpPr>
          <p:cNvPr id="58" name="Text 53"/>
          <p:cNvSpPr/>
          <p:nvPr/>
        </p:nvSpPr>
        <p:spPr>
          <a:xfrm>
            <a:off x="2972349" y="5504688"/>
            <a:ext cx="1728765" cy="292608"/>
          </a:xfrm>
          <a:prstGeom prst="rect">
            <a:avLst/>
          </a:prstGeom>
          <a:noFill/>
          <a:ln/>
        </p:spPr>
        <p:txBody>
          <a:bodyPr wrap="square" lIns="0" tIns="0" rIns="0" bIns="0" rtlCol="0" anchor="t"/>
          <a:lstStyle/>
          <a:p>
            <a:pPr indent="0" marL="0">
              <a:buNone/>
            </a:pPr>
            <a:r>
              <a:rPr lang="en-US" sz="1900" b="1" dirty="0">
                <a:solidFill>
                  <a:srgbClr val="35C4F0"/>
                </a:solidFill>
                <a:latin typeface="Courier New" pitchFamily="34" charset="0"/>
                <a:ea typeface="Courier New" pitchFamily="34" charset="-122"/>
                <a:cs typeface="Courier New" pitchFamily="34" charset="-120"/>
              </a:rPr>
              <a:t>1,800</a:t>
            </a:r>
            <a:endParaRPr lang="en-US" sz="1900" dirty="0"/>
          </a:p>
        </p:txBody>
      </p:sp>
      <p:sp>
        <p:nvSpPr>
          <p:cNvPr id="59" name="Text 54"/>
          <p:cNvSpPr/>
          <p:nvPr/>
        </p:nvSpPr>
        <p:spPr>
          <a:xfrm>
            <a:off x="2972349" y="5815584"/>
            <a:ext cx="1728765" cy="329184"/>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market context rows</a:t>
            </a:r>
            <a:endParaRPr lang="en-US" sz="950" dirty="0"/>
          </a:p>
        </p:txBody>
      </p:sp>
      <p:sp>
        <p:nvSpPr>
          <p:cNvPr id="60" name="Shape 55"/>
          <p:cNvSpPr/>
          <p:nvPr/>
        </p:nvSpPr>
        <p:spPr>
          <a:xfrm>
            <a:off x="5066873" y="5413248"/>
            <a:ext cx="2057949" cy="804672"/>
          </a:xfrm>
          <a:prstGeom prst="roundRect">
            <a:avLst>
              <a:gd name="adj" fmla="val 5682"/>
            </a:avLst>
          </a:prstGeom>
          <a:solidFill>
            <a:srgbClr val="0D2434"/>
          </a:solidFill>
          <a:ln w="12700">
            <a:solidFill>
              <a:srgbClr val="1D5673"/>
            </a:solidFill>
            <a:prstDash val="solid"/>
          </a:ln>
        </p:spPr>
      </p:sp>
      <p:sp>
        <p:nvSpPr>
          <p:cNvPr id="61" name="Text 56"/>
          <p:cNvSpPr/>
          <p:nvPr/>
        </p:nvSpPr>
        <p:spPr>
          <a:xfrm>
            <a:off x="5231465" y="5504688"/>
            <a:ext cx="1728765" cy="292608"/>
          </a:xfrm>
          <a:prstGeom prst="rect">
            <a:avLst/>
          </a:prstGeom>
          <a:noFill/>
          <a:ln/>
        </p:spPr>
        <p:txBody>
          <a:bodyPr wrap="square" lIns="0" tIns="0" rIns="0" bIns="0" rtlCol="0" anchor="t"/>
          <a:lstStyle/>
          <a:p>
            <a:pPr indent="0" marL="0">
              <a:buNone/>
            </a:pPr>
            <a:r>
              <a:rPr lang="en-US" sz="1900" b="1" dirty="0">
                <a:solidFill>
                  <a:srgbClr val="35C4F0"/>
                </a:solidFill>
                <a:latin typeface="Courier New" pitchFamily="34" charset="0"/>
                <a:ea typeface="Courier New" pitchFamily="34" charset="-122"/>
                <a:cs typeface="Courier New" pitchFamily="34" charset="-120"/>
              </a:rPr>
              <a:t>132</a:t>
            </a:r>
            <a:endParaRPr lang="en-US" sz="1900" dirty="0"/>
          </a:p>
        </p:txBody>
      </p:sp>
      <p:sp>
        <p:nvSpPr>
          <p:cNvPr id="62" name="Text 57"/>
          <p:cNvSpPr/>
          <p:nvPr/>
        </p:nvSpPr>
        <p:spPr>
          <a:xfrm>
            <a:off x="5231465" y="5815584"/>
            <a:ext cx="1728765" cy="329184"/>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RAG knowledge chunks</a:t>
            </a:r>
            <a:endParaRPr lang="en-US" sz="950" dirty="0"/>
          </a:p>
        </p:txBody>
      </p:sp>
      <p:sp>
        <p:nvSpPr>
          <p:cNvPr id="63" name="Shape 58"/>
          <p:cNvSpPr/>
          <p:nvPr/>
        </p:nvSpPr>
        <p:spPr>
          <a:xfrm>
            <a:off x="7325990" y="5413248"/>
            <a:ext cx="2057949" cy="804672"/>
          </a:xfrm>
          <a:prstGeom prst="roundRect">
            <a:avLst>
              <a:gd name="adj" fmla="val 5682"/>
            </a:avLst>
          </a:prstGeom>
          <a:solidFill>
            <a:srgbClr val="0D2434"/>
          </a:solidFill>
          <a:ln w="12700">
            <a:solidFill>
              <a:srgbClr val="1D5673"/>
            </a:solidFill>
            <a:prstDash val="solid"/>
          </a:ln>
        </p:spPr>
      </p:sp>
      <p:sp>
        <p:nvSpPr>
          <p:cNvPr id="64" name="Text 59"/>
          <p:cNvSpPr/>
          <p:nvPr/>
        </p:nvSpPr>
        <p:spPr>
          <a:xfrm>
            <a:off x="7490582" y="5504688"/>
            <a:ext cx="1728765" cy="292608"/>
          </a:xfrm>
          <a:prstGeom prst="rect">
            <a:avLst/>
          </a:prstGeom>
          <a:noFill/>
          <a:ln/>
        </p:spPr>
        <p:txBody>
          <a:bodyPr wrap="square" lIns="0" tIns="0" rIns="0" bIns="0" rtlCol="0" anchor="t"/>
          <a:lstStyle/>
          <a:p>
            <a:pPr indent="0" marL="0">
              <a:buNone/>
            </a:pPr>
            <a:r>
              <a:rPr lang="en-US" sz="1900" b="1" dirty="0">
                <a:solidFill>
                  <a:srgbClr val="35C4F0"/>
                </a:solidFill>
                <a:latin typeface="Courier New" pitchFamily="34" charset="0"/>
                <a:ea typeface="Courier New" pitchFamily="34" charset="-122"/>
                <a:cs typeface="Courier New" pitchFamily="34" charset="-120"/>
              </a:rPr>
              <a:t>✓</a:t>
            </a:r>
            <a:endParaRPr lang="en-US" sz="1900" dirty="0"/>
          </a:p>
        </p:txBody>
      </p:sp>
      <p:sp>
        <p:nvSpPr>
          <p:cNvPr id="65" name="Text 60"/>
          <p:cNvSpPr/>
          <p:nvPr/>
        </p:nvSpPr>
        <p:spPr>
          <a:xfrm>
            <a:off x="7490582" y="5815584"/>
            <a:ext cx="1728765" cy="329184"/>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integration endpoint tested</a:t>
            </a:r>
            <a:endParaRPr lang="en-US" sz="950" dirty="0"/>
          </a:p>
        </p:txBody>
      </p:sp>
      <p:sp>
        <p:nvSpPr>
          <p:cNvPr id="66" name="Shape 61"/>
          <p:cNvSpPr/>
          <p:nvPr/>
        </p:nvSpPr>
        <p:spPr>
          <a:xfrm>
            <a:off x="9585107" y="5413248"/>
            <a:ext cx="2057949" cy="804672"/>
          </a:xfrm>
          <a:prstGeom prst="roundRect">
            <a:avLst>
              <a:gd name="adj" fmla="val 5682"/>
            </a:avLst>
          </a:prstGeom>
          <a:solidFill>
            <a:srgbClr val="0D2434"/>
          </a:solidFill>
          <a:ln w="12700">
            <a:solidFill>
              <a:srgbClr val="1D5673"/>
            </a:solidFill>
            <a:prstDash val="solid"/>
          </a:ln>
        </p:spPr>
      </p:sp>
      <p:sp>
        <p:nvSpPr>
          <p:cNvPr id="67" name="Text 62"/>
          <p:cNvSpPr/>
          <p:nvPr/>
        </p:nvSpPr>
        <p:spPr>
          <a:xfrm>
            <a:off x="9749699" y="5504688"/>
            <a:ext cx="1728765" cy="292608"/>
          </a:xfrm>
          <a:prstGeom prst="rect">
            <a:avLst/>
          </a:prstGeom>
          <a:noFill/>
          <a:ln/>
        </p:spPr>
        <p:txBody>
          <a:bodyPr wrap="square" lIns="0" tIns="0" rIns="0" bIns="0" rtlCol="0" anchor="t"/>
          <a:lstStyle/>
          <a:p>
            <a:pPr indent="0" marL="0">
              <a:buNone/>
            </a:pPr>
            <a:r>
              <a:rPr lang="en-US" sz="1900" b="1" dirty="0">
                <a:solidFill>
                  <a:srgbClr val="35C4F0"/>
                </a:solidFill>
                <a:latin typeface="Courier New" pitchFamily="34" charset="0"/>
                <a:ea typeface="Courier New" pitchFamily="34" charset="-122"/>
                <a:cs typeface="Courier New" pitchFamily="34" charset="-120"/>
              </a:rPr>
              <a:t>✓</a:t>
            </a:r>
            <a:endParaRPr lang="en-US" sz="1900" dirty="0"/>
          </a:p>
        </p:txBody>
      </p:sp>
      <p:sp>
        <p:nvSpPr>
          <p:cNvPr id="68" name="Text 63"/>
          <p:cNvSpPr/>
          <p:nvPr/>
        </p:nvSpPr>
        <p:spPr>
          <a:xfrm>
            <a:off x="9749699" y="5815584"/>
            <a:ext cx="1728765" cy="329184"/>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scored and explained end to end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548640" y="384048"/>
            <a:ext cx="11094415" cy="237744"/>
          </a:xfrm>
          <a:prstGeom prst="rect">
            <a:avLst/>
          </a:prstGeom>
          <a:noFill/>
          <a:ln/>
        </p:spPr>
        <p:txBody>
          <a:bodyPr wrap="square" lIns="0" tIns="0" rIns="0" bIns="0" rtlCol="0" anchor="t"/>
          <a:lstStyle/>
          <a:p>
            <a:pPr indent="0" marL="0">
              <a:buNone/>
            </a:pPr>
            <a:r>
              <a:rPr lang="en-US" sz="1050" b="1" spc="240" kern="0" dirty="0">
                <a:solidFill>
                  <a:srgbClr val="7C6CFF"/>
                </a:solidFill>
                <a:latin typeface="Arial" pitchFamily="34" charset="0"/>
                <a:ea typeface="Arial" pitchFamily="34" charset="-122"/>
                <a:cs typeface="Arial" pitchFamily="34" charset="-120"/>
              </a:rPr>
              <a:t>DEMO</a:t>
            </a:r>
            <a:endParaRPr lang="en-US" sz="1050" dirty="0"/>
          </a:p>
        </p:txBody>
      </p:sp>
      <p:sp>
        <p:nvSpPr>
          <p:cNvPr id="3" name="Text 1"/>
          <p:cNvSpPr/>
          <p:nvPr/>
        </p:nvSpPr>
        <p:spPr>
          <a:xfrm>
            <a:off x="548640" y="658368"/>
            <a:ext cx="11094415" cy="566928"/>
          </a:xfrm>
          <a:prstGeom prst="rect">
            <a:avLst/>
          </a:prstGeom>
          <a:noFill/>
          <a:ln/>
        </p:spPr>
        <p:txBody>
          <a:bodyPr wrap="square" lIns="0" tIns="0" rIns="0" bIns="0" rtlCol="0" anchor="t"/>
          <a:lstStyle/>
          <a:p>
            <a:pPr indent="0" marL="0">
              <a:buNone/>
            </a:pPr>
            <a:r>
              <a:rPr lang="en-US" sz="3200" b="1" spc="-30" kern="0" dirty="0">
                <a:solidFill>
                  <a:srgbClr val="EAF1FA"/>
                </a:solidFill>
                <a:latin typeface="Arial" pitchFamily="34" charset="0"/>
                <a:ea typeface="Arial" pitchFamily="34" charset="-122"/>
                <a:cs typeface="Arial" pitchFamily="34" charset="-120"/>
              </a:rPr>
              <a:t>Product Demo</a:t>
            </a:r>
            <a:endParaRPr lang="en-US" sz="3200" dirty="0"/>
          </a:p>
        </p:txBody>
      </p:sp>
      <p:sp>
        <p:nvSpPr>
          <p:cNvPr id="4" name="Text 2"/>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06</a:t>
            </a:r>
            <a:endParaRPr lang="en-US" sz="950" dirty="0"/>
          </a:p>
        </p:txBody>
      </p:sp>
      <p:sp>
        <p:nvSpPr>
          <p:cNvPr id="5" name="Shape 3"/>
          <p:cNvSpPr/>
          <p:nvPr/>
        </p:nvSpPr>
        <p:spPr>
          <a:xfrm>
            <a:off x="548640" y="1298448"/>
            <a:ext cx="7772400" cy="4873752"/>
          </a:xfrm>
          <a:prstGeom prst="roundRect">
            <a:avLst>
              <a:gd name="adj" fmla="val 750"/>
            </a:avLst>
          </a:prstGeom>
          <a:solidFill>
            <a:srgbClr val="0F1D33"/>
          </a:solidFill>
          <a:ln w="12700">
            <a:solidFill>
              <a:srgbClr val="1E3454"/>
            </a:solidFill>
            <a:prstDash val="solid"/>
          </a:ln>
        </p:spPr>
      </p:sp>
      <p:sp>
        <p:nvSpPr>
          <p:cNvPr id="6" name="Text 4"/>
          <p:cNvSpPr/>
          <p:nvPr/>
        </p:nvSpPr>
        <p:spPr>
          <a:xfrm>
            <a:off x="786384" y="1517904"/>
            <a:ext cx="3108960" cy="219456"/>
          </a:xfrm>
          <a:prstGeom prst="rect">
            <a:avLst/>
          </a:prstGeom>
          <a:noFill/>
          <a:ln/>
        </p:spPr>
        <p:txBody>
          <a:bodyPr wrap="square" lIns="0" tIns="0" rIns="0" bIns="0" rtlCol="0" anchor="t"/>
          <a:lstStyle/>
          <a:p>
            <a:pPr indent="0" marL="0">
              <a:buNone/>
            </a:pPr>
            <a:r>
              <a:rPr lang="en-US" sz="1000" b="1" spc="130" kern="0" dirty="0">
                <a:solidFill>
                  <a:srgbClr val="9CB0CB"/>
                </a:solidFill>
                <a:latin typeface="Arial" pitchFamily="34" charset="0"/>
                <a:ea typeface="Arial" pitchFamily="34" charset="-122"/>
                <a:cs typeface="Arial" pitchFamily="34" charset="-120"/>
              </a:rPr>
              <a:t>RaGeX CONSOLE  /  DECISIONS</a:t>
            </a:r>
            <a:endParaRPr lang="en-US" sz="1000" dirty="0"/>
          </a:p>
        </p:txBody>
      </p:sp>
      <p:sp>
        <p:nvSpPr>
          <p:cNvPr id="7" name="Shape 5"/>
          <p:cNvSpPr/>
          <p:nvPr/>
        </p:nvSpPr>
        <p:spPr>
          <a:xfrm>
            <a:off x="4069080" y="1481328"/>
            <a:ext cx="694944" cy="274320"/>
          </a:xfrm>
          <a:prstGeom prst="roundRect">
            <a:avLst>
              <a:gd name="adj" fmla="val 166667"/>
            </a:avLst>
          </a:prstGeom>
          <a:solidFill>
            <a:srgbClr val="2B1520"/>
          </a:solidFill>
          <a:ln w="12700">
            <a:solidFill>
              <a:srgbClr val="6E2530"/>
            </a:solidFill>
            <a:prstDash val="solid"/>
          </a:ln>
        </p:spPr>
      </p:sp>
      <p:sp>
        <p:nvSpPr>
          <p:cNvPr id="8" name="Text 6"/>
          <p:cNvSpPr/>
          <p:nvPr/>
        </p:nvSpPr>
        <p:spPr>
          <a:xfrm>
            <a:off x="4069080" y="1527048"/>
            <a:ext cx="694944" cy="182880"/>
          </a:xfrm>
          <a:prstGeom prst="rect">
            <a:avLst/>
          </a:prstGeom>
          <a:noFill/>
          <a:ln/>
        </p:spPr>
        <p:txBody>
          <a:bodyPr wrap="square" lIns="0" tIns="0" rIns="0" bIns="0" rtlCol="0" anchor="t"/>
          <a:lstStyle/>
          <a:p>
            <a:pPr algn="ctr" indent="0" marL="0">
              <a:buNone/>
            </a:pPr>
            <a:r>
              <a:rPr lang="en-US" sz="900" b="1" spc="80" kern="0" dirty="0">
                <a:solidFill>
                  <a:srgbClr val="E5484D"/>
                </a:solidFill>
                <a:latin typeface="Arial" pitchFamily="34" charset="0"/>
                <a:ea typeface="Arial" pitchFamily="34" charset="-122"/>
                <a:cs typeface="Arial" pitchFamily="34" charset="-120"/>
              </a:rPr>
              <a:t>HIGH</a:t>
            </a:r>
            <a:endParaRPr lang="en-US" sz="900" dirty="0"/>
          </a:p>
        </p:txBody>
      </p:sp>
      <p:sp>
        <p:nvSpPr>
          <p:cNvPr id="9" name="Shape 7"/>
          <p:cNvSpPr/>
          <p:nvPr/>
        </p:nvSpPr>
        <p:spPr>
          <a:xfrm>
            <a:off x="4837176" y="1481328"/>
            <a:ext cx="694944" cy="274320"/>
          </a:xfrm>
          <a:prstGeom prst="roundRect">
            <a:avLst>
              <a:gd name="adj" fmla="val 166667"/>
            </a:avLst>
          </a:prstGeom>
          <a:solidFill>
            <a:srgbClr val="2A2113"/>
          </a:solidFill>
          <a:ln w="12700">
            <a:solidFill>
              <a:srgbClr val="6E5223"/>
            </a:solidFill>
            <a:prstDash val="solid"/>
          </a:ln>
        </p:spPr>
      </p:sp>
      <p:sp>
        <p:nvSpPr>
          <p:cNvPr id="10" name="Text 8"/>
          <p:cNvSpPr/>
          <p:nvPr/>
        </p:nvSpPr>
        <p:spPr>
          <a:xfrm>
            <a:off x="4837176" y="1527048"/>
            <a:ext cx="694944" cy="182880"/>
          </a:xfrm>
          <a:prstGeom prst="rect">
            <a:avLst/>
          </a:prstGeom>
          <a:noFill/>
          <a:ln/>
        </p:spPr>
        <p:txBody>
          <a:bodyPr wrap="square" lIns="0" tIns="0" rIns="0" bIns="0" rtlCol="0" anchor="t"/>
          <a:lstStyle/>
          <a:p>
            <a:pPr algn="ctr" indent="0" marL="0">
              <a:buNone/>
            </a:pPr>
            <a:r>
              <a:rPr lang="en-US" sz="900" b="1" spc="80" kern="0" dirty="0">
                <a:solidFill>
                  <a:srgbClr val="F2A93B"/>
                </a:solidFill>
                <a:latin typeface="Arial" pitchFamily="34" charset="0"/>
                <a:ea typeface="Arial" pitchFamily="34" charset="-122"/>
                <a:cs typeface="Arial" pitchFamily="34" charset="-120"/>
              </a:rPr>
              <a:t>WARN</a:t>
            </a:r>
            <a:endParaRPr lang="en-US" sz="900" dirty="0"/>
          </a:p>
        </p:txBody>
      </p:sp>
      <p:sp>
        <p:nvSpPr>
          <p:cNvPr id="11" name="Shape 9"/>
          <p:cNvSpPr/>
          <p:nvPr/>
        </p:nvSpPr>
        <p:spPr>
          <a:xfrm>
            <a:off x="5605272" y="1481328"/>
            <a:ext cx="694944" cy="274320"/>
          </a:xfrm>
          <a:prstGeom prst="roundRect">
            <a:avLst>
              <a:gd name="adj" fmla="val 166667"/>
            </a:avLst>
          </a:prstGeom>
          <a:solidFill>
            <a:srgbClr val="0F2A20"/>
          </a:solidFill>
          <a:ln w="12700">
            <a:solidFill>
              <a:srgbClr val="24634A"/>
            </a:solidFill>
            <a:prstDash val="solid"/>
          </a:ln>
        </p:spPr>
      </p:sp>
      <p:sp>
        <p:nvSpPr>
          <p:cNvPr id="12" name="Text 10"/>
          <p:cNvSpPr/>
          <p:nvPr/>
        </p:nvSpPr>
        <p:spPr>
          <a:xfrm>
            <a:off x="5605272" y="1527048"/>
            <a:ext cx="694944" cy="182880"/>
          </a:xfrm>
          <a:prstGeom prst="rect">
            <a:avLst/>
          </a:prstGeom>
          <a:noFill/>
          <a:ln/>
        </p:spPr>
        <p:txBody>
          <a:bodyPr wrap="square" lIns="0" tIns="0" rIns="0" bIns="0" rtlCol="0" anchor="t"/>
          <a:lstStyle/>
          <a:p>
            <a:pPr algn="ctr" indent="0" marL="0">
              <a:buNone/>
            </a:pPr>
            <a:r>
              <a:rPr lang="en-US" sz="900" b="1" spc="80" kern="0" dirty="0">
                <a:solidFill>
                  <a:srgbClr val="2FBF71"/>
                </a:solidFill>
                <a:latin typeface="Arial" pitchFamily="34" charset="0"/>
                <a:ea typeface="Arial" pitchFamily="34" charset="-122"/>
                <a:cs typeface="Arial" pitchFamily="34" charset="-120"/>
              </a:rPr>
              <a:t>PASS</a:t>
            </a:r>
            <a:endParaRPr lang="en-US" sz="900" dirty="0"/>
          </a:p>
        </p:txBody>
      </p:sp>
      <p:sp>
        <p:nvSpPr>
          <p:cNvPr id="13" name="Shape 11"/>
          <p:cNvSpPr/>
          <p:nvPr/>
        </p:nvSpPr>
        <p:spPr>
          <a:xfrm>
            <a:off x="6839712" y="1563624"/>
            <a:ext cx="100584" cy="100584"/>
          </a:xfrm>
          <a:prstGeom prst="ellipse">
            <a:avLst/>
          </a:prstGeom>
          <a:solidFill>
            <a:srgbClr val="2FBF71"/>
          </a:solidFill>
          <a:ln w="12700">
            <a:solidFill>
              <a:srgbClr val="2FBF71"/>
            </a:solidFill>
            <a:prstDash val="solid"/>
          </a:ln>
        </p:spPr>
      </p:sp>
      <p:sp>
        <p:nvSpPr>
          <p:cNvPr id="14" name="Text 12"/>
          <p:cNvSpPr/>
          <p:nvPr/>
        </p:nvSpPr>
        <p:spPr>
          <a:xfrm>
            <a:off x="7004304" y="1527048"/>
            <a:ext cx="1188720" cy="201168"/>
          </a:xfrm>
          <a:prstGeom prst="rect">
            <a:avLst/>
          </a:prstGeom>
          <a:noFill/>
          <a:ln/>
        </p:spPr>
        <p:txBody>
          <a:bodyPr wrap="square" lIns="0" tIns="0" rIns="0" bIns="0" rtlCol="0" anchor="t"/>
          <a:lstStyle/>
          <a:p>
            <a:pPr indent="0" marL="0">
              <a:buNone/>
            </a:pPr>
            <a:r>
              <a:rPr lang="en-US" sz="900" dirty="0">
                <a:solidFill>
                  <a:srgbClr val="2FBF71"/>
                </a:solidFill>
                <a:latin typeface="Courier New" pitchFamily="34" charset="0"/>
                <a:ea typeface="Courier New" pitchFamily="34" charset="-122"/>
                <a:cs typeface="Courier New" pitchFamily="34" charset="-120"/>
              </a:rPr>
              <a:t>backend healthy</a:t>
            </a:r>
            <a:endParaRPr lang="en-US" sz="900" dirty="0"/>
          </a:p>
        </p:txBody>
      </p:sp>
      <p:sp>
        <p:nvSpPr>
          <p:cNvPr id="15" name="Text 13"/>
          <p:cNvSpPr/>
          <p:nvPr/>
        </p:nvSpPr>
        <p:spPr>
          <a:xfrm>
            <a:off x="786384" y="1956816"/>
            <a:ext cx="1188720" cy="182880"/>
          </a:xfrm>
          <a:prstGeom prst="rect">
            <a:avLst/>
          </a:prstGeom>
          <a:noFill/>
          <a:ln/>
        </p:spPr>
        <p:txBody>
          <a:bodyPr wrap="square" lIns="0" tIns="0" rIns="0" bIns="0" rtlCol="0" anchor="t"/>
          <a:lstStyle/>
          <a:p>
            <a:pPr algn="l" indent="0" marL="0">
              <a:buNone/>
            </a:pPr>
            <a:r>
              <a:rPr lang="en-US" sz="800" b="1" spc="90" kern="0" dirty="0">
                <a:solidFill>
                  <a:srgbClr val="6E8299"/>
                </a:solidFill>
                <a:latin typeface="Arial" pitchFamily="34" charset="0"/>
                <a:ea typeface="Arial" pitchFamily="34" charset="-122"/>
                <a:cs typeface="Arial" pitchFamily="34" charset="-120"/>
              </a:rPr>
              <a:t>DECISION ID</a:t>
            </a:r>
            <a:endParaRPr lang="en-US" sz="800" dirty="0"/>
          </a:p>
        </p:txBody>
      </p:sp>
      <p:sp>
        <p:nvSpPr>
          <p:cNvPr id="16" name="Text 14"/>
          <p:cNvSpPr/>
          <p:nvPr/>
        </p:nvSpPr>
        <p:spPr>
          <a:xfrm>
            <a:off x="2048256" y="1956816"/>
            <a:ext cx="960120" cy="182880"/>
          </a:xfrm>
          <a:prstGeom prst="rect">
            <a:avLst/>
          </a:prstGeom>
          <a:noFill/>
          <a:ln/>
        </p:spPr>
        <p:txBody>
          <a:bodyPr wrap="square" lIns="0" tIns="0" rIns="0" bIns="0" rtlCol="0" anchor="t"/>
          <a:lstStyle/>
          <a:p>
            <a:pPr algn="l" indent="0" marL="0">
              <a:buNone/>
            </a:pPr>
            <a:r>
              <a:rPr lang="en-US" sz="800" b="1" spc="90" kern="0" dirty="0">
                <a:solidFill>
                  <a:srgbClr val="6E8299"/>
                </a:solidFill>
                <a:latin typeface="Arial" pitchFamily="34" charset="0"/>
                <a:ea typeface="Arial" pitchFamily="34" charset="-122"/>
                <a:cs typeface="Arial" pitchFamily="34" charset="-120"/>
              </a:rPr>
              <a:t>SKU</a:t>
            </a:r>
            <a:endParaRPr lang="en-US" sz="800" dirty="0"/>
          </a:p>
        </p:txBody>
      </p:sp>
      <p:sp>
        <p:nvSpPr>
          <p:cNvPr id="17" name="Text 15"/>
          <p:cNvSpPr/>
          <p:nvPr/>
        </p:nvSpPr>
        <p:spPr>
          <a:xfrm>
            <a:off x="3063240" y="1956816"/>
            <a:ext cx="1783080" cy="182880"/>
          </a:xfrm>
          <a:prstGeom prst="rect">
            <a:avLst/>
          </a:prstGeom>
          <a:noFill/>
          <a:ln/>
        </p:spPr>
        <p:txBody>
          <a:bodyPr wrap="square" lIns="0" tIns="0" rIns="0" bIns="0" rtlCol="0" anchor="t"/>
          <a:lstStyle/>
          <a:p>
            <a:pPr algn="l" indent="0" marL="0">
              <a:buNone/>
            </a:pPr>
            <a:r>
              <a:rPr lang="en-US" sz="800" b="1" spc="90" kern="0" dirty="0">
                <a:solidFill>
                  <a:srgbClr val="6E8299"/>
                </a:solidFill>
                <a:latin typeface="Arial" pitchFamily="34" charset="0"/>
                <a:ea typeface="Arial" pitchFamily="34" charset="-122"/>
                <a:cs typeface="Arial" pitchFamily="34" charset="-120"/>
              </a:rPr>
              <a:t>PRICE MOVE</a:t>
            </a:r>
            <a:endParaRPr lang="en-US" sz="800" dirty="0"/>
          </a:p>
        </p:txBody>
      </p:sp>
      <p:sp>
        <p:nvSpPr>
          <p:cNvPr id="18" name="Text 16"/>
          <p:cNvSpPr/>
          <p:nvPr/>
        </p:nvSpPr>
        <p:spPr>
          <a:xfrm>
            <a:off x="4892040" y="1956816"/>
            <a:ext cx="2194560" cy="182880"/>
          </a:xfrm>
          <a:prstGeom prst="rect">
            <a:avLst/>
          </a:prstGeom>
          <a:noFill/>
          <a:ln/>
        </p:spPr>
        <p:txBody>
          <a:bodyPr wrap="square" lIns="0" tIns="0" rIns="0" bIns="0" rtlCol="0" anchor="t"/>
          <a:lstStyle/>
          <a:p>
            <a:pPr algn="l" indent="0" marL="0">
              <a:buNone/>
            </a:pPr>
            <a:r>
              <a:rPr lang="en-US" sz="800" b="1" spc="90" kern="0" dirty="0">
                <a:solidFill>
                  <a:srgbClr val="6E8299"/>
                </a:solidFill>
                <a:latin typeface="Arial" pitchFamily="34" charset="0"/>
                <a:ea typeface="Arial" pitchFamily="34" charset="-122"/>
                <a:cs typeface="Arial" pitchFamily="34" charset="-120"/>
              </a:rPr>
              <a:t>GUARDRAIL</a:t>
            </a:r>
            <a:endParaRPr lang="en-US" sz="800" dirty="0"/>
          </a:p>
        </p:txBody>
      </p:sp>
      <p:sp>
        <p:nvSpPr>
          <p:cNvPr id="19" name="Text 17"/>
          <p:cNvSpPr/>
          <p:nvPr/>
        </p:nvSpPr>
        <p:spPr>
          <a:xfrm>
            <a:off x="7296912" y="1956816"/>
            <a:ext cx="731520" cy="182880"/>
          </a:xfrm>
          <a:prstGeom prst="rect">
            <a:avLst/>
          </a:prstGeom>
          <a:noFill/>
          <a:ln/>
        </p:spPr>
        <p:txBody>
          <a:bodyPr wrap="square" lIns="0" tIns="0" rIns="0" bIns="0" rtlCol="0" anchor="t"/>
          <a:lstStyle/>
          <a:p>
            <a:pPr algn="r" indent="0" marL="0">
              <a:buNone/>
            </a:pPr>
            <a:r>
              <a:rPr lang="en-US" sz="800" b="1" spc="90" kern="0" dirty="0">
                <a:solidFill>
                  <a:srgbClr val="6E8299"/>
                </a:solidFill>
                <a:latin typeface="Arial" pitchFamily="34" charset="0"/>
                <a:ea typeface="Arial" pitchFamily="34" charset="-122"/>
                <a:cs typeface="Arial" pitchFamily="34" charset="-120"/>
              </a:rPr>
              <a:t>REGRET</a:t>
            </a:r>
            <a:endParaRPr lang="en-US" sz="800" dirty="0"/>
          </a:p>
        </p:txBody>
      </p:sp>
      <p:sp>
        <p:nvSpPr>
          <p:cNvPr id="20" name="Shape 18"/>
          <p:cNvSpPr/>
          <p:nvPr/>
        </p:nvSpPr>
        <p:spPr>
          <a:xfrm>
            <a:off x="713232" y="2212848"/>
            <a:ext cx="7443216" cy="438912"/>
          </a:xfrm>
          <a:prstGeom prst="roundRect">
            <a:avLst>
              <a:gd name="adj" fmla="val 8333"/>
            </a:avLst>
          </a:prstGeom>
          <a:solidFill>
            <a:srgbClr val="2B1520"/>
          </a:solidFill>
          <a:ln w="12700">
            <a:solidFill>
              <a:srgbClr val="6E2530"/>
            </a:solidFill>
            <a:prstDash val="solid"/>
          </a:ln>
        </p:spPr>
      </p:sp>
      <p:sp>
        <p:nvSpPr>
          <p:cNvPr id="21" name="Text 19"/>
          <p:cNvSpPr/>
          <p:nvPr/>
        </p:nvSpPr>
        <p:spPr>
          <a:xfrm>
            <a:off x="786384" y="2340864"/>
            <a:ext cx="1188720" cy="201168"/>
          </a:xfrm>
          <a:prstGeom prst="rect">
            <a:avLst/>
          </a:prstGeom>
          <a:noFill/>
          <a:ln/>
        </p:spPr>
        <p:txBody>
          <a:bodyPr wrap="square" lIns="0" tIns="0" rIns="0" bIns="0" rtlCol="0" anchor="t"/>
          <a:lstStyle/>
          <a:p>
            <a:pPr indent="0" marL="0">
              <a:buNone/>
            </a:pPr>
            <a:r>
              <a:rPr lang="en-US" sz="1000" dirty="0">
                <a:solidFill>
                  <a:srgbClr val="EAF1FA"/>
                </a:solidFill>
                <a:latin typeface="Courier New" pitchFamily="34" charset="0"/>
                <a:ea typeface="Courier New" pitchFamily="34" charset="-122"/>
                <a:cs typeface="Courier New" pitchFamily="34" charset="-120"/>
              </a:rPr>
              <a:t>DEC-1042</a:t>
            </a:r>
            <a:endParaRPr lang="en-US" sz="1000" dirty="0"/>
          </a:p>
        </p:txBody>
      </p:sp>
      <p:sp>
        <p:nvSpPr>
          <p:cNvPr id="22" name="Text 20"/>
          <p:cNvSpPr/>
          <p:nvPr/>
        </p:nvSpPr>
        <p:spPr>
          <a:xfrm>
            <a:off x="2048256" y="2340864"/>
            <a:ext cx="960120" cy="201168"/>
          </a:xfrm>
          <a:prstGeom prst="rect">
            <a:avLst/>
          </a:prstGeom>
          <a:noFill/>
          <a:ln/>
        </p:spPr>
        <p:txBody>
          <a:bodyPr wrap="square" lIns="0" tIns="0" rIns="0" bIns="0" rtlCol="0" anchor="t"/>
          <a:lstStyle/>
          <a:p>
            <a:pPr indent="0" marL="0">
              <a:buNone/>
            </a:pPr>
            <a:r>
              <a:rPr lang="en-US" sz="1000" dirty="0">
                <a:solidFill>
                  <a:srgbClr val="EAF1FA"/>
                </a:solidFill>
                <a:latin typeface="Courier New" pitchFamily="34" charset="0"/>
                <a:ea typeface="Courier New" pitchFamily="34" charset="-122"/>
                <a:cs typeface="Courier New" pitchFamily="34" charset="-120"/>
              </a:rPr>
              <a:t>SKU-0001</a:t>
            </a:r>
            <a:endParaRPr lang="en-US" sz="1000" dirty="0"/>
          </a:p>
        </p:txBody>
      </p:sp>
      <p:sp>
        <p:nvSpPr>
          <p:cNvPr id="23" name="Text 21"/>
          <p:cNvSpPr/>
          <p:nvPr/>
        </p:nvSpPr>
        <p:spPr>
          <a:xfrm>
            <a:off x="3063240" y="2331720"/>
            <a:ext cx="1783080" cy="219456"/>
          </a:xfrm>
          <a:prstGeom prst="rect">
            <a:avLst/>
          </a:prstGeom>
          <a:noFill/>
          <a:ln/>
        </p:spPr>
        <p:txBody>
          <a:bodyPr wrap="square" lIns="0" tIns="0" rIns="0" bIns="0" rtlCol="0" anchor="t"/>
          <a:lstStyle/>
          <a:p>
            <a:pPr indent="0" marL="0">
              <a:buNone/>
            </a:pPr>
            <a:r>
              <a:rPr lang="en-US" sz="1050" dirty="0">
                <a:solidFill>
                  <a:srgbClr val="6E8299"/>
                </a:solidFill>
                <a:latin typeface="Courier New" pitchFamily="34" charset="0"/>
                <a:ea typeface="Courier New" pitchFamily="34" charset="-122"/>
                <a:cs typeface="Courier New" pitchFamily="34" charset="-120"/>
              </a:rPr>
              <a:t>₹313.40</a:t>
            </a:r>
            <a:pPr indent="0" marL="0">
              <a:buNone/>
            </a:pPr>
            <a:r>
              <a:rPr lang="en-US" sz="1050" dirty="0">
                <a:solidFill>
                  <a:srgbClr val="6E8299"/>
                </a:solidFill>
                <a:latin typeface="Courier New" pitchFamily="34" charset="0"/>
                <a:ea typeface="Courier New" pitchFamily="34" charset="-122"/>
                <a:cs typeface="Courier New" pitchFamily="34" charset="-120"/>
              </a:rPr>
              <a:t>  →  </a:t>
            </a:r>
            <a:pPr indent="0" marL="0">
              <a:buNone/>
            </a:pPr>
            <a:r>
              <a:rPr lang="en-US" sz="1050" b="1" dirty="0">
                <a:solidFill>
                  <a:srgbClr val="E5484D"/>
                </a:solidFill>
                <a:latin typeface="Courier New" pitchFamily="34" charset="0"/>
                <a:ea typeface="Courier New" pitchFamily="34" charset="-122"/>
                <a:cs typeface="Courier New" pitchFamily="34" charset="-120"/>
              </a:rPr>
              <a:t>₹563.58</a:t>
            </a:r>
            <a:endParaRPr lang="en-US" sz="1050" dirty="0"/>
          </a:p>
        </p:txBody>
      </p:sp>
      <p:sp>
        <p:nvSpPr>
          <p:cNvPr id="24" name="Text 22"/>
          <p:cNvSpPr/>
          <p:nvPr/>
        </p:nvSpPr>
        <p:spPr>
          <a:xfrm>
            <a:off x="4892040" y="2350008"/>
            <a:ext cx="1600200" cy="201168"/>
          </a:xfrm>
          <a:prstGeom prst="rect">
            <a:avLst/>
          </a:prstGeom>
          <a:noFill/>
          <a:ln/>
        </p:spPr>
        <p:txBody>
          <a:bodyPr wrap="square" lIns="0" tIns="0" rIns="0" bIns="0" rtlCol="0" anchor="t"/>
          <a:lstStyle/>
          <a:p>
            <a:pPr indent="0" marL="0">
              <a:buNone/>
            </a:pPr>
            <a:r>
              <a:rPr lang="en-US" sz="1000" dirty="0">
                <a:solidFill>
                  <a:srgbClr val="9CB0CB"/>
                </a:solidFill>
                <a:latin typeface="Arial" pitchFamily="34" charset="0"/>
                <a:ea typeface="Arial" pitchFamily="34" charset="-122"/>
                <a:cs typeface="Arial" pitchFamily="34" charset="-120"/>
              </a:rPr>
              <a:t>Competitor ceiling breach</a:t>
            </a:r>
            <a:endParaRPr lang="en-US" sz="1000" dirty="0"/>
          </a:p>
        </p:txBody>
      </p:sp>
      <p:sp>
        <p:nvSpPr>
          <p:cNvPr id="25" name="Shape 23"/>
          <p:cNvSpPr/>
          <p:nvPr/>
        </p:nvSpPr>
        <p:spPr>
          <a:xfrm>
            <a:off x="6547104" y="2313432"/>
            <a:ext cx="694944" cy="237744"/>
          </a:xfrm>
          <a:prstGeom prst="roundRect">
            <a:avLst>
              <a:gd name="adj" fmla="val 192308"/>
            </a:avLst>
          </a:prstGeom>
          <a:solidFill>
            <a:srgbClr val="2B1520"/>
          </a:solidFill>
          <a:ln w="12700">
            <a:solidFill>
              <a:srgbClr val="6E2530"/>
            </a:solidFill>
            <a:prstDash val="solid"/>
          </a:ln>
        </p:spPr>
      </p:sp>
      <p:sp>
        <p:nvSpPr>
          <p:cNvPr id="26" name="Text 24"/>
          <p:cNvSpPr/>
          <p:nvPr/>
        </p:nvSpPr>
        <p:spPr>
          <a:xfrm>
            <a:off x="6547104" y="2340864"/>
            <a:ext cx="694944" cy="182880"/>
          </a:xfrm>
          <a:prstGeom prst="rect">
            <a:avLst/>
          </a:prstGeom>
          <a:noFill/>
          <a:ln/>
        </p:spPr>
        <p:txBody>
          <a:bodyPr wrap="square" lIns="0" tIns="0" rIns="0" bIns="0" rtlCol="0" anchor="t"/>
          <a:lstStyle/>
          <a:p>
            <a:pPr algn="ctr" indent="0" marL="0">
              <a:buNone/>
            </a:pPr>
            <a:r>
              <a:rPr lang="en-US" sz="900" b="1" spc="80" kern="0" dirty="0">
                <a:solidFill>
                  <a:srgbClr val="E5484D"/>
                </a:solidFill>
                <a:latin typeface="Arial" pitchFamily="34" charset="0"/>
                <a:ea typeface="Arial" pitchFamily="34" charset="-122"/>
                <a:cs typeface="Arial" pitchFamily="34" charset="-120"/>
              </a:rPr>
              <a:t>HIGH</a:t>
            </a:r>
            <a:endParaRPr lang="en-US" sz="900" dirty="0"/>
          </a:p>
        </p:txBody>
      </p:sp>
      <p:sp>
        <p:nvSpPr>
          <p:cNvPr id="27" name="Text 25"/>
          <p:cNvSpPr/>
          <p:nvPr/>
        </p:nvSpPr>
        <p:spPr>
          <a:xfrm>
            <a:off x="7296912" y="2350008"/>
            <a:ext cx="731520" cy="201168"/>
          </a:xfrm>
          <a:prstGeom prst="rect">
            <a:avLst/>
          </a:prstGeom>
          <a:noFill/>
          <a:ln/>
        </p:spPr>
        <p:txBody>
          <a:bodyPr wrap="square" lIns="0" tIns="0" rIns="0" bIns="0" rtlCol="0" anchor="t"/>
          <a:lstStyle/>
          <a:p>
            <a:pPr algn="r" indent="0" marL="0">
              <a:buNone/>
            </a:pPr>
            <a:r>
              <a:rPr lang="en-US" sz="1000" b="1" dirty="0">
                <a:solidFill>
                  <a:srgbClr val="E5484D"/>
                </a:solidFill>
                <a:latin typeface="Courier New" pitchFamily="34" charset="0"/>
                <a:ea typeface="Courier New" pitchFamily="34" charset="-122"/>
                <a:cs typeface="Courier New" pitchFamily="34" charset="-120"/>
              </a:rPr>
              <a:t>₹1,562.21</a:t>
            </a:r>
            <a:endParaRPr lang="en-US" sz="1000" dirty="0"/>
          </a:p>
        </p:txBody>
      </p:sp>
      <p:sp>
        <p:nvSpPr>
          <p:cNvPr id="28" name="Shape 26"/>
          <p:cNvSpPr/>
          <p:nvPr/>
        </p:nvSpPr>
        <p:spPr>
          <a:xfrm>
            <a:off x="713232" y="2724912"/>
            <a:ext cx="7443216" cy="438912"/>
          </a:xfrm>
          <a:prstGeom prst="roundRect">
            <a:avLst>
              <a:gd name="adj" fmla="val 8333"/>
            </a:avLst>
          </a:prstGeom>
          <a:solidFill>
            <a:srgbClr val="14263F"/>
          </a:solidFill>
          <a:ln w="12700">
            <a:solidFill>
              <a:srgbClr val="1E3454"/>
            </a:solidFill>
            <a:prstDash val="solid"/>
          </a:ln>
        </p:spPr>
      </p:sp>
      <p:sp>
        <p:nvSpPr>
          <p:cNvPr id="29" name="Text 27"/>
          <p:cNvSpPr/>
          <p:nvPr/>
        </p:nvSpPr>
        <p:spPr>
          <a:xfrm>
            <a:off x="786384" y="2852928"/>
            <a:ext cx="1188720" cy="201168"/>
          </a:xfrm>
          <a:prstGeom prst="rect">
            <a:avLst/>
          </a:prstGeom>
          <a:noFill/>
          <a:ln/>
        </p:spPr>
        <p:txBody>
          <a:bodyPr wrap="square" lIns="0" tIns="0" rIns="0" bIns="0" rtlCol="0" anchor="t"/>
          <a:lstStyle/>
          <a:p>
            <a:pPr indent="0" marL="0">
              <a:buNone/>
            </a:pPr>
            <a:r>
              <a:rPr lang="en-US" sz="1000" dirty="0">
                <a:solidFill>
                  <a:srgbClr val="9CB0CB"/>
                </a:solidFill>
                <a:latin typeface="Courier New" pitchFamily="34" charset="0"/>
                <a:ea typeface="Courier New" pitchFamily="34" charset="-122"/>
                <a:cs typeface="Courier New" pitchFamily="34" charset="-120"/>
              </a:rPr>
              <a:t>DEC-1039</a:t>
            </a:r>
            <a:endParaRPr lang="en-US" sz="1000" dirty="0"/>
          </a:p>
        </p:txBody>
      </p:sp>
      <p:sp>
        <p:nvSpPr>
          <p:cNvPr id="30" name="Text 28"/>
          <p:cNvSpPr/>
          <p:nvPr/>
        </p:nvSpPr>
        <p:spPr>
          <a:xfrm>
            <a:off x="2048256" y="2852928"/>
            <a:ext cx="960120" cy="201168"/>
          </a:xfrm>
          <a:prstGeom prst="rect">
            <a:avLst/>
          </a:prstGeom>
          <a:noFill/>
          <a:ln/>
        </p:spPr>
        <p:txBody>
          <a:bodyPr wrap="square" lIns="0" tIns="0" rIns="0" bIns="0" rtlCol="0" anchor="t"/>
          <a:lstStyle/>
          <a:p>
            <a:pPr indent="0" marL="0">
              <a:buNone/>
            </a:pPr>
            <a:r>
              <a:rPr lang="en-US" sz="1000" dirty="0">
                <a:solidFill>
                  <a:srgbClr val="9CB0CB"/>
                </a:solidFill>
                <a:latin typeface="Courier New" pitchFamily="34" charset="0"/>
                <a:ea typeface="Courier New" pitchFamily="34" charset="-122"/>
                <a:cs typeface="Courier New" pitchFamily="34" charset="-120"/>
              </a:rPr>
              <a:t>SKU-0117</a:t>
            </a:r>
            <a:endParaRPr lang="en-US" sz="1000" dirty="0"/>
          </a:p>
        </p:txBody>
      </p:sp>
      <p:sp>
        <p:nvSpPr>
          <p:cNvPr id="31" name="Text 29"/>
          <p:cNvSpPr/>
          <p:nvPr/>
        </p:nvSpPr>
        <p:spPr>
          <a:xfrm>
            <a:off x="3063240" y="2843784"/>
            <a:ext cx="1783080" cy="219456"/>
          </a:xfrm>
          <a:prstGeom prst="rect">
            <a:avLst/>
          </a:prstGeom>
          <a:noFill/>
          <a:ln/>
        </p:spPr>
        <p:txBody>
          <a:bodyPr wrap="square" lIns="0" tIns="0" rIns="0" bIns="0" rtlCol="0" anchor="t"/>
          <a:lstStyle/>
          <a:p>
            <a:pPr indent="0" marL="0">
              <a:buNone/>
            </a:pPr>
            <a:r>
              <a:rPr lang="en-US" sz="1050" dirty="0">
                <a:solidFill>
                  <a:srgbClr val="6E8299"/>
                </a:solidFill>
                <a:latin typeface="Courier New" pitchFamily="34" charset="0"/>
                <a:ea typeface="Courier New" pitchFamily="34" charset="-122"/>
                <a:cs typeface="Courier New" pitchFamily="34" charset="-120"/>
              </a:rPr>
              <a:t>₹899.00</a:t>
            </a:r>
            <a:pPr indent="0" marL="0">
              <a:buNone/>
            </a:pPr>
            <a:r>
              <a:rPr lang="en-US" sz="1050" dirty="0">
                <a:solidFill>
                  <a:srgbClr val="6E8299"/>
                </a:solidFill>
                <a:latin typeface="Courier New" pitchFamily="34" charset="0"/>
                <a:ea typeface="Courier New" pitchFamily="34" charset="-122"/>
                <a:cs typeface="Courier New" pitchFamily="34" charset="-120"/>
              </a:rPr>
              <a:t>  →  </a:t>
            </a:r>
            <a:pPr indent="0" marL="0">
              <a:buNone/>
            </a:pPr>
            <a:r>
              <a:rPr lang="en-US" sz="1050" b="1" dirty="0">
                <a:solidFill>
                  <a:srgbClr val="F2A93B"/>
                </a:solidFill>
                <a:latin typeface="Courier New" pitchFamily="34" charset="0"/>
                <a:ea typeface="Courier New" pitchFamily="34" charset="-122"/>
                <a:cs typeface="Courier New" pitchFamily="34" charset="-120"/>
              </a:rPr>
              <a:t>₹742.05</a:t>
            </a:r>
            <a:endParaRPr lang="en-US" sz="1050" dirty="0"/>
          </a:p>
        </p:txBody>
      </p:sp>
      <p:sp>
        <p:nvSpPr>
          <p:cNvPr id="32" name="Text 30"/>
          <p:cNvSpPr/>
          <p:nvPr/>
        </p:nvSpPr>
        <p:spPr>
          <a:xfrm>
            <a:off x="4892040" y="2862072"/>
            <a:ext cx="1600200" cy="201168"/>
          </a:xfrm>
          <a:prstGeom prst="rect">
            <a:avLst/>
          </a:prstGeom>
          <a:noFill/>
          <a:ln/>
        </p:spPr>
        <p:txBody>
          <a:bodyPr wrap="square" lIns="0" tIns="0" rIns="0" bIns="0" rtlCol="0" anchor="t"/>
          <a:lstStyle/>
          <a:p>
            <a:pPr indent="0" marL="0">
              <a:buNone/>
            </a:pPr>
            <a:r>
              <a:rPr lang="en-US" sz="1000" dirty="0">
                <a:solidFill>
                  <a:srgbClr val="9CB0CB"/>
                </a:solidFill>
                <a:latin typeface="Arial" pitchFamily="34" charset="0"/>
                <a:ea typeface="Arial" pitchFamily="34" charset="-122"/>
                <a:cs typeface="Arial" pitchFamily="34" charset="-120"/>
              </a:rPr>
              <a:t>Floor proximity, 2.4σ</a:t>
            </a:r>
            <a:endParaRPr lang="en-US" sz="1000" dirty="0"/>
          </a:p>
        </p:txBody>
      </p:sp>
      <p:sp>
        <p:nvSpPr>
          <p:cNvPr id="33" name="Shape 31"/>
          <p:cNvSpPr/>
          <p:nvPr/>
        </p:nvSpPr>
        <p:spPr>
          <a:xfrm>
            <a:off x="6547104" y="2825496"/>
            <a:ext cx="694944" cy="237744"/>
          </a:xfrm>
          <a:prstGeom prst="roundRect">
            <a:avLst>
              <a:gd name="adj" fmla="val 192308"/>
            </a:avLst>
          </a:prstGeom>
          <a:solidFill>
            <a:srgbClr val="2A2113"/>
          </a:solidFill>
          <a:ln w="12700">
            <a:solidFill>
              <a:srgbClr val="6E5223"/>
            </a:solidFill>
            <a:prstDash val="solid"/>
          </a:ln>
        </p:spPr>
      </p:sp>
      <p:sp>
        <p:nvSpPr>
          <p:cNvPr id="34" name="Text 32"/>
          <p:cNvSpPr/>
          <p:nvPr/>
        </p:nvSpPr>
        <p:spPr>
          <a:xfrm>
            <a:off x="6547104" y="2852928"/>
            <a:ext cx="694944" cy="182880"/>
          </a:xfrm>
          <a:prstGeom prst="rect">
            <a:avLst/>
          </a:prstGeom>
          <a:noFill/>
          <a:ln/>
        </p:spPr>
        <p:txBody>
          <a:bodyPr wrap="square" lIns="0" tIns="0" rIns="0" bIns="0" rtlCol="0" anchor="t"/>
          <a:lstStyle/>
          <a:p>
            <a:pPr algn="ctr" indent="0" marL="0">
              <a:buNone/>
            </a:pPr>
            <a:r>
              <a:rPr lang="en-US" sz="900" b="1" spc="80" kern="0" dirty="0">
                <a:solidFill>
                  <a:srgbClr val="F2A93B"/>
                </a:solidFill>
                <a:latin typeface="Arial" pitchFamily="34" charset="0"/>
                <a:ea typeface="Arial" pitchFamily="34" charset="-122"/>
                <a:cs typeface="Arial" pitchFamily="34" charset="-120"/>
              </a:rPr>
              <a:t>WARN</a:t>
            </a:r>
            <a:endParaRPr lang="en-US" sz="900" dirty="0"/>
          </a:p>
        </p:txBody>
      </p:sp>
      <p:sp>
        <p:nvSpPr>
          <p:cNvPr id="35" name="Text 33"/>
          <p:cNvSpPr/>
          <p:nvPr/>
        </p:nvSpPr>
        <p:spPr>
          <a:xfrm>
            <a:off x="7296912" y="2862072"/>
            <a:ext cx="731520" cy="201168"/>
          </a:xfrm>
          <a:prstGeom prst="rect">
            <a:avLst/>
          </a:prstGeom>
          <a:noFill/>
          <a:ln/>
        </p:spPr>
        <p:txBody>
          <a:bodyPr wrap="square" lIns="0" tIns="0" rIns="0" bIns="0" rtlCol="0" anchor="t"/>
          <a:lstStyle/>
          <a:p>
            <a:pPr algn="r" indent="0" marL="0">
              <a:buNone/>
            </a:pPr>
            <a:r>
              <a:rPr lang="en-US" sz="1000" b="1" dirty="0">
                <a:solidFill>
                  <a:srgbClr val="F2A93B"/>
                </a:solidFill>
                <a:latin typeface="Courier New" pitchFamily="34" charset="0"/>
                <a:ea typeface="Courier New" pitchFamily="34" charset="-122"/>
                <a:cs typeface="Courier New" pitchFamily="34" charset="-120"/>
              </a:rPr>
              <a:t>₹318.40</a:t>
            </a:r>
            <a:endParaRPr lang="en-US" sz="1000" dirty="0"/>
          </a:p>
        </p:txBody>
      </p:sp>
      <p:sp>
        <p:nvSpPr>
          <p:cNvPr id="36" name="Shape 34"/>
          <p:cNvSpPr/>
          <p:nvPr/>
        </p:nvSpPr>
        <p:spPr>
          <a:xfrm>
            <a:off x="713232" y="3236976"/>
            <a:ext cx="7443216" cy="438912"/>
          </a:xfrm>
          <a:prstGeom prst="roundRect">
            <a:avLst>
              <a:gd name="adj" fmla="val 8333"/>
            </a:avLst>
          </a:prstGeom>
          <a:solidFill>
            <a:srgbClr val="14263F"/>
          </a:solidFill>
          <a:ln w="12700">
            <a:solidFill>
              <a:srgbClr val="1E3454"/>
            </a:solidFill>
            <a:prstDash val="solid"/>
          </a:ln>
        </p:spPr>
      </p:sp>
      <p:sp>
        <p:nvSpPr>
          <p:cNvPr id="37" name="Text 35"/>
          <p:cNvSpPr/>
          <p:nvPr/>
        </p:nvSpPr>
        <p:spPr>
          <a:xfrm>
            <a:off x="786384" y="3364992"/>
            <a:ext cx="1188720" cy="201168"/>
          </a:xfrm>
          <a:prstGeom prst="rect">
            <a:avLst/>
          </a:prstGeom>
          <a:noFill/>
          <a:ln/>
        </p:spPr>
        <p:txBody>
          <a:bodyPr wrap="square" lIns="0" tIns="0" rIns="0" bIns="0" rtlCol="0" anchor="t"/>
          <a:lstStyle/>
          <a:p>
            <a:pPr indent="0" marL="0">
              <a:buNone/>
            </a:pPr>
            <a:r>
              <a:rPr lang="en-US" sz="1000" dirty="0">
                <a:solidFill>
                  <a:srgbClr val="9CB0CB"/>
                </a:solidFill>
                <a:latin typeface="Courier New" pitchFamily="34" charset="0"/>
                <a:ea typeface="Courier New" pitchFamily="34" charset="-122"/>
                <a:cs typeface="Courier New" pitchFamily="34" charset="-120"/>
              </a:rPr>
              <a:t>DEC-1036</a:t>
            </a:r>
            <a:endParaRPr lang="en-US" sz="1000" dirty="0"/>
          </a:p>
        </p:txBody>
      </p:sp>
      <p:sp>
        <p:nvSpPr>
          <p:cNvPr id="38" name="Text 36"/>
          <p:cNvSpPr/>
          <p:nvPr/>
        </p:nvSpPr>
        <p:spPr>
          <a:xfrm>
            <a:off x="2048256" y="3364992"/>
            <a:ext cx="960120" cy="201168"/>
          </a:xfrm>
          <a:prstGeom prst="rect">
            <a:avLst/>
          </a:prstGeom>
          <a:noFill/>
          <a:ln/>
        </p:spPr>
        <p:txBody>
          <a:bodyPr wrap="square" lIns="0" tIns="0" rIns="0" bIns="0" rtlCol="0" anchor="t"/>
          <a:lstStyle/>
          <a:p>
            <a:pPr indent="0" marL="0">
              <a:buNone/>
            </a:pPr>
            <a:r>
              <a:rPr lang="en-US" sz="1000" dirty="0">
                <a:solidFill>
                  <a:srgbClr val="9CB0CB"/>
                </a:solidFill>
                <a:latin typeface="Courier New" pitchFamily="34" charset="0"/>
                <a:ea typeface="Courier New" pitchFamily="34" charset="-122"/>
                <a:cs typeface="Courier New" pitchFamily="34" charset="-120"/>
              </a:rPr>
              <a:t>SKU-0042</a:t>
            </a:r>
            <a:endParaRPr lang="en-US" sz="1000" dirty="0"/>
          </a:p>
        </p:txBody>
      </p:sp>
      <p:sp>
        <p:nvSpPr>
          <p:cNvPr id="39" name="Text 37"/>
          <p:cNvSpPr/>
          <p:nvPr/>
        </p:nvSpPr>
        <p:spPr>
          <a:xfrm>
            <a:off x="3063240" y="3355848"/>
            <a:ext cx="1783080" cy="219456"/>
          </a:xfrm>
          <a:prstGeom prst="rect">
            <a:avLst/>
          </a:prstGeom>
          <a:noFill/>
          <a:ln/>
        </p:spPr>
        <p:txBody>
          <a:bodyPr wrap="square" lIns="0" tIns="0" rIns="0" bIns="0" rtlCol="0" anchor="t"/>
          <a:lstStyle/>
          <a:p>
            <a:pPr indent="0" marL="0">
              <a:buNone/>
            </a:pPr>
            <a:r>
              <a:rPr lang="en-US" sz="1050" dirty="0">
                <a:solidFill>
                  <a:srgbClr val="6E8299"/>
                </a:solidFill>
                <a:latin typeface="Courier New" pitchFamily="34" charset="0"/>
                <a:ea typeface="Courier New" pitchFamily="34" charset="-122"/>
                <a:cs typeface="Courier New" pitchFamily="34" charset="-120"/>
              </a:rPr>
              <a:t>₹249.00</a:t>
            </a:r>
            <a:pPr indent="0" marL="0">
              <a:buNone/>
            </a:pPr>
            <a:r>
              <a:rPr lang="en-US" sz="1050" dirty="0">
                <a:solidFill>
                  <a:srgbClr val="6E8299"/>
                </a:solidFill>
                <a:latin typeface="Courier New" pitchFamily="34" charset="0"/>
                <a:ea typeface="Courier New" pitchFamily="34" charset="-122"/>
                <a:cs typeface="Courier New" pitchFamily="34" charset="-120"/>
              </a:rPr>
              <a:t>  →  </a:t>
            </a:r>
            <a:pPr indent="0" marL="0">
              <a:buNone/>
            </a:pPr>
            <a:r>
              <a:rPr lang="en-US" sz="1050" b="1" dirty="0">
                <a:solidFill>
                  <a:srgbClr val="2FBF71"/>
                </a:solidFill>
                <a:latin typeface="Courier New" pitchFamily="34" charset="0"/>
                <a:ea typeface="Courier New" pitchFamily="34" charset="-122"/>
                <a:cs typeface="Courier New" pitchFamily="34" charset="-120"/>
              </a:rPr>
              <a:t>₹259.00</a:t>
            </a:r>
            <a:endParaRPr lang="en-US" sz="1050" dirty="0"/>
          </a:p>
        </p:txBody>
      </p:sp>
      <p:sp>
        <p:nvSpPr>
          <p:cNvPr id="40" name="Text 38"/>
          <p:cNvSpPr/>
          <p:nvPr/>
        </p:nvSpPr>
        <p:spPr>
          <a:xfrm>
            <a:off x="4892040" y="3374136"/>
            <a:ext cx="1600200" cy="201168"/>
          </a:xfrm>
          <a:prstGeom prst="rect">
            <a:avLst/>
          </a:prstGeom>
          <a:noFill/>
          <a:ln/>
        </p:spPr>
        <p:txBody>
          <a:bodyPr wrap="square" lIns="0" tIns="0" rIns="0" bIns="0" rtlCol="0" anchor="t"/>
          <a:lstStyle/>
          <a:p>
            <a:pPr indent="0" marL="0">
              <a:buNone/>
            </a:pPr>
            <a:r>
              <a:rPr lang="en-US" sz="1000" dirty="0">
                <a:solidFill>
                  <a:srgbClr val="9CB0CB"/>
                </a:solidFill>
                <a:latin typeface="Arial" pitchFamily="34" charset="0"/>
                <a:ea typeface="Arial" pitchFamily="34" charset="-122"/>
                <a:cs typeface="Arial" pitchFamily="34" charset="-120"/>
              </a:rPr>
              <a:t>Within policy band</a:t>
            </a:r>
            <a:endParaRPr lang="en-US" sz="1000" dirty="0"/>
          </a:p>
        </p:txBody>
      </p:sp>
      <p:sp>
        <p:nvSpPr>
          <p:cNvPr id="41" name="Shape 39"/>
          <p:cNvSpPr/>
          <p:nvPr/>
        </p:nvSpPr>
        <p:spPr>
          <a:xfrm>
            <a:off x="6547104" y="3337560"/>
            <a:ext cx="694944" cy="237744"/>
          </a:xfrm>
          <a:prstGeom prst="roundRect">
            <a:avLst>
              <a:gd name="adj" fmla="val 192308"/>
            </a:avLst>
          </a:prstGeom>
          <a:solidFill>
            <a:srgbClr val="0F2A20"/>
          </a:solidFill>
          <a:ln w="12700">
            <a:solidFill>
              <a:srgbClr val="24634A"/>
            </a:solidFill>
            <a:prstDash val="solid"/>
          </a:ln>
        </p:spPr>
      </p:sp>
      <p:sp>
        <p:nvSpPr>
          <p:cNvPr id="42" name="Text 40"/>
          <p:cNvSpPr/>
          <p:nvPr/>
        </p:nvSpPr>
        <p:spPr>
          <a:xfrm>
            <a:off x="6547104" y="3364992"/>
            <a:ext cx="694944" cy="182880"/>
          </a:xfrm>
          <a:prstGeom prst="rect">
            <a:avLst/>
          </a:prstGeom>
          <a:noFill/>
          <a:ln/>
        </p:spPr>
        <p:txBody>
          <a:bodyPr wrap="square" lIns="0" tIns="0" rIns="0" bIns="0" rtlCol="0" anchor="t"/>
          <a:lstStyle/>
          <a:p>
            <a:pPr algn="ctr" indent="0" marL="0">
              <a:buNone/>
            </a:pPr>
            <a:r>
              <a:rPr lang="en-US" sz="900" b="1" spc="80" kern="0" dirty="0">
                <a:solidFill>
                  <a:srgbClr val="2FBF71"/>
                </a:solidFill>
                <a:latin typeface="Arial" pitchFamily="34" charset="0"/>
                <a:ea typeface="Arial" pitchFamily="34" charset="-122"/>
                <a:cs typeface="Arial" pitchFamily="34" charset="-120"/>
              </a:rPr>
              <a:t>PASS</a:t>
            </a:r>
            <a:endParaRPr lang="en-US" sz="900" dirty="0"/>
          </a:p>
        </p:txBody>
      </p:sp>
      <p:sp>
        <p:nvSpPr>
          <p:cNvPr id="43" name="Text 41"/>
          <p:cNvSpPr/>
          <p:nvPr/>
        </p:nvSpPr>
        <p:spPr>
          <a:xfrm>
            <a:off x="7296912" y="3374136"/>
            <a:ext cx="731520" cy="201168"/>
          </a:xfrm>
          <a:prstGeom prst="rect">
            <a:avLst/>
          </a:prstGeom>
          <a:noFill/>
          <a:ln/>
        </p:spPr>
        <p:txBody>
          <a:bodyPr wrap="square" lIns="0" tIns="0" rIns="0" bIns="0" rtlCol="0" anchor="t"/>
          <a:lstStyle/>
          <a:p>
            <a:pPr algn="r" indent="0" marL="0">
              <a:buNone/>
            </a:pPr>
            <a:r>
              <a:rPr lang="en-US" sz="1000" b="1" dirty="0">
                <a:solidFill>
                  <a:srgbClr val="2FBF71"/>
                </a:solidFill>
                <a:latin typeface="Courier New" pitchFamily="34" charset="0"/>
                <a:ea typeface="Courier New" pitchFamily="34" charset="-122"/>
                <a:cs typeface="Courier New" pitchFamily="34" charset="-120"/>
              </a:rPr>
              <a:t>₹0.00</a:t>
            </a:r>
            <a:endParaRPr lang="en-US" sz="1000" dirty="0"/>
          </a:p>
        </p:txBody>
      </p:sp>
      <p:sp>
        <p:nvSpPr>
          <p:cNvPr id="44" name="Shape 42"/>
          <p:cNvSpPr/>
          <p:nvPr/>
        </p:nvSpPr>
        <p:spPr>
          <a:xfrm>
            <a:off x="731520" y="3913632"/>
            <a:ext cx="7406640" cy="2075688"/>
          </a:xfrm>
          <a:prstGeom prst="roundRect">
            <a:avLst>
              <a:gd name="adj" fmla="val 1762"/>
            </a:avLst>
          </a:prstGeom>
          <a:solidFill>
            <a:srgbClr val="14263F"/>
          </a:solidFill>
          <a:ln w="12700">
            <a:solidFill>
              <a:srgbClr val="1E3454"/>
            </a:solidFill>
            <a:prstDash val="solid"/>
          </a:ln>
        </p:spPr>
      </p:sp>
      <p:sp>
        <p:nvSpPr>
          <p:cNvPr id="45" name="Text 43"/>
          <p:cNvSpPr/>
          <p:nvPr/>
        </p:nvSpPr>
        <p:spPr>
          <a:xfrm>
            <a:off x="932688" y="4096512"/>
            <a:ext cx="3108960" cy="201168"/>
          </a:xfrm>
          <a:prstGeom prst="rect">
            <a:avLst/>
          </a:prstGeom>
          <a:noFill/>
          <a:ln/>
        </p:spPr>
        <p:txBody>
          <a:bodyPr wrap="square" lIns="0" tIns="0" rIns="0" bIns="0" rtlCol="0" anchor="t"/>
          <a:lstStyle/>
          <a:p>
            <a:pPr indent="0" marL="0">
              <a:buNone/>
            </a:pPr>
            <a:r>
              <a:rPr lang="en-US" sz="900" b="1" spc="110" kern="0" dirty="0">
                <a:solidFill>
                  <a:srgbClr val="6E8299"/>
                </a:solidFill>
                <a:latin typeface="Arial" pitchFamily="34" charset="0"/>
                <a:ea typeface="Arial" pitchFamily="34" charset="-122"/>
                <a:cs typeface="Arial" pitchFamily="34" charset="-120"/>
              </a:rPr>
              <a:t>DECISION DETAIL  ·  DEC-1042</a:t>
            </a:r>
            <a:endParaRPr lang="en-US" sz="900" dirty="0"/>
          </a:p>
        </p:txBody>
      </p:sp>
      <p:sp>
        <p:nvSpPr>
          <p:cNvPr id="46" name="Text 44"/>
          <p:cNvSpPr/>
          <p:nvPr/>
        </p:nvSpPr>
        <p:spPr>
          <a:xfrm>
            <a:off x="932688" y="4389120"/>
            <a:ext cx="3291840" cy="384048"/>
          </a:xfrm>
          <a:prstGeom prst="rect">
            <a:avLst/>
          </a:prstGeom>
          <a:noFill/>
          <a:ln/>
        </p:spPr>
        <p:txBody>
          <a:bodyPr wrap="square" lIns="0" tIns="0" rIns="0" bIns="0" rtlCol="0" anchor="t"/>
          <a:lstStyle/>
          <a:p>
            <a:pPr indent="0" marL="0">
              <a:buNone/>
            </a:pPr>
            <a:r>
              <a:rPr lang="en-US" sz="2100" dirty="0">
                <a:solidFill>
                  <a:srgbClr val="9CB0CB"/>
                </a:solidFill>
                <a:latin typeface="Courier New" pitchFamily="34" charset="0"/>
                <a:ea typeface="Courier New" pitchFamily="34" charset="-122"/>
                <a:cs typeface="Courier New" pitchFamily="34" charset="-120"/>
              </a:rPr>
              <a:t>₹313.40</a:t>
            </a:r>
            <a:pPr indent="0" marL="0">
              <a:buNone/>
            </a:pPr>
            <a:r>
              <a:rPr lang="en-US" sz="2100" dirty="0">
                <a:solidFill>
                  <a:srgbClr val="6E8299"/>
                </a:solidFill>
                <a:latin typeface="Courier New" pitchFamily="34" charset="0"/>
                <a:ea typeface="Courier New" pitchFamily="34" charset="-122"/>
                <a:cs typeface="Courier New" pitchFamily="34" charset="-120"/>
              </a:rPr>
              <a:t>  →  </a:t>
            </a:r>
            <a:pPr indent="0" marL="0">
              <a:buNone/>
            </a:pPr>
            <a:r>
              <a:rPr lang="en-US" sz="2100" b="1" dirty="0">
                <a:solidFill>
                  <a:srgbClr val="E5484D"/>
                </a:solidFill>
                <a:latin typeface="Courier New" pitchFamily="34" charset="0"/>
                <a:ea typeface="Courier New" pitchFamily="34" charset="-122"/>
                <a:cs typeface="Courier New" pitchFamily="34" charset="-120"/>
              </a:rPr>
              <a:t>₹563.58</a:t>
            </a:r>
            <a:endParaRPr lang="en-US" sz="2100" dirty="0"/>
          </a:p>
        </p:txBody>
      </p:sp>
      <p:sp>
        <p:nvSpPr>
          <p:cNvPr id="47" name="Text 45"/>
          <p:cNvSpPr/>
          <p:nvPr/>
        </p:nvSpPr>
        <p:spPr>
          <a:xfrm>
            <a:off x="932688" y="4828032"/>
            <a:ext cx="3566160" cy="219456"/>
          </a:xfrm>
          <a:prstGeom prst="rect">
            <a:avLst/>
          </a:prstGeom>
          <a:noFill/>
          <a:ln/>
        </p:spPr>
        <p:txBody>
          <a:bodyPr wrap="square" lIns="0" tIns="0" rIns="0" bIns="0" rtlCol="0" anchor="t"/>
          <a:lstStyle/>
          <a:p>
            <a:pPr indent="0" marL="0">
              <a:buNone/>
            </a:pPr>
            <a:r>
              <a:rPr lang="en-US" sz="1050" dirty="0">
                <a:solidFill>
                  <a:srgbClr val="9CB0CB"/>
                </a:solidFill>
                <a:latin typeface="Arial" pitchFamily="34" charset="0"/>
                <a:ea typeface="Arial" pitchFamily="34" charset="-122"/>
                <a:cs typeface="Arial" pitchFamily="34" charset="-120"/>
              </a:rPr>
              <a:t>SKU-0001  ·  flagged for competitor ceiling breach</a:t>
            </a:r>
            <a:endParaRPr lang="en-US" sz="1050" dirty="0"/>
          </a:p>
        </p:txBody>
      </p:sp>
      <p:sp>
        <p:nvSpPr>
          <p:cNvPr id="48" name="Text 46"/>
          <p:cNvSpPr/>
          <p:nvPr/>
        </p:nvSpPr>
        <p:spPr>
          <a:xfrm>
            <a:off x="932688" y="5175504"/>
            <a:ext cx="2194560" cy="182880"/>
          </a:xfrm>
          <a:prstGeom prst="rect">
            <a:avLst/>
          </a:prstGeom>
          <a:noFill/>
          <a:ln/>
        </p:spPr>
        <p:txBody>
          <a:bodyPr wrap="square" lIns="0" tIns="0" rIns="0" bIns="0" rtlCol="0" anchor="t"/>
          <a:lstStyle/>
          <a:p>
            <a:pPr indent="0" marL="0">
              <a:buNone/>
            </a:pPr>
            <a:r>
              <a:rPr lang="en-US" sz="800" b="1" spc="90" kern="0" dirty="0">
                <a:solidFill>
                  <a:srgbClr val="6E8299"/>
                </a:solidFill>
                <a:latin typeface="Arial" pitchFamily="34" charset="0"/>
                <a:ea typeface="Arial" pitchFamily="34" charset="-122"/>
                <a:cs typeface="Arial" pitchFamily="34" charset="-120"/>
              </a:rPr>
              <a:t>ESTIMATED REGRET</a:t>
            </a:r>
            <a:endParaRPr lang="en-US" sz="800" dirty="0"/>
          </a:p>
        </p:txBody>
      </p:sp>
      <p:sp>
        <p:nvSpPr>
          <p:cNvPr id="49" name="Text 47"/>
          <p:cNvSpPr/>
          <p:nvPr/>
        </p:nvSpPr>
        <p:spPr>
          <a:xfrm>
            <a:off x="932688" y="5376672"/>
            <a:ext cx="2377440" cy="329184"/>
          </a:xfrm>
          <a:prstGeom prst="rect">
            <a:avLst/>
          </a:prstGeom>
          <a:noFill/>
          <a:ln/>
        </p:spPr>
        <p:txBody>
          <a:bodyPr wrap="square" lIns="0" tIns="0" rIns="0" bIns="0" rtlCol="0" anchor="t"/>
          <a:lstStyle/>
          <a:p>
            <a:pPr indent="0" marL="0">
              <a:buNone/>
            </a:pPr>
            <a:r>
              <a:rPr lang="en-US" sz="2200" b="1" dirty="0">
                <a:solidFill>
                  <a:srgbClr val="E5484D"/>
                </a:solidFill>
                <a:latin typeface="Courier New" pitchFamily="34" charset="0"/>
                <a:ea typeface="Courier New" pitchFamily="34" charset="-122"/>
                <a:cs typeface="Courier New" pitchFamily="34" charset="-120"/>
              </a:rPr>
              <a:t>₹1,562.21</a:t>
            </a:r>
            <a:endParaRPr lang="en-US" sz="2200" dirty="0"/>
          </a:p>
        </p:txBody>
      </p:sp>
      <p:sp>
        <p:nvSpPr>
          <p:cNvPr id="50" name="Text 48"/>
          <p:cNvSpPr/>
          <p:nvPr/>
        </p:nvSpPr>
        <p:spPr>
          <a:xfrm>
            <a:off x="4663440" y="4096512"/>
            <a:ext cx="2926080" cy="182880"/>
          </a:xfrm>
          <a:prstGeom prst="rect">
            <a:avLst/>
          </a:prstGeom>
          <a:noFill/>
          <a:ln/>
        </p:spPr>
        <p:txBody>
          <a:bodyPr wrap="square" lIns="0" tIns="0" rIns="0" bIns="0" rtlCol="0" anchor="t"/>
          <a:lstStyle/>
          <a:p>
            <a:pPr indent="0" marL="0">
              <a:buNone/>
            </a:pPr>
            <a:r>
              <a:rPr lang="en-US" sz="800" b="1" spc="90" kern="0" dirty="0">
                <a:solidFill>
                  <a:srgbClr val="7C6CFF"/>
                </a:solidFill>
                <a:latin typeface="Arial" pitchFamily="34" charset="0"/>
                <a:ea typeface="Arial" pitchFamily="34" charset="-122"/>
                <a:cs typeface="Arial" pitchFamily="34" charset="-120"/>
              </a:rPr>
              <a:t>GROUNDED EXPLANATION</a:t>
            </a:r>
            <a:endParaRPr lang="en-US" sz="800" dirty="0"/>
          </a:p>
        </p:txBody>
      </p:sp>
      <p:sp>
        <p:nvSpPr>
          <p:cNvPr id="51" name="Text 49"/>
          <p:cNvSpPr/>
          <p:nvPr/>
        </p:nvSpPr>
        <p:spPr>
          <a:xfrm>
            <a:off x="4663440" y="4334256"/>
            <a:ext cx="3200400" cy="640080"/>
          </a:xfrm>
          <a:prstGeom prst="rect">
            <a:avLst/>
          </a:prstGeom>
          <a:noFill/>
          <a:ln/>
        </p:spPr>
        <p:txBody>
          <a:bodyPr wrap="square" lIns="0" tIns="0" rIns="0" bIns="0" rtlCol="0" anchor="t"/>
          <a:lstStyle/>
          <a:p>
            <a:pPr indent="0" marL="0">
              <a:lnSpc>
                <a:spcPts val="1300"/>
              </a:lnSpc>
              <a:buNone/>
            </a:pPr>
            <a:r>
              <a:rPr lang="en-US" sz="1050" dirty="0">
                <a:solidFill>
                  <a:srgbClr val="C6D6EA"/>
                </a:solidFill>
                <a:latin typeface="Arial" pitchFamily="34" charset="0"/>
                <a:ea typeface="Arial" pitchFamily="34" charset="-122"/>
                <a:cs typeface="Arial" pitchFamily="34" charset="-120"/>
              </a:rPr>
              <a:t>The new price sits above the competitor ceiling band defined in pricing policy, and matches a prior incident where a spike of this size triggered rollback.</a:t>
            </a:r>
            <a:endParaRPr lang="en-US" sz="1050" dirty="0"/>
          </a:p>
        </p:txBody>
      </p:sp>
      <p:sp>
        <p:nvSpPr>
          <p:cNvPr id="52" name="Text 50"/>
          <p:cNvSpPr/>
          <p:nvPr/>
        </p:nvSpPr>
        <p:spPr>
          <a:xfrm>
            <a:off x="4663440" y="5047488"/>
            <a:ext cx="2926080" cy="182880"/>
          </a:xfrm>
          <a:prstGeom prst="rect">
            <a:avLst/>
          </a:prstGeom>
          <a:noFill/>
          <a:ln/>
        </p:spPr>
        <p:txBody>
          <a:bodyPr wrap="square" lIns="0" tIns="0" rIns="0" bIns="0" rtlCol="0" anchor="t"/>
          <a:lstStyle/>
          <a:p>
            <a:pPr indent="0" marL="0">
              <a:buNone/>
            </a:pPr>
            <a:r>
              <a:rPr lang="en-US" sz="800" b="1" spc="90" kern="0" dirty="0">
                <a:solidFill>
                  <a:srgbClr val="6E8299"/>
                </a:solidFill>
                <a:latin typeface="Arial" pitchFamily="34" charset="0"/>
                <a:ea typeface="Arial" pitchFamily="34" charset="-122"/>
                <a:cs typeface="Arial" pitchFamily="34" charset="-120"/>
              </a:rPr>
              <a:t>EVIDENCE  ·  4 SNIPPETS</a:t>
            </a:r>
            <a:endParaRPr lang="en-US" sz="800" dirty="0"/>
          </a:p>
        </p:txBody>
      </p:sp>
      <p:sp>
        <p:nvSpPr>
          <p:cNvPr id="53" name="Shape 51"/>
          <p:cNvSpPr/>
          <p:nvPr/>
        </p:nvSpPr>
        <p:spPr>
          <a:xfrm>
            <a:off x="4663440" y="5285232"/>
            <a:ext cx="1481328" cy="310896"/>
          </a:xfrm>
          <a:prstGeom prst="roundRect">
            <a:avLst>
              <a:gd name="adj" fmla="val 14706"/>
            </a:avLst>
          </a:prstGeom>
          <a:solidFill>
            <a:srgbClr val="1A1938"/>
          </a:solidFill>
          <a:ln w="12700">
            <a:solidFill>
              <a:srgbClr val="3D3A78"/>
            </a:solidFill>
            <a:prstDash val="solid"/>
          </a:ln>
        </p:spPr>
      </p:sp>
      <p:sp>
        <p:nvSpPr>
          <p:cNvPr id="54" name="Text 52"/>
          <p:cNvSpPr/>
          <p:nvPr/>
        </p:nvSpPr>
        <p:spPr>
          <a:xfrm>
            <a:off x="4663440" y="5358384"/>
            <a:ext cx="1481328" cy="182880"/>
          </a:xfrm>
          <a:prstGeom prst="rect">
            <a:avLst/>
          </a:prstGeom>
          <a:noFill/>
          <a:ln/>
        </p:spPr>
        <p:txBody>
          <a:bodyPr wrap="square" lIns="0" tIns="0" rIns="0" bIns="0" rtlCol="0" anchor="t"/>
          <a:lstStyle/>
          <a:p>
            <a:pPr algn="ctr" indent="0" marL="0">
              <a:buNone/>
            </a:pPr>
            <a:r>
              <a:rPr lang="en-US" sz="950" dirty="0">
                <a:solidFill>
                  <a:srgbClr val="B9BCFF"/>
                </a:solidFill>
                <a:latin typeface="Courier New" pitchFamily="34" charset="0"/>
                <a:ea typeface="Courier New" pitchFamily="34" charset="-122"/>
                <a:cs typeface="Courier New" pitchFamily="34" charset="-120"/>
              </a:rPr>
              <a:t>POL-03 §2.1</a:t>
            </a:r>
            <a:endParaRPr lang="en-US" sz="950" dirty="0"/>
          </a:p>
        </p:txBody>
      </p:sp>
      <p:sp>
        <p:nvSpPr>
          <p:cNvPr id="55" name="Shape 53"/>
          <p:cNvSpPr/>
          <p:nvPr/>
        </p:nvSpPr>
        <p:spPr>
          <a:xfrm>
            <a:off x="6291072" y="5285232"/>
            <a:ext cx="1481328" cy="310896"/>
          </a:xfrm>
          <a:prstGeom prst="roundRect">
            <a:avLst>
              <a:gd name="adj" fmla="val 14706"/>
            </a:avLst>
          </a:prstGeom>
          <a:solidFill>
            <a:srgbClr val="1A1938"/>
          </a:solidFill>
          <a:ln w="12700">
            <a:solidFill>
              <a:srgbClr val="3D3A78"/>
            </a:solidFill>
            <a:prstDash val="solid"/>
          </a:ln>
        </p:spPr>
      </p:sp>
      <p:sp>
        <p:nvSpPr>
          <p:cNvPr id="56" name="Text 54"/>
          <p:cNvSpPr/>
          <p:nvPr/>
        </p:nvSpPr>
        <p:spPr>
          <a:xfrm>
            <a:off x="6291072" y="5358384"/>
            <a:ext cx="1481328" cy="182880"/>
          </a:xfrm>
          <a:prstGeom prst="rect">
            <a:avLst/>
          </a:prstGeom>
          <a:noFill/>
          <a:ln/>
        </p:spPr>
        <p:txBody>
          <a:bodyPr wrap="square" lIns="0" tIns="0" rIns="0" bIns="0" rtlCol="0" anchor="t"/>
          <a:lstStyle/>
          <a:p>
            <a:pPr algn="ctr" indent="0" marL="0">
              <a:buNone/>
            </a:pPr>
            <a:r>
              <a:rPr lang="en-US" sz="950" dirty="0">
                <a:solidFill>
                  <a:srgbClr val="B9BCFF"/>
                </a:solidFill>
                <a:latin typeface="Courier New" pitchFamily="34" charset="0"/>
                <a:ea typeface="Courier New" pitchFamily="34" charset="-122"/>
                <a:cs typeface="Courier New" pitchFamily="34" charset="-120"/>
              </a:rPr>
              <a:t>POL-07 §4.3</a:t>
            </a:r>
            <a:endParaRPr lang="en-US" sz="950" dirty="0"/>
          </a:p>
        </p:txBody>
      </p:sp>
      <p:sp>
        <p:nvSpPr>
          <p:cNvPr id="57" name="Shape 55"/>
          <p:cNvSpPr/>
          <p:nvPr/>
        </p:nvSpPr>
        <p:spPr>
          <a:xfrm>
            <a:off x="4663440" y="5669280"/>
            <a:ext cx="1481328" cy="310896"/>
          </a:xfrm>
          <a:prstGeom prst="roundRect">
            <a:avLst>
              <a:gd name="adj" fmla="val 14706"/>
            </a:avLst>
          </a:prstGeom>
          <a:solidFill>
            <a:srgbClr val="1A1938"/>
          </a:solidFill>
          <a:ln w="12700">
            <a:solidFill>
              <a:srgbClr val="3D3A78"/>
            </a:solidFill>
            <a:prstDash val="solid"/>
          </a:ln>
        </p:spPr>
      </p:sp>
      <p:sp>
        <p:nvSpPr>
          <p:cNvPr id="58" name="Text 56"/>
          <p:cNvSpPr/>
          <p:nvPr/>
        </p:nvSpPr>
        <p:spPr>
          <a:xfrm>
            <a:off x="4663440" y="5742432"/>
            <a:ext cx="1481328" cy="182880"/>
          </a:xfrm>
          <a:prstGeom prst="rect">
            <a:avLst/>
          </a:prstGeom>
          <a:noFill/>
          <a:ln/>
        </p:spPr>
        <p:txBody>
          <a:bodyPr wrap="square" lIns="0" tIns="0" rIns="0" bIns="0" rtlCol="0" anchor="t"/>
          <a:lstStyle/>
          <a:p>
            <a:pPr algn="ctr" indent="0" marL="0">
              <a:buNone/>
            </a:pPr>
            <a:r>
              <a:rPr lang="en-US" sz="950" dirty="0">
                <a:solidFill>
                  <a:srgbClr val="B9BCFF"/>
                </a:solidFill>
                <a:latin typeface="Courier New" pitchFamily="34" charset="0"/>
                <a:ea typeface="Courier New" pitchFamily="34" charset="-122"/>
                <a:cs typeface="Courier New" pitchFamily="34" charset="-120"/>
              </a:rPr>
              <a:t>INC-2024-11</a:t>
            </a:r>
            <a:endParaRPr lang="en-US" sz="950" dirty="0"/>
          </a:p>
        </p:txBody>
      </p:sp>
      <p:sp>
        <p:nvSpPr>
          <p:cNvPr id="59" name="Shape 57"/>
          <p:cNvSpPr/>
          <p:nvPr/>
        </p:nvSpPr>
        <p:spPr>
          <a:xfrm>
            <a:off x="6291072" y="5669280"/>
            <a:ext cx="1481328" cy="310896"/>
          </a:xfrm>
          <a:prstGeom prst="roundRect">
            <a:avLst>
              <a:gd name="adj" fmla="val 14706"/>
            </a:avLst>
          </a:prstGeom>
          <a:solidFill>
            <a:srgbClr val="1A1938"/>
          </a:solidFill>
          <a:ln w="12700">
            <a:solidFill>
              <a:srgbClr val="3D3A78"/>
            </a:solidFill>
            <a:prstDash val="solid"/>
          </a:ln>
        </p:spPr>
      </p:sp>
      <p:sp>
        <p:nvSpPr>
          <p:cNvPr id="60" name="Text 58"/>
          <p:cNvSpPr/>
          <p:nvPr/>
        </p:nvSpPr>
        <p:spPr>
          <a:xfrm>
            <a:off x="6291072" y="5742432"/>
            <a:ext cx="1481328" cy="182880"/>
          </a:xfrm>
          <a:prstGeom prst="rect">
            <a:avLst/>
          </a:prstGeom>
          <a:noFill/>
          <a:ln/>
        </p:spPr>
        <p:txBody>
          <a:bodyPr wrap="square" lIns="0" tIns="0" rIns="0" bIns="0" rtlCol="0" anchor="t"/>
          <a:lstStyle/>
          <a:p>
            <a:pPr algn="ctr" indent="0" marL="0">
              <a:buNone/>
            </a:pPr>
            <a:r>
              <a:rPr lang="en-US" sz="950" dirty="0">
                <a:solidFill>
                  <a:srgbClr val="B9BCFF"/>
                </a:solidFill>
                <a:latin typeface="Courier New" pitchFamily="34" charset="0"/>
                <a:ea typeface="Courier New" pitchFamily="34" charset="-122"/>
                <a:cs typeface="Courier New" pitchFamily="34" charset="-120"/>
              </a:rPr>
              <a:t>INC-2023-04</a:t>
            </a:r>
            <a:endParaRPr lang="en-US" sz="950" dirty="0"/>
          </a:p>
        </p:txBody>
      </p:sp>
      <p:sp>
        <p:nvSpPr>
          <p:cNvPr id="61" name="Shape 59"/>
          <p:cNvSpPr/>
          <p:nvPr/>
        </p:nvSpPr>
        <p:spPr>
          <a:xfrm>
            <a:off x="8549640" y="1298448"/>
            <a:ext cx="3093415" cy="1078992"/>
          </a:xfrm>
          <a:prstGeom prst="roundRect">
            <a:avLst>
              <a:gd name="adj" fmla="val 5085"/>
            </a:avLst>
          </a:prstGeom>
          <a:solidFill>
            <a:srgbClr val="0F1D33"/>
          </a:solidFill>
          <a:ln w="12700">
            <a:solidFill>
              <a:srgbClr val="1E3454"/>
            </a:solidFill>
            <a:prstDash val="solid"/>
          </a:ln>
        </p:spPr>
      </p:sp>
      <p:sp>
        <p:nvSpPr>
          <p:cNvPr id="62" name="Shape 60"/>
          <p:cNvSpPr/>
          <p:nvPr/>
        </p:nvSpPr>
        <p:spPr>
          <a:xfrm>
            <a:off x="8750808" y="1481328"/>
            <a:ext cx="292608" cy="292608"/>
          </a:xfrm>
          <a:prstGeom prst="roundRect">
            <a:avLst>
              <a:gd name="adj" fmla="val 62500"/>
            </a:avLst>
          </a:prstGeom>
          <a:solidFill>
            <a:srgbClr val="2B1520"/>
          </a:solidFill>
          <a:ln w="12700">
            <a:solidFill>
              <a:srgbClr val="6E2530"/>
            </a:solidFill>
            <a:prstDash val="solid"/>
          </a:ln>
        </p:spPr>
      </p:sp>
      <p:sp>
        <p:nvSpPr>
          <p:cNvPr id="63" name="Text 61"/>
          <p:cNvSpPr/>
          <p:nvPr/>
        </p:nvSpPr>
        <p:spPr>
          <a:xfrm>
            <a:off x="8750808" y="1545336"/>
            <a:ext cx="292608" cy="182880"/>
          </a:xfrm>
          <a:prstGeom prst="rect">
            <a:avLst/>
          </a:prstGeom>
          <a:noFill/>
          <a:ln/>
        </p:spPr>
        <p:txBody>
          <a:bodyPr wrap="square" lIns="0" tIns="0" rIns="0" bIns="0" rtlCol="0" anchor="t"/>
          <a:lstStyle/>
          <a:p>
            <a:pPr algn="ctr" indent="0" marL="0">
              <a:buNone/>
            </a:pPr>
            <a:r>
              <a:rPr lang="en-US" sz="1100" b="1" dirty="0">
                <a:solidFill>
                  <a:srgbClr val="E5484D"/>
                </a:solidFill>
                <a:latin typeface="Courier New" pitchFamily="34" charset="0"/>
                <a:ea typeface="Courier New" pitchFamily="34" charset="-122"/>
                <a:cs typeface="Courier New" pitchFamily="34" charset="-120"/>
              </a:rPr>
              <a:t>1</a:t>
            </a:r>
            <a:endParaRPr lang="en-US" sz="1100" dirty="0"/>
          </a:p>
        </p:txBody>
      </p:sp>
      <p:sp>
        <p:nvSpPr>
          <p:cNvPr id="64" name="Text 62"/>
          <p:cNvSpPr/>
          <p:nvPr/>
        </p:nvSpPr>
        <p:spPr>
          <a:xfrm>
            <a:off x="9134856" y="1527048"/>
            <a:ext cx="2307031" cy="219456"/>
          </a:xfrm>
          <a:prstGeom prst="rect">
            <a:avLst/>
          </a:prstGeom>
          <a:noFill/>
          <a:ln/>
        </p:spPr>
        <p:txBody>
          <a:bodyPr wrap="square" lIns="0" tIns="0" rIns="0" bIns="0" rtlCol="0" anchor="t"/>
          <a:lstStyle/>
          <a:p>
            <a:pPr indent="0" marL="0">
              <a:buNone/>
            </a:pPr>
            <a:r>
              <a:rPr lang="en-US" sz="1250" b="1" dirty="0">
                <a:solidFill>
                  <a:srgbClr val="EAF1FA"/>
                </a:solidFill>
                <a:latin typeface="Arial" pitchFamily="34" charset="0"/>
                <a:ea typeface="Arial" pitchFamily="34" charset="-122"/>
                <a:cs typeface="Arial" pitchFamily="34" charset="-120"/>
              </a:rPr>
              <a:t>Flag detected</a:t>
            </a:r>
            <a:endParaRPr lang="en-US" sz="1250" dirty="0"/>
          </a:p>
        </p:txBody>
      </p:sp>
      <p:sp>
        <p:nvSpPr>
          <p:cNvPr id="65" name="Text 63"/>
          <p:cNvSpPr/>
          <p:nvPr/>
        </p:nvSpPr>
        <p:spPr>
          <a:xfrm>
            <a:off x="8750808" y="1847088"/>
            <a:ext cx="2691079" cy="457200"/>
          </a:xfrm>
          <a:prstGeom prst="rect">
            <a:avLst/>
          </a:prstGeom>
          <a:noFill/>
          <a:ln/>
        </p:spPr>
        <p:txBody>
          <a:bodyPr wrap="square" lIns="0" tIns="0" rIns="0" bIns="0" rtlCol="0" anchor="t"/>
          <a:lstStyle/>
          <a:p>
            <a:pPr indent="0" marL="0">
              <a:lnSpc>
                <a:spcPts val="1300"/>
              </a:lnSpc>
              <a:buNone/>
            </a:pPr>
            <a:r>
              <a:rPr lang="en-US" sz="1050" dirty="0">
                <a:solidFill>
                  <a:srgbClr val="9CB0CB"/>
                </a:solidFill>
                <a:latin typeface="Arial" pitchFamily="34" charset="0"/>
                <a:ea typeface="Arial" pitchFamily="34" charset="-122"/>
                <a:cs typeface="Arial" pitchFamily="34" charset="-120"/>
              </a:rPr>
              <a:t>Guardrail marks the ceiling breach the moment the decision lands.</a:t>
            </a:r>
            <a:endParaRPr lang="en-US" sz="1050" dirty="0"/>
          </a:p>
        </p:txBody>
      </p:sp>
      <p:sp>
        <p:nvSpPr>
          <p:cNvPr id="66" name="Shape 64"/>
          <p:cNvSpPr/>
          <p:nvPr/>
        </p:nvSpPr>
        <p:spPr>
          <a:xfrm>
            <a:off x="8549640" y="2578608"/>
            <a:ext cx="3093415" cy="1078992"/>
          </a:xfrm>
          <a:prstGeom prst="roundRect">
            <a:avLst>
              <a:gd name="adj" fmla="val 5085"/>
            </a:avLst>
          </a:prstGeom>
          <a:solidFill>
            <a:srgbClr val="0F1D33"/>
          </a:solidFill>
          <a:ln w="12700">
            <a:solidFill>
              <a:srgbClr val="1E3454"/>
            </a:solidFill>
            <a:prstDash val="solid"/>
          </a:ln>
        </p:spPr>
      </p:sp>
      <p:sp>
        <p:nvSpPr>
          <p:cNvPr id="67" name="Shape 65"/>
          <p:cNvSpPr/>
          <p:nvPr/>
        </p:nvSpPr>
        <p:spPr>
          <a:xfrm>
            <a:off x="8750808" y="2761488"/>
            <a:ext cx="292608" cy="292608"/>
          </a:xfrm>
          <a:prstGeom prst="roundRect">
            <a:avLst>
              <a:gd name="adj" fmla="val 62500"/>
            </a:avLst>
          </a:prstGeom>
          <a:solidFill>
            <a:srgbClr val="2A2113"/>
          </a:solidFill>
          <a:ln w="12700">
            <a:solidFill>
              <a:srgbClr val="6E5223"/>
            </a:solidFill>
            <a:prstDash val="solid"/>
          </a:ln>
        </p:spPr>
      </p:sp>
      <p:sp>
        <p:nvSpPr>
          <p:cNvPr id="68" name="Text 66"/>
          <p:cNvSpPr/>
          <p:nvPr/>
        </p:nvSpPr>
        <p:spPr>
          <a:xfrm>
            <a:off x="8750808" y="2825496"/>
            <a:ext cx="292608" cy="182880"/>
          </a:xfrm>
          <a:prstGeom prst="rect">
            <a:avLst/>
          </a:prstGeom>
          <a:noFill/>
          <a:ln/>
        </p:spPr>
        <p:txBody>
          <a:bodyPr wrap="square" lIns="0" tIns="0" rIns="0" bIns="0" rtlCol="0" anchor="t"/>
          <a:lstStyle/>
          <a:p>
            <a:pPr algn="ctr" indent="0" marL="0">
              <a:buNone/>
            </a:pPr>
            <a:r>
              <a:rPr lang="en-US" sz="1100" b="1" dirty="0">
                <a:solidFill>
                  <a:srgbClr val="F2A93B"/>
                </a:solidFill>
                <a:latin typeface="Courier New" pitchFamily="34" charset="0"/>
                <a:ea typeface="Courier New" pitchFamily="34" charset="-122"/>
                <a:cs typeface="Courier New" pitchFamily="34" charset="-120"/>
              </a:rPr>
              <a:t>2</a:t>
            </a:r>
            <a:endParaRPr lang="en-US" sz="1100" dirty="0"/>
          </a:p>
        </p:txBody>
      </p:sp>
      <p:sp>
        <p:nvSpPr>
          <p:cNvPr id="69" name="Text 67"/>
          <p:cNvSpPr/>
          <p:nvPr/>
        </p:nvSpPr>
        <p:spPr>
          <a:xfrm>
            <a:off x="9134856" y="2807208"/>
            <a:ext cx="2307031" cy="219456"/>
          </a:xfrm>
          <a:prstGeom prst="rect">
            <a:avLst/>
          </a:prstGeom>
          <a:noFill/>
          <a:ln/>
        </p:spPr>
        <p:txBody>
          <a:bodyPr wrap="square" lIns="0" tIns="0" rIns="0" bIns="0" rtlCol="0" anchor="t"/>
          <a:lstStyle/>
          <a:p>
            <a:pPr indent="0" marL="0">
              <a:buNone/>
            </a:pPr>
            <a:r>
              <a:rPr lang="en-US" sz="1250" b="1" dirty="0">
                <a:solidFill>
                  <a:srgbClr val="EAF1FA"/>
                </a:solidFill>
                <a:latin typeface="Arial" pitchFamily="34" charset="0"/>
                <a:ea typeface="Arial" pitchFamily="34" charset="-122"/>
                <a:cs typeface="Arial" pitchFamily="34" charset="-120"/>
              </a:rPr>
              <a:t>Regret estimated</a:t>
            </a:r>
            <a:endParaRPr lang="en-US" sz="1250" dirty="0"/>
          </a:p>
        </p:txBody>
      </p:sp>
      <p:sp>
        <p:nvSpPr>
          <p:cNvPr id="70" name="Text 68"/>
          <p:cNvSpPr/>
          <p:nvPr/>
        </p:nvSpPr>
        <p:spPr>
          <a:xfrm>
            <a:off x="8750808" y="3127248"/>
            <a:ext cx="2691079" cy="457200"/>
          </a:xfrm>
          <a:prstGeom prst="rect">
            <a:avLst/>
          </a:prstGeom>
          <a:noFill/>
          <a:ln/>
        </p:spPr>
        <p:txBody>
          <a:bodyPr wrap="square" lIns="0" tIns="0" rIns="0" bIns="0" rtlCol="0" anchor="t"/>
          <a:lstStyle/>
          <a:p>
            <a:pPr indent="0" marL="0">
              <a:lnSpc>
                <a:spcPts val="1300"/>
              </a:lnSpc>
              <a:buNone/>
            </a:pPr>
            <a:r>
              <a:rPr lang="en-US" sz="1050" dirty="0">
                <a:solidFill>
                  <a:srgbClr val="9CB0CB"/>
                </a:solidFill>
                <a:latin typeface="Arial" pitchFamily="34" charset="0"/>
                <a:ea typeface="Arial" pitchFamily="34" charset="-122"/>
                <a:cs typeface="Arial" pitchFamily="34" charset="-120"/>
              </a:rPr>
              <a:t>Reward model converts the risky move into a ₹ figure.</a:t>
            </a:r>
            <a:endParaRPr lang="en-US" sz="1050" dirty="0"/>
          </a:p>
        </p:txBody>
      </p:sp>
      <p:sp>
        <p:nvSpPr>
          <p:cNvPr id="71" name="Shape 69"/>
          <p:cNvSpPr/>
          <p:nvPr/>
        </p:nvSpPr>
        <p:spPr>
          <a:xfrm>
            <a:off x="8549640" y="3858768"/>
            <a:ext cx="3093415" cy="1078992"/>
          </a:xfrm>
          <a:prstGeom prst="roundRect">
            <a:avLst>
              <a:gd name="adj" fmla="val 5085"/>
            </a:avLst>
          </a:prstGeom>
          <a:solidFill>
            <a:srgbClr val="0F1D33"/>
          </a:solidFill>
          <a:ln w="12700">
            <a:solidFill>
              <a:srgbClr val="1E3454"/>
            </a:solidFill>
            <a:prstDash val="solid"/>
          </a:ln>
        </p:spPr>
      </p:sp>
      <p:sp>
        <p:nvSpPr>
          <p:cNvPr id="72" name="Shape 70"/>
          <p:cNvSpPr/>
          <p:nvPr/>
        </p:nvSpPr>
        <p:spPr>
          <a:xfrm>
            <a:off x="8750808" y="4041648"/>
            <a:ext cx="292608" cy="292608"/>
          </a:xfrm>
          <a:prstGeom prst="roundRect">
            <a:avLst>
              <a:gd name="adj" fmla="val 62500"/>
            </a:avLst>
          </a:prstGeom>
          <a:solidFill>
            <a:srgbClr val="1A1938"/>
          </a:solidFill>
          <a:ln w="12700">
            <a:solidFill>
              <a:srgbClr val="3D3A78"/>
            </a:solidFill>
            <a:prstDash val="solid"/>
          </a:ln>
        </p:spPr>
      </p:sp>
      <p:sp>
        <p:nvSpPr>
          <p:cNvPr id="73" name="Text 71"/>
          <p:cNvSpPr/>
          <p:nvPr/>
        </p:nvSpPr>
        <p:spPr>
          <a:xfrm>
            <a:off x="8750808" y="4105656"/>
            <a:ext cx="292608" cy="182880"/>
          </a:xfrm>
          <a:prstGeom prst="rect">
            <a:avLst/>
          </a:prstGeom>
          <a:noFill/>
          <a:ln/>
        </p:spPr>
        <p:txBody>
          <a:bodyPr wrap="square" lIns="0" tIns="0" rIns="0" bIns="0" rtlCol="0" anchor="t"/>
          <a:lstStyle/>
          <a:p>
            <a:pPr algn="ctr" indent="0" marL="0">
              <a:buNone/>
            </a:pPr>
            <a:r>
              <a:rPr lang="en-US" sz="1100" b="1" dirty="0">
                <a:solidFill>
                  <a:srgbClr val="7C6CFF"/>
                </a:solidFill>
                <a:latin typeface="Courier New" pitchFamily="34" charset="0"/>
                <a:ea typeface="Courier New" pitchFamily="34" charset="-122"/>
                <a:cs typeface="Courier New" pitchFamily="34" charset="-120"/>
              </a:rPr>
              <a:t>3</a:t>
            </a:r>
            <a:endParaRPr lang="en-US" sz="1100" dirty="0"/>
          </a:p>
        </p:txBody>
      </p:sp>
      <p:sp>
        <p:nvSpPr>
          <p:cNvPr id="74" name="Text 72"/>
          <p:cNvSpPr/>
          <p:nvPr/>
        </p:nvSpPr>
        <p:spPr>
          <a:xfrm>
            <a:off x="9134856" y="4087368"/>
            <a:ext cx="2307031" cy="219456"/>
          </a:xfrm>
          <a:prstGeom prst="rect">
            <a:avLst/>
          </a:prstGeom>
          <a:noFill/>
          <a:ln/>
        </p:spPr>
        <p:txBody>
          <a:bodyPr wrap="square" lIns="0" tIns="0" rIns="0" bIns="0" rtlCol="0" anchor="t"/>
          <a:lstStyle/>
          <a:p>
            <a:pPr indent="0" marL="0">
              <a:buNone/>
            </a:pPr>
            <a:r>
              <a:rPr lang="en-US" sz="1250" b="1" dirty="0">
                <a:solidFill>
                  <a:srgbClr val="EAF1FA"/>
                </a:solidFill>
                <a:latin typeface="Arial" pitchFamily="34" charset="0"/>
                <a:ea typeface="Arial" pitchFamily="34" charset="-122"/>
                <a:cs typeface="Arial" pitchFamily="34" charset="-120"/>
              </a:rPr>
              <a:t>Policy evidence cited</a:t>
            </a:r>
            <a:endParaRPr lang="en-US" sz="1250" dirty="0"/>
          </a:p>
        </p:txBody>
      </p:sp>
      <p:sp>
        <p:nvSpPr>
          <p:cNvPr id="75" name="Text 73"/>
          <p:cNvSpPr/>
          <p:nvPr/>
        </p:nvSpPr>
        <p:spPr>
          <a:xfrm>
            <a:off x="8750808" y="4407408"/>
            <a:ext cx="2691079" cy="457200"/>
          </a:xfrm>
          <a:prstGeom prst="rect">
            <a:avLst/>
          </a:prstGeom>
          <a:noFill/>
          <a:ln/>
        </p:spPr>
        <p:txBody>
          <a:bodyPr wrap="square" lIns="0" tIns="0" rIns="0" bIns="0" rtlCol="0" anchor="t"/>
          <a:lstStyle/>
          <a:p>
            <a:pPr indent="0" marL="0">
              <a:lnSpc>
                <a:spcPts val="1300"/>
              </a:lnSpc>
              <a:buNone/>
            </a:pPr>
            <a:r>
              <a:rPr lang="en-US" sz="1050" dirty="0">
                <a:solidFill>
                  <a:srgbClr val="9CB0CB"/>
                </a:solidFill>
                <a:latin typeface="Arial" pitchFamily="34" charset="0"/>
                <a:ea typeface="Arial" pitchFamily="34" charset="-122"/>
                <a:cs typeface="Arial" pitchFamily="34" charset="-120"/>
              </a:rPr>
              <a:t>RAG layer returns snippets, and refuses unsupported questions.</a:t>
            </a:r>
            <a:endParaRPr lang="en-US" sz="1050" dirty="0"/>
          </a:p>
        </p:txBody>
      </p:sp>
      <p:sp>
        <p:nvSpPr>
          <p:cNvPr id="76" name="Shape 74"/>
          <p:cNvSpPr/>
          <p:nvPr/>
        </p:nvSpPr>
        <p:spPr>
          <a:xfrm>
            <a:off x="8549640" y="5138928"/>
            <a:ext cx="3093415" cy="1078992"/>
          </a:xfrm>
          <a:prstGeom prst="roundRect">
            <a:avLst>
              <a:gd name="adj" fmla="val 5085"/>
            </a:avLst>
          </a:prstGeom>
          <a:solidFill>
            <a:srgbClr val="0F1D33"/>
          </a:solidFill>
          <a:ln w="12700">
            <a:solidFill>
              <a:srgbClr val="1E3454"/>
            </a:solidFill>
            <a:prstDash val="solid"/>
          </a:ln>
        </p:spPr>
      </p:sp>
      <p:sp>
        <p:nvSpPr>
          <p:cNvPr id="77" name="Shape 75"/>
          <p:cNvSpPr/>
          <p:nvPr/>
        </p:nvSpPr>
        <p:spPr>
          <a:xfrm>
            <a:off x="8750808" y="5321808"/>
            <a:ext cx="292608" cy="292608"/>
          </a:xfrm>
          <a:prstGeom prst="roundRect">
            <a:avLst>
              <a:gd name="adj" fmla="val 62500"/>
            </a:avLst>
          </a:prstGeom>
          <a:solidFill>
            <a:srgbClr val="0F2A20"/>
          </a:solidFill>
          <a:ln w="12700">
            <a:solidFill>
              <a:srgbClr val="24634A"/>
            </a:solidFill>
            <a:prstDash val="solid"/>
          </a:ln>
        </p:spPr>
      </p:sp>
      <p:sp>
        <p:nvSpPr>
          <p:cNvPr id="78" name="Text 76"/>
          <p:cNvSpPr/>
          <p:nvPr/>
        </p:nvSpPr>
        <p:spPr>
          <a:xfrm>
            <a:off x="8750808" y="5385816"/>
            <a:ext cx="292608" cy="182880"/>
          </a:xfrm>
          <a:prstGeom prst="rect">
            <a:avLst/>
          </a:prstGeom>
          <a:noFill/>
          <a:ln/>
        </p:spPr>
        <p:txBody>
          <a:bodyPr wrap="square" lIns="0" tIns="0" rIns="0" bIns="0" rtlCol="0" anchor="t"/>
          <a:lstStyle/>
          <a:p>
            <a:pPr algn="ctr" indent="0" marL="0">
              <a:buNone/>
            </a:pPr>
            <a:r>
              <a:rPr lang="en-US" sz="1100" b="1" dirty="0">
                <a:solidFill>
                  <a:srgbClr val="2FBF71"/>
                </a:solidFill>
                <a:latin typeface="Courier New" pitchFamily="34" charset="0"/>
                <a:ea typeface="Courier New" pitchFamily="34" charset="-122"/>
                <a:cs typeface="Courier New" pitchFamily="34" charset="-120"/>
              </a:rPr>
              <a:t>4</a:t>
            </a:r>
            <a:endParaRPr lang="en-US" sz="1100" dirty="0"/>
          </a:p>
        </p:txBody>
      </p:sp>
      <p:sp>
        <p:nvSpPr>
          <p:cNvPr id="79" name="Text 77"/>
          <p:cNvSpPr/>
          <p:nvPr/>
        </p:nvSpPr>
        <p:spPr>
          <a:xfrm>
            <a:off x="9134856" y="5367528"/>
            <a:ext cx="2307031" cy="219456"/>
          </a:xfrm>
          <a:prstGeom prst="rect">
            <a:avLst/>
          </a:prstGeom>
          <a:noFill/>
          <a:ln/>
        </p:spPr>
        <p:txBody>
          <a:bodyPr wrap="square" lIns="0" tIns="0" rIns="0" bIns="0" rtlCol="0" anchor="t"/>
          <a:lstStyle/>
          <a:p>
            <a:pPr indent="0" marL="0">
              <a:buNone/>
            </a:pPr>
            <a:r>
              <a:rPr lang="en-US" sz="1250" b="1" dirty="0">
                <a:solidFill>
                  <a:srgbClr val="EAF1FA"/>
                </a:solidFill>
                <a:latin typeface="Arial" pitchFamily="34" charset="0"/>
                <a:ea typeface="Arial" pitchFamily="34" charset="-122"/>
                <a:cs typeface="Arial" pitchFamily="34" charset="-120"/>
              </a:rPr>
              <a:t>Recommendation ready</a:t>
            </a:r>
            <a:endParaRPr lang="en-US" sz="1250" dirty="0"/>
          </a:p>
        </p:txBody>
      </p:sp>
      <p:sp>
        <p:nvSpPr>
          <p:cNvPr id="80" name="Text 78"/>
          <p:cNvSpPr/>
          <p:nvPr/>
        </p:nvSpPr>
        <p:spPr>
          <a:xfrm>
            <a:off x="8750808" y="5687568"/>
            <a:ext cx="2691079" cy="457200"/>
          </a:xfrm>
          <a:prstGeom prst="rect">
            <a:avLst/>
          </a:prstGeom>
          <a:noFill/>
          <a:ln/>
        </p:spPr>
        <p:txBody>
          <a:bodyPr wrap="square" lIns="0" tIns="0" rIns="0" bIns="0" rtlCol="0" anchor="t"/>
          <a:lstStyle/>
          <a:p>
            <a:pPr indent="0" marL="0">
              <a:lnSpc>
                <a:spcPts val="1300"/>
              </a:lnSpc>
              <a:buNone/>
            </a:pPr>
            <a:r>
              <a:rPr lang="en-US" sz="1050" dirty="0">
                <a:solidFill>
                  <a:srgbClr val="9CB0CB"/>
                </a:solidFill>
                <a:latin typeface="Arial" pitchFamily="34" charset="0"/>
                <a:ea typeface="Arial" pitchFamily="34" charset="-122"/>
                <a:cs typeface="Arial" pitchFamily="34" charset="-120"/>
              </a:rPr>
              <a:t>Reviewer gets one action with the reasoning attached.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548640" y="384048"/>
            <a:ext cx="11094415" cy="237744"/>
          </a:xfrm>
          <a:prstGeom prst="rect">
            <a:avLst/>
          </a:prstGeom>
          <a:noFill/>
          <a:ln/>
        </p:spPr>
        <p:txBody>
          <a:bodyPr wrap="square" lIns="0" tIns="0" rIns="0" bIns="0" rtlCol="0" anchor="t"/>
          <a:lstStyle/>
          <a:p>
            <a:pPr indent="0" marL="0">
              <a:buNone/>
            </a:pPr>
            <a:r>
              <a:rPr lang="en-US" sz="1050" b="1" spc="240" kern="0" dirty="0">
                <a:solidFill>
                  <a:srgbClr val="7C6CFF"/>
                </a:solidFill>
                <a:latin typeface="Arial" pitchFamily="34" charset="0"/>
                <a:ea typeface="Arial" pitchFamily="34" charset="-122"/>
                <a:cs typeface="Arial" pitchFamily="34" charset="-120"/>
              </a:rPr>
              <a:t>RESULTS</a:t>
            </a:r>
            <a:endParaRPr lang="en-US" sz="1050" dirty="0"/>
          </a:p>
        </p:txBody>
      </p:sp>
      <p:sp>
        <p:nvSpPr>
          <p:cNvPr id="3" name="Text 1"/>
          <p:cNvSpPr/>
          <p:nvPr/>
        </p:nvSpPr>
        <p:spPr>
          <a:xfrm>
            <a:off x="548640" y="658368"/>
            <a:ext cx="11094415" cy="566928"/>
          </a:xfrm>
          <a:prstGeom prst="rect">
            <a:avLst/>
          </a:prstGeom>
          <a:noFill/>
          <a:ln/>
        </p:spPr>
        <p:txBody>
          <a:bodyPr wrap="square" lIns="0" tIns="0" rIns="0" bIns="0" rtlCol="0" anchor="t"/>
          <a:lstStyle/>
          <a:p>
            <a:pPr indent="0" marL="0">
              <a:buNone/>
            </a:pPr>
            <a:r>
              <a:rPr lang="en-US" sz="3200" b="1" spc="-30" kern="0" dirty="0">
                <a:solidFill>
                  <a:srgbClr val="EAF1FA"/>
                </a:solidFill>
                <a:latin typeface="Arial" pitchFamily="34" charset="0"/>
                <a:ea typeface="Arial" pitchFamily="34" charset="-122"/>
                <a:cs typeface="Arial" pitchFamily="34" charset="-120"/>
              </a:rPr>
              <a:t>What we achieved</a:t>
            </a:r>
            <a:endParaRPr lang="en-US" sz="3200" dirty="0"/>
          </a:p>
        </p:txBody>
      </p:sp>
      <p:sp>
        <p:nvSpPr>
          <p:cNvPr id="4" name="Text 2"/>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07</a:t>
            </a:r>
            <a:endParaRPr lang="en-US" sz="950" dirty="0"/>
          </a:p>
        </p:txBody>
      </p:sp>
      <p:sp>
        <p:nvSpPr>
          <p:cNvPr id="5" name="Shape 3"/>
          <p:cNvSpPr/>
          <p:nvPr/>
        </p:nvSpPr>
        <p:spPr>
          <a:xfrm>
            <a:off x="548640" y="1298448"/>
            <a:ext cx="1627632" cy="1005840"/>
          </a:xfrm>
          <a:prstGeom prst="roundRect">
            <a:avLst>
              <a:gd name="adj" fmla="val 5455"/>
            </a:avLst>
          </a:prstGeom>
          <a:solidFill>
            <a:srgbClr val="0F1D33"/>
          </a:solidFill>
          <a:ln w="12700">
            <a:solidFill>
              <a:srgbClr val="1E3454"/>
            </a:solidFill>
            <a:prstDash val="solid"/>
          </a:ln>
        </p:spPr>
      </p:sp>
      <p:sp>
        <p:nvSpPr>
          <p:cNvPr id="6" name="Text 4"/>
          <p:cNvSpPr/>
          <p:nvPr/>
        </p:nvSpPr>
        <p:spPr>
          <a:xfrm>
            <a:off x="713232" y="1426464"/>
            <a:ext cx="1298448" cy="384048"/>
          </a:xfrm>
          <a:prstGeom prst="rect">
            <a:avLst/>
          </a:prstGeom>
          <a:noFill/>
          <a:ln/>
        </p:spPr>
        <p:txBody>
          <a:bodyPr wrap="square" lIns="0" tIns="0" rIns="0" bIns="0" rtlCol="0" anchor="t"/>
          <a:lstStyle/>
          <a:p>
            <a:pPr indent="0" marL="0">
              <a:buNone/>
            </a:pPr>
            <a:r>
              <a:rPr lang="en-US" sz="2500" b="1" dirty="0">
                <a:solidFill>
                  <a:srgbClr val="2FBF71"/>
                </a:solidFill>
                <a:latin typeface="Courier New" pitchFamily="34" charset="0"/>
                <a:ea typeface="Courier New" pitchFamily="34" charset="-122"/>
                <a:cs typeface="Courier New" pitchFamily="34" charset="-120"/>
              </a:rPr>
              <a:t>22</a:t>
            </a:r>
            <a:endParaRPr lang="en-US" sz="2500" dirty="0"/>
          </a:p>
        </p:txBody>
      </p:sp>
      <p:sp>
        <p:nvSpPr>
          <p:cNvPr id="7" name="Text 5"/>
          <p:cNvSpPr/>
          <p:nvPr/>
        </p:nvSpPr>
        <p:spPr>
          <a:xfrm>
            <a:off x="713232" y="1847088"/>
            <a:ext cx="1298448" cy="365760"/>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backend tests passing</a:t>
            </a:r>
            <a:endParaRPr lang="en-US" sz="950" dirty="0"/>
          </a:p>
        </p:txBody>
      </p:sp>
      <p:sp>
        <p:nvSpPr>
          <p:cNvPr id="8" name="Shape 6"/>
          <p:cNvSpPr/>
          <p:nvPr/>
        </p:nvSpPr>
        <p:spPr>
          <a:xfrm>
            <a:off x="2395728" y="1298448"/>
            <a:ext cx="1627632" cy="1005840"/>
          </a:xfrm>
          <a:prstGeom prst="roundRect">
            <a:avLst>
              <a:gd name="adj" fmla="val 5455"/>
            </a:avLst>
          </a:prstGeom>
          <a:solidFill>
            <a:srgbClr val="0F1D33"/>
          </a:solidFill>
          <a:ln w="12700">
            <a:solidFill>
              <a:srgbClr val="1E3454"/>
            </a:solidFill>
            <a:prstDash val="solid"/>
          </a:ln>
        </p:spPr>
      </p:sp>
      <p:sp>
        <p:nvSpPr>
          <p:cNvPr id="9" name="Text 7"/>
          <p:cNvSpPr/>
          <p:nvPr/>
        </p:nvSpPr>
        <p:spPr>
          <a:xfrm>
            <a:off x="2560320" y="1426464"/>
            <a:ext cx="1298448" cy="384048"/>
          </a:xfrm>
          <a:prstGeom prst="rect">
            <a:avLst/>
          </a:prstGeom>
          <a:noFill/>
          <a:ln/>
        </p:spPr>
        <p:txBody>
          <a:bodyPr wrap="square" lIns="0" tIns="0" rIns="0" bIns="0" rtlCol="0" anchor="t"/>
          <a:lstStyle/>
          <a:p>
            <a:pPr indent="0" marL="0">
              <a:buNone/>
            </a:pPr>
            <a:r>
              <a:rPr lang="en-US" sz="2500" b="1" dirty="0">
                <a:solidFill>
                  <a:srgbClr val="35C4F0"/>
                </a:solidFill>
                <a:latin typeface="Courier New" pitchFamily="34" charset="0"/>
                <a:ea typeface="Courier New" pitchFamily="34" charset="-122"/>
                <a:cs typeface="Courier New" pitchFamily="34" charset="-120"/>
              </a:rPr>
              <a:t>1,800</a:t>
            </a:r>
            <a:endParaRPr lang="en-US" sz="2500" dirty="0"/>
          </a:p>
        </p:txBody>
      </p:sp>
      <p:sp>
        <p:nvSpPr>
          <p:cNvPr id="10" name="Text 8"/>
          <p:cNvSpPr/>
          <p:nvPr/>
        </p:nvSpPr>
        <p:spPr>
          <a:xfrm>
            <a:off x="2560320" y="1847088"/>
            <a:ext cx="1298448" cy="365760"/>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synthetic history rows seeded</a:t>
            </a:r>
            <a:endParaRPr lang="en-US" sz="950" dirty="0"/>
          </a:p>
        </p:txBody>
      </p:sp>
      <p:sp>
        <p:nvSpPr>
          <p:cNvPr id="11" name="Shape 9"/>
          <p:cNvSpPr/>
          <p:nvPr/>
        </p:nvSpPr>
        <p:spPr>
          <a:xfrm>
            <a:off x="4242816" y="1298448"/>
            <a:ext cx="1627632" cy="1005840"/>
          </a:xfrm>
          <a:prstGeom prst="roundRect">
            <a:avLst>
              <a:gd name="adj" fmla="val 5455"/>
            </a:avLst>
          </a:prstGeom>
          <a:solidFill>
            <a:srgbClr val="0F1D33"/>
          </a:solidFill>
          <a:ln w="12700">
            <a:solidFill>
              <a:srgbClr val="1E3454"/>
            </a:solidFill>
            <a:prstDash val="solid"/>
          </a:ln>
        </p:spPr>
      </p:sp>
      <p:sp>
        <p:nvSpPr>
          <p:cNvPr id="12" name="Text 10"/>
          <p:cNvSpPr/>
          <p:nvPr/>
        </p:nvSpPr>
        <p:spPr>
          <a:xfrm>
            <a:off x="4407408" y="1426464"/>
            <a:ext cx="1298448" cy="384048"/>
          </a:xfrm>
          <a:prstGeom prst="rect">
            <a:avLst/>
          </a:prstGeom>
          <a:noFill/>
          <a:ln/>
        </p:spPr>
        <p:txBody>
          <a:bodyPr wrap="square" lIns="0" tIns="0" rIns="0" bIns="0" rtlCol="0" anchor="t"/>
          <a:lstStyle/>
          <a:p>
            <a:pPr indent="0" marL="0">
              <a:buNone/>
            </a:pPr>
            <a:r>
              <a:rPr lang="en-US" sz="2500" b="1" dirty="0">
                <a:solidFill>
                  <a:srgbClr val="7C6CFF"/>
                </a:solidFill>
                <a:latin typeface="Courier New" pitchFamily="34" charset="0"/>
                <a:ea typeface="Courier New" pitchFamily="34" charset="-122"/>
                <a:cs typeface="Courier New" pitchFamily="34" charset="-120"/>
              </a:rPr>
              <a:t>132</a:t>
            </a:r>
            <a:endParaRPr lang="en-US" sz="2500" dirty="0"/>
          </a:p>
        </p:txBody>
      </p:sp>
      <p:sp>
        <p:nvSpPr>
          <p:cNvPr id="13" name="Text 11"/>
          <p:cNvSpPr/>
          <p:nvPr/>
        </p:nvSpPr>
        <p:spPr>
          <a:xfrm>
            <a:off x="4407408" y="1847088"/>
            <a:ext cx="1298448" cy="365760"/>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policy and incident chunks indexed</a:t>
            </a:r>
            <a:endParaRPr lang="en-US" sz="950" dirty="0"/>
          </a:p>
        </p:txBody>
      </p:sp>
      <p:sp>
        <p:nvSpPr>
          <p:cNvPr id="14" name="Shape 12"/>
          <p:cNvSpPr/>
          <p:nvPr/>
        </p:nvSpPr>
        <p:spPr>
          <a:xfrm>
            <a:off x="6089904" y="1298448"/>
            <a:ext cx="1627632" cy="1005840"/>
          </a:xfrm>
          <a:prstGeom prst="roundRect">
            <a:avLst>
              <a:gd name="adj" fmla="val 5455"/>
            </a:avLst>
          </a:prstGeom>
          <a:solidFill>
            <a:srgbClr val="0F1D33"/>
          </a:solidFill>
          <a:ln w="12700">
            <a:solidFill>
              <a:srgbClr val="1E3454"/>
            </a:solidFill>
            <a:prstDash val="solid"/>
          </a:ln>
        </p:spPr>
      </p:sp>
      <p:sp>
        <p:nvSpPr>
          <p:cNvPr id="15" name="Text 13"/>
          <p:cNvSpPr/>
          <p:nvPr/>
        </p:nvSpPr>
        <p:spPr>
          <a:xfrm>
            <a:off x="6254496" y="1426464"/>
            <a:ext cx="1298448" cy="384048"/>
          </a:xfrm>
          <a:prstGeom prst="rect">
            <a:avLst/>
          </a:prstGeom>
          <a:noFill/>
          <a:ln/>
        </p:spPr>
        <p:txBody>
          <a:bodyPr wrap="square" lIns="0" tIns="0" rIns="0" bIns="0" rtlCol="0" anchor="t"/>
          <a:lstStyle/>
          <a:p>
            <a:pPr indent="0" marL="0">
              <a:buNone/>
            </a:pPr>
            <a:r>
              <a:rPr lang="en-US" sz="2500" b="1" dirty="0">
                <a:solidFill>
                  <a:srgbClr val="2FBF71"/>
                </a:solidFill>
                <a:latin typeface="Courier New" pitchFamily="34" charset="0"/>
                <a:ea typeface="Courier New" pitchFamily="34" charset="-122"/>
                <a:cs typeface="Courier New" pitchFamily="34" charset="-120"/>
              </a:rPr>
              <a:t>✓</a:t>
            </a:r>
            <a:endParaRPr lang="en-US" sz="2500" dirty="0"/>
          </a:p>
        </p:txBody>
      </p:sp>
      <p:sp>
        <p:nvSpPr>
          <p:cNvPr id="16" name="Text 14"/>
          <p:cNvSpPr/>
          <p:nvPr/>
        </p:nvSpPr>
        <p:spPr>
          <a:xfrm>
            <a:off x="6254496" y="1847088"/>
            <a:ext cx="1298448" cy="365760"/>
          </a:xfrm>
          <a:prstGeom prst="rect">
            <a:avLst/>
          </a:prstGeom>
          <a:noFill/>
          <a:ln/>
        </p:spPr>
        <p:txBody>
          <a:bodyPr wrap="square" lIns="0" tIns="0" rIns="0" bIns="0" rtlCol="0" anchor="t"/>
          <a:lstStyle/>
          <a:p>
            <a:pPr indent="0" marL="0">
              <a:lnSpc>
                <a:spcPts val="1200"/>
              </a:lnSpc>
              <a:buNone/>
            </a:pPr>
            <a:r>
              <a:rPr lang="en-US" sz="950" dirty="0">
                <a:solidFill>
                  <a:srgbClr val="9CB0CB"/>
                </a:solidFill>
                <a:latin typeface="Arial" pitchFamily="34" charset="0"/>
                <a:ea typeface="Arial" pitchFamily="34" charset="-122"/>
                <a:cs typeface="Arial" pitchFamily="34" charset="-120"/>
              </a:rPr>
              <a:t>local Exasol Personal schema verified</a:t>
            </a:r>
            <a:endParaRPr lang="en-US" sz="950" dirty="0"/>
          </a:p>
        </p:txBody>
      </p:sp>
      <p:sp>
        <p:nvSpPr>
          <p:cNvPr id="17" name="Shape 15"/>
          <p:cNvSpPr/>
          <p:nvPr/>
        </p:nvSpPr>
        <p:spPr>
          <a:xfrm>
            <a:off x="7936992" y="1298448"/>
            <a:ext cx="3706063" cy="1005840"/>
          </a:xfrm>
          <a:prstGeom prst="roundRect">
            <a:avLst>
              <a:gd name="adj" fmla="val 5455"/>
            </a:avLst>
          </a:prstGeom>
          <a:solidFill>
            <a:srgbClr val="0F2A20"/>
          </a:solidFill>
          <a:ln w="12700">
            <a:solidFill>
              <a:srgbClr val="24634A"/>
            </a:solidFill>
            <a:prstDash val="solid"/>
          </a:ln>
        </p:spPr>
      </p:sp>
      <p:sp>
        <p:nvSpPr>
          <p:cNvPr id="18" name="Shape 16"/>
          <p:cNvSpPr/>
          <p:nvPr/>
        </p:nvSpPr>
        <p:spPr>
          <a:xfrm>
            <a:off x="8156448" y="1517904"/>
            <a:ext cx="100584" cy="100584"/>
          </a:xfrm>
          <a:prstGeom prst="ellipse">
            <a:avLst/>
          </a:prstGeom>
          <a:solidFill>
            <a:srgbClr val="2FBF71"/>
          </a:solidFill>
          <a:ln w="12700">
            <a:solidFill>
              <a:srgbClr val="2FBF71"/>
            </a:solidFill>
            <a:prstDash val="solid"/>
          </a:ln>
        </p:spPr>
      </p:sp>
      <p:sp>
        <p:nvSpPr>
          <p:cNvPr id="19" name="Text 17"/>
          <p:cNvSpPr/>
          <p:nvPr/>
        </p:nvSpPr>
        <p:spPr>
          <a:xfrm>
            <a:off x="8339328" y="1481328"/>
            <a:ext cx="2743200" cy="182880"/>
          </a:xfrm>
          <a:prstGeom prst="rect">
            <a:avLst/>
          </a:prstGeom>
          <a:noFill/>
          <a:ln/>
        </p:spPr>
        <p:txBody>
          <a:bodyPr wrap="square" lIns="0" tIns="0" rIns="0" bIns="0" rtlCol="0" anchor="t"/>
          <a:lstStyle/>
          <a:p>
            <a:pPr indent="0" marL="0">
              <a:buNone/>
            </a:pPr>
            <a:r>
              <a:rPr lang="en-US" sz="850" b="1" spc="110" kern="0" dirty="0">
                <a:solidFill>
                  <a:srgbClr val="2FBF71"/>
                </a:solidFill>
                <a:latin typeface="Arial" pitchFamily="34" charset="0"/>
                <a:ea typeface="Arial" pitchFamily="34" charset="-122"/>
                <a:cs typeface="Arial" pitchFamily="34" charset="-120"/>
              </a:rPr>
              <a:t>LIVE INTEGRATION ENDPOINT</a:t>
            </a:r>
            <a:endParaRPr lang="en-US" sz="850" dirty="0"/>
          </a:p>
        </p:txBody>
      </p:sp>
      <p:sp>
        <p:nvSpPr>
          <p:cNvPr id="20" name="Text 18"/>
          <p:cNvSpPr/>
          <p:nvPr/>
        </p:nvSpPr>
        <p:spPr>
          <a:xfrm>
            <a:off x="8156448" y="1737360"/>
            <a:ext cx="3267151" cy="256032"/>
          </a:xfrm>
          <a:prstGeom prst="rect">
            <a:avLst/>
          </a:prstGeom>
          <a:noFill/>
          <a:ln/>
        </p:spPr>
        <p:txBody>
          <a:bodyPr wrap="square" lIns="0" tIns="0" rIns="0" bIns="0" rtlCol="0" anchor="t"/>
          <a:lstStyle/>
          <a:p>
            <a:pPr indent="0" marL="0">
              <a:buNone/>
            </a:pPr>
            <a:r>
              <a:rPr lang="en-US" sz="1100" b="1" dirty="0">
                <a:solidFill>
                  <a:srgbClr val="EAF1FA"/>
                </a:solidFill>
                <a:latin typeface="Courier New" pitchFamily="34" charset="0"/>
                <a:ea typeface="Courier New" pitchFamily="34" charset="-122"/>
                <a:cs typeface="Courier New" pitchFamily="34" charset="-120"/>
              </a:rPr>
              <a:t>POST /integrations/guardrail-decision</a:t>
            </a:r>
            <a:endParaRPr lang="en-US" sz="1100" dirty="0"/>
          </a:p>
        </p:txBody>
      </p:sp>
      <p:sp>
        <p:nvSpPr>
          <p:cNvPr id="21" name="Text 19"/>
          <p:cNvSpPr/>
          <p:nvPr/>
        </p:nvSpPr>
        <p:spPr>
          <a:xfrm>
            <a:off x="8156448" y="2002536"/>
            <a:ext cx="3267151" cy="201168"/>
          </a:xfrm>
          <a:prstGeom prst="rect">
            <a:avLst/>
          </a:prstGeom>
          <a:noFill/>
          <a:ln/>
        </p:spPr>
        <p:txBody>
          <a:bodyPr wrap="square" lIns="0" tIns="0" rIns="0" bIns="0" rtlCol="0" anchor="t"/>
          <a:lstStyle/>
          <a:p>
            <a:pPr indent="0" marL="0">
              <a:buNone/>
            </a:pPr>
            <a:r>
              <a:rPr lang="en-US" sz="950" dirty="0">
                <a:solidFill>
                  <a:srgbClr val="9CB0CB"/>
                </a:solidFill>
                <a:latin typeface="Arial" pitchFamily="34" charset="0"/>
                <a:ea typeface="Arial" pitchFamily="34" charset="-122"/>
                <a:cs typeface="Arial" pitchFamily="34" charset="-120"/>
              </a:rPr>
              <a:t>accepts guardrail decisions from the simulator</a:t>
            </a:r>
            <a:endParaRPr lang="en-US" sz="950" dirty="0"/>
          </a:p>
        </p:txBody>
      </p:sp>
      <p:sp>
        <p:nvSpPr>
          <p:cNvPr id="22" name="Shape 20"/>
          <p:cNvSpPr/>
          <p:nvPr/>
        </p:nvSpPr>
        <p:spPr>
          <a:xfrm>
            <a:off x="548640" y="2606040"/>
            <a:ext cx="5364328" cy="1828800"/>
          </a:xfrm>
          <a:prstGeom prst="roundRect">
            <a:avLst>
              <a:gd name="adj" fmla="val 3000"/>
            </a:avLst>
          </a:prstGeom>
          <a:solidFill>
            <a:srgbClr val="2B1520"/>
          </a:solidFill>
          <a:ln w="12700">
            <a:solidFill>
              <a:srgbClr val="6E2530"/>
            </a:solidFill>
            <a:prstDash val="solid"/>
          </a:ln>
        </p:spPr>
      </p:sp>
      <p:sp>
        <p:nvSpPr>
          <p:cNvPr id="23" name="Shape 21"/>
          <p:cNvSpPr/>
          <p:nvPr/>
        </p:nvSpPr>
        <p:spPr>
          <a:xfrm>
            <a:off x="786384" y="2798064"/>
            <a:ext cx="347472" cy="347472"/>
          </a:xfrm>
          <a:prstGeom prst="roundRect">
            <a:avLst>
              <a:gd name="adj" fmla="val 73684"/>
            </a:avLst>
          </a:prstGeom>
          <a:solidFill>
            <a:srgbClr val="0B1728"/>
          </a:solidFill>
          <a:ln w="12700">
            <a:solidFill>
              <a:srgbClr val="6E2530"/>
            </a:solidFill>
            <a:prstDash val="solid"/>
          </a:ln>
        </p:spPr>
      </p:sp>
      <p:pic>
        <p:nvPicPr>
          <p:cNvPr id="24" name="Image 0" descr="preencoded.png">    </p:cNvPr>
          <p:cNvPicPr>
            <a:picLocks noChangeAspect="1"/>
          </p:cNvPicPr>
          <p:nvPr/>
        </p:nvPicPr>
        <p:blipFill>
          <a:blip r:embed="rId1"/>
          <a:stretch>
            <a:fillRect/>
          </a:stretch>
        </p:blipFill>
        <p:spPr>
          <a:xfrm>
            <a:off x="876727" y="2888407"/>
            <a:ext cx="166787" cy="166787"/>
          </a:xfrm>
          <a:prstGeom prst="rect">
            <a:avLst/>
          </a:prstGeom>
        </p:spPr>
      </p:pic>
      <p:sp>
        <p:nvSpPr>
          <p:cNvPr id="25" name="Text 22"/>
          <p:cNvSpPr/>
          <p:nvPr/>
        </p:nvSpPr>
        <p:spPr>
          <a:xfrm>
            <a:off x="1243584" y="2834640"/>
            <a:ext cx="1463040" cy="201168"/>
          </a:xfrm>
          <a:prstGeom prst="rect">
            <a:avLst/>
          </a:prstGeom>
          <a:noFill/>
          <a:ln/>
        </p:spPr>
        <p:txBody>
          <a:bodyPr wrap="square" lIns="0" tIns="0" rIns="0" bIns="0" rtlCol="0" anchor="t"/>
          <a:lstStyle/>
          <a:p>
            <a:pPr indent="0" marL="0">
              <a:buNone/>
            </a:pPr>
            <a:r>
              <a:rPr lang="en-US" sz="950" b="1" spc="160" kern="0" dirty="0">
                <a:solidFill>
                  <a:srgbClr val="E5484D"/>
                </a:solidFill>
                <a:latin typeface="Arial" pitchFamily="34" charset="0"/>
                <a:ea typeface="Arial" pitchFamily="34" charset="-122"/>
                <a:cs typeface="Arial" pitchFamily="34" charset="-120"/>
              </a:rPr>
              <a:t>BEFORE</a:t>
            </a:r>
            <a:endParaRPr lang="en-US" sz="950" dirty="0"/>
          </a:p>
        </p:txBody>
      </p:sp>
      <p:sp>
        <p:nvSpPr>
          <p:cNvPr id="26" name="Text 23"/>
          <p:cNvSpPr/>
          <p:nvPr/>
        </p:nvSpPr>
        <p:spPr>
          <a:xfrm>
            <a:off x="1243584" y="3035808"/>
            <a:ext cx="4449928" cy="237744"/>
          </a:xfrm>
          <a:prstGeom prst="rect">
            <a:avLst/>
          </a:prstGeom>
          <a:noFill/>
          <a:ln/>
        </p:spPr>
        <p:txBody>
          <a:bodyPr wrap="square" lIns="0" tIns="0" rIns="0" bIns="0" rtlCol="0" anchor="t"/>
          <a:lstStyle/>
          <a:p>
            <a:pPr indent="0" marL="0">
              <a:buNone/>
            </a:pPr>
            <a:r>
              <a:rPr lang="en-US" sz="1350" b="1" dirty="0">
                <a:solidFill>
                  <a:srgbClr val="EAF1FA"/>
                </a:solidFill>
                <a:latin typeface="Arial" pitchFamily="34" charset="0"/>
                <a:ea typeface="Arial" pitchFamily="34" charset="-122"/>
                <a:cs typeface="Arial" pitchFamily="34" charset="-120"/>
              </a:rPr>
              <a:t>Raw price change plus manual guesswork</a:t>
            </a:r>
            <a:endParaRPr lang="en-US" sz="1350" dirty="0"/>
          </a:p>
        </p:txBody>
      </p:sp>
      <p:sp>
        <p:nvSpPr>
          <p:cNvPr id="27" name="Shape 24"/>
          <p:cNvSpPr/>
          <p:nvPr/>
        </p:nvSpPr>
        <p:spPr>
          <a:xfrm>
            <a:off x="822960" y="3566160"/>
            <a:ext cx="82296" cy="82296"/>
          </a:xfrm>
          <a:prstGeom prst="ellipse">
            <a:avLst/>
          </a:prstGeom>
          <a:solidFill>
            <a:srgbClr val="E5484D"/>
          </a:solidFill>
          <a:ln w="12700">
            <a:solidFill>
              <a:srgbClr val="E5484D"/>
            </a:solidFill>
            <a:prstDash val="solid"/>
          </a:ln>
        </p:spPr>
      </p:sp>
      <p:sp>
        <p:nvSpPr>
          <p:cNvPr id="28" name="Text 25"/>
          <p:cNvSpPr/>
          <p:nvPr/>
        </p:nvSpPr>
        <p:spPr>
          <a:xfrm>
            <a:off x="1042416" y="3493008"/>
            <a:ext cx="4596232"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No severity signal on the change</a:t>
            </a:r>
            <a:endParaRPr lang="en-US" sz="1100" dirty="0"/>
          </a:p>
        </p:txBody>
      </p:sp>
      <p:sp>
        <p:nvSpPr>
          <p:cNvPr id="29" name="Shape 26"/>
          <p:cNvSpPr/>
          <p:nvPr/>
        </p:nvSpPr>
        <p:spPr>
          <a:xfrm>
            <a:off x="822960" y="3877056"/>
            <a:ext cx="82296" cy="82296"/>
          </a:xfrm>
          <a:prstGeom prst="ellipse">
            <a:avLst/>
          </a:prstGeom>
          <a:solidFill>
            <a:srgbClr val="E5484D"/>
          </a:solidFill>
          <a:ln w="12700">
            <a:solidFill>
              <a:srgbClr val="E5484D"/>
            </a:solidFill>
            <a:prstDash val="solid"/>
          </a:ln>
        </p:spPr>
      </p:sp>
      <p:sp>
        <p:nvSpPr>
          <p:cNvPr id="30" name="Text 27"/>
          <p:cNvSpPr/>
          <p:nvPr/>
        </p:nvSpPr>
        <p:spPr>
          <a:xfrm>
            <a:off x="1042416" y="3803904"/>
            <a:ext cx="4596232"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No estimate of what the move costs</a:t>
            </a:r>
            <a:endParaRPr lang="en-US" sz="1100" dirty="0"/>
          </a:p>
        </p:txBody>
      </p:sp>
      <p:sp>
        <p:nvSpPr>
          <p:cNvPr id="31" name="Shape 28"/>
          <p:cNvSpPr/>
          <p:nvPr/>
        </p:nvSpPr>
        <p:spPr>
          <a:xfrm>
            <a:off x="822960" y="4187952"/>
            <a:ext cx="82296" cy="82296"/>
          </a:xfrm>
          <a:prstGeom prst="ellipse">
            <a:avLst/>
          </a:prstGeom>
          <a:solidFill>
            <a:srgbClr val="E5484D"/>
          </a:solidFill>
          <a:ln w="12700">
            <a:solidFill>
              <a:srgbClr val="E5484D"/>
            </a:solidFill>
            <a:prstDash val="solid"/>
          </a:ln>
        </p:spPr>
      </p:sp>
      <p:sp>
        <p:nvSpPr>
          <p:cNvPr id="32" name="Text 29"/>
          <p:cNvSpPr/>
          <p:nvPr/>
        </p:nvSpPr>
        <p:spPr>
          <a:xfrm>
            <a:off x="1042416" y="4114800"/>
            <a:ext cx="4596232"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No evidence trail for the reviewer</a:t>
            </a:r>
            <a:endParaRPr lang="en-US" sz="1100" dirty="0"/>
          </a:p>
        </p:txBody>
      </p:sp>
      <p:sp>
        <p:nvSpPr>
          <p:cNvPr id="33" name="Shape 30"/>
          <p:cNvSpPr/>
          <p:nvPr/>
        </p:nvSpPr>
        <p:spPr>
          <a:xfrm>
            <a:off x="6278728" y="2606040"/>
            <a:ext cx="5364328" cy="1828800"/>
          </a:xfrm>
          <a:prstGeom prst="roundRect">
            <a:avLst>
              <a:gd name="adj" fmla="val 3000"/>
            </a:avLst>
          </a:prstGeom>
          <a:solidFill>
            <a:srgbClr val="0F2A20"/>
          </a:solidFill>
          <a:ln w="12700">
            <a:solidFill>
              <a:srgbClr val="24634A"/>
            </a:solidFill>
            <a:prstDash val="solid"/>
          </a:ln>
        </p:spPr>
      </p:sp>
      <p:sp>
        <p:nvSpPr>
          <p:cNvPr id="34" name="Shape 31"/>
          <p:cNvSpPr/>
          <p:nvPr/>
        </p:nvSpPr>
        <p:spPr>
          <a:xfrm>
            <a:off x="6516472" y="2798064"/>
            <a:ext cx="347472" cy="347472"/>
          </a:xfrm>
          <a:prstGeom prst="roundRect">
            <a:avLst>
              <a:gd name="adj" fmla="val 73684"/>
            </a:avLst>
          </a:prstGeom>
          <a:solidFill>
            <a:srgbClr val="0B1728"/>
          </a:solidFill>
          <a:ln w="12700">
            <a:solidFill>
              <a:srgbClr val="24634A"/>
            </a:solidFill>
            <a:prstDash val="solid"/>
          </a:ln>
        </p:spPr>
      </p:sp>
      <p:pic>
        <p:nvPicPr>
          <p:cNvPr id="35" name="Image 1" descr="preencoded.png">    </p:cNvPr>
          <p:cNvPicPr>
            <a:picLocks noChangeAspect="1"/>
          </p:cNvPicPr>
          <p:nvPr/>
        </p:nvPicPr>
        <p:blipFill>
          <a:blip r:embed="rId2"/>
          <a:stretch>
            <a:fillRect/>
          </a:stretch>
        </p:blipFill>
        <p:spPr>
          <a:xfrm>
            <a:off x="6606814" y="2888407"/>
            <a:ext cx="166787" cy="166787"/>
          </a:xfrm>
          <a:prstGeom prst="rect">
            <a:avLst/>
          </a:prstGeom>
        </p:spPr>
      </p:pic>
      <p:sp>
        <p:nvSpPr>
          <p:cNvPr id="36" name="Text 32"/>
          <p:cNvSpPr/>
          <p:nvPr/>
        </p:nvSpPr>
        <p:spPr>
          <a:xfrm>
            <a:off x="6973672" y="2834640"/>
            <a:ext cx="1463040" cy="201168"/>
          </a:xfrm>
          <a:prstGeom prst="rect">
            <a:avLst/>
          </a:prstGeom>
          <a:noFill/>
          <a:ln/>
        </p:spPr>
        <p:txBody>
          <a:bodyPr wrap="square" lIns="0" tIns="0" rIns="0" bIns="0" rtlCol="0" anchor="t"/>
          <a:lstStyle/>
          <a:p>
            <a:pPr indent="0" marL="0">
              <a:buNone/>
            </a:pPr>
            <a:r>
              <a:rPr lang="en-US" sz="950" b="1" spc="160" kern="0" dirty="0">
                <a:solidFill>
                  <a:srgbClr val="2FBF71"/>
                </a:solidFill>
                <a:latin typeface="Arial" pitchFamily="34" charset="0"/>
                <a:ea typeface="Arial" pitchFamily="34" charset="-122"/>
                <a:cs typeface="Arial" pitchFamily="34" charset="-120"/>
              </a:rPr>
              <a:t>AFTER</a:t>
            </a:r>
            <a:endParaRPr lang="en-US" sz="950" dirty="0"/>
          </a:p>
        </p:txBody>
      </p:sp>
      <p:sp>
        <p:nvSpPr>
          <p:cNvPr id="37" name="Text 33"/>
          <p:cNvSpPr/>
          <p:nvPr/>
        </p:nvSpPr>
        <p:spPr>
          <a:xfrm>
            <a:off x="6973672" y="3035808"/>
            <a:ext cx="4449928" cy="237744"/>
          </a:xfrm>
          <a:prstGeom prst="rect">
            <a:avLst/>
          </a:prstGeom>
          <a:noFill/>
          <a:ln/>
        </p:spPr>
        <p:txBody>
          <a:bodyPr wrap="square" lIns="0" tIns="0" rIns="0" bIns="0" rtlCol="0" anchor="t"/>
          <a:lstStyle/>
          <a:p>
            <a:pPr indent="0" marL="0">
              <a:buNone/>
            </a:pPr>
            <a:r>
              <a:rPr lang="en-US" sz="1350" b="1" dirty="0">
                <a:solidFill>
                  <a:srgbClr val="EAF1FA"/>
                </a:solidFill>
                <a:latin typeface="Arial" pitchFamily="34" charset="0"/>
                <a:ea typeface="Arial" pitchFamily="34" charset="-122"/>
                <a:cs typeface="Arial" pitchFamily="34" charset="-120"/>
              </a:rPr>
              <a:t>Flag, regret in ₹, evidence and recommendation</a:t>
            </a:r>
            <a:endParaRPr lang="en-US" sz="1350" dirty="0"/>
          </a:p>
        </p:txBody>
      </p:sp>
      <p:sp>
        <p:nvSpPr>
          <p:cNvPr id="38" name="Shape 34"/>
          <p:cNvSpPr/>
          <p:nvPr/>
        </p:nvSpPr>
        <p:spPr>
          <a:xfrm>
            <a:off x="6553048" y="3566160"/>
            <a:ext cx="82296" cy="82296"/>
          </a:xfrm>
          <a:prstGeom prst="ellipse">
            <a:avLst/>
          </a:prstGeom>
          <a:solidFill>
            <a:srgbClr val="2FBF71"/>
          </a:solidFill>
          <a:ln w="12700">
            <a:solidFill>
              <a:srgbClr val="2FBF71"/>
            </a:solidFill>
            <a:prstDash val="solid"/>
          </a:ln>
        </p:spPr>
      </p:sp>
      <p:sp>
        <p:nvSpPr>
          <p:cNvPr id="39" name="Text 35"/>
          <p:cNvSpPr/>
          <p:nvPr/>
        </p:nvSpPr>
        <p:spPr>
          <a:xfrm>
            <a:off x="6772504" y="3493008"/>
            <a:ext cx="4596232"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Severity assigned the moment the decision lands</a:t>
            </a:r>
            <a:endParaRPr lang="en-US" sz="1100" dirty="0"/>
          </a:p>
        </p:txBody>
      </p:sp>
      <p:sp>
        <p:nvSpPr>
          <p:cNvPr id="40" name="Shape 36"/>
          <p:cNvSpPr/>
          <p:nvPr/>
        </p:nvSpPr>
        <p:spPr>
          <a:xfrm>
            <a:off x="6553048" y="3877056"/>
            <a:ext cx="82296" cy="82296"/>
          </a:xfrm>
          <a:prstGeom prst="ellipse">
            <a:avLst/>
          </a:prstGeom>
          <a:solidFill>
            <a:srgbClr val="2FBF71"/>
          </a:solidFill>
          <a:ln w="12700">
            <a:solidFill>
              <a:srgbClr val="2FBF71"/>
            </a:solidFill>
            <a:prstDash val="solid"/>
          </a:ln>
        </p:spPr>
      </p:sp>
      <p:sp>
        <p:nvSpPr>
          <p:cNvPr id="41" name="Text 37"/>
          <p:cNvSpPr/>
          <p:nvPr/>
        </p:nvSpPr>
        <p:spPr>
          <a:xfrm>
            <a:off x="6772504" y="3803904"/>
            <a:ext cx="4596232"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Counterfactual regret quantified in ₹</a:t>
            </a:r>
            <a:endParaRPr lang="en-US" sz="1100" dirty="0"/>
          </a:p>
        </p:txBody>
      </p:sp>
      <p:sp>
        <p:nvSpPr>
          <p:cNvPr id="42" name="Shape 38"/>
          <p:cNvSpPr/>
          <p:nvPr/>
        </p:nvSpPr>
        <p:spPr>
          <a:xfrm>
            <a:off x="6553048" y="4187952"/>
            <a:ext cx="82296" cy="82296"/>
          </a:xfrm>
          <a:prstGeom prst="ellipse">
            <a:avLst/>
          </a:prstGeom>
          <a:solidFill>
            <a:srgbClr val="2FBF71"/>
          </a:solidFill>
          <a:ln w="12700">
            <a:solidFill>
              <a:srgbClr val="2FBF71"/>
            </a:solidFill>
            <a:prstDash val="solid"/>
          </a:ln>
        </p:spPr>
      </p:sp>
      <p:sp>
        <p:nvSpPr>
          <p:cNvPr id="43" name="Text 39"/>
          <p:cNvSpPr/>
          <p:nvPr/>
        </p:nvSpPr>
        <p:spPr>
          <a:xfrm>
            <a:off x="6772504" y="4114800"/>
            <a:ext cx="4596232"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Policy snippets cited beside every verdict</a:t>
            </a:r>
            <a:endParaRPr lang="en-US" sz="1100" dirty="0"/>
          </a:p>
        </p:txBody>
      </p:sp>
      <p:sp>
        <p:nvSpPr>
          <p:cNvPr id="44" name="Shape 40"/>
          <p:cNvSpPr/>
          <p:nvPr/>
        </p:nvSpPr>
        <p:spPr>
          <a:xfrm>
            <a:off x="548640" y="4709160"/>
            <a:ext cx="11094415" cy="1463040"/>
          </a:xfrm>
          <a:prstGeom prst="roundRect">
            <a:avLst>
              <a:gd name="adj" fmla="val 3750"/>
            </a:avLst>
          </a:prstGeom>
          <a:solidFill>
            <a:srgbClr val="0F1D33"/>
          </a:solidFill>
          <a:ln w="12700">
            <a:solidFill>
              <a:srgbClr val="1E3454"/>
            </a:solidFill>
            <a:prstDash val="solid"/>
          </a:ln>
        </p:spPr>
      </p:sp>
      <p:sp>
        <p:nvSpPr>
          <p:cNvPr id="45" name="Shape 41"/>
          <p:cNvSpPr/>
          <p:nvPr/>
        </p:nvSpPr>
        <p:spPr>
          <a:xfrm>
            <a:off x="786384" y="4882896"/>
            <a:ext cx="347472" cy="347472"/>
          </a:xfrm>
          <a:prstGeom prst="roundRect">
            <a:avLst>
              <a:gd name="adj" fmla="val 73684"/>
            </a:avLst>
          </a:prstGeom>
          <a:solidFill>
            <a:srgbClr val="1A1938"/>
          </a:solidFill>
          <a:ln w="12700">
            <a:solidFill>
              <a:srgbClr val="3D3A78"/>
            </a:solidFill>
            <a:prstDash val="solid"/>
          </a:ln>
        </p:spPr>
      </p:sp>
      <p:pic>
        <p:nvPicPr>
          <p:cNvPr id="46" name="Image 2" descr="preencoded.png">    </p:cNvPr>
          <p:cNvPicPr>
            <a:picLocks noChangeAspect="1"/>
          </p:cNvPicPr>
          <p:nvPr/>
        </p:nvPicPr>
        <p:blipFill>
          <a:blip r:embed="rId3"/>
          <a:stretch>
            <a:fillRect/>
          </a:stretch>
        </p:blipFill>
        <p:spPr>
          <a:xfrm>
            <a:off x="876727" y="4973239"/>
            <a:ext cx="166787" cy="166787"/>
          </a:xfrm>
          <a:prstGeom prst="rect">
            <a:avLst/>
          </a:prstGeom>
        </p:spPr>
      </p:pic>
      <p:sp>
        <p:nvSpPr>
          <p:cNvPr id="47" name="Text 42"/>
          <p:cNvSpPr/>
          <p:nvPr/>
        </p:nvSpPr>
        <p:spPr>
          <a:xfrm>
            <a:off x="1243584" y="4946904"/>
            <a:ext cx="4572000" cy="237744"/>
          </a:xfrm>
          <a:prstGeom prst="rect">
            <a:avLst/>
          </a:prstGeom>
          <a:noFill/>
          <a:ln/>
        </p:spPr>
        <p:txBody>
          <a:bodyPr wrap="square" lIns="0" tIns="0" rIns="0" bIns="0" rtlCol="0" anchor="t"/>
          <a:lstStyle/>
          <a:p>
            <a:pPr indent="0" marL="0">
              <a:buNone/>
            </a:pPr>
            <a:r>
              <a:rPr lang="en-US" sz="1450" b="1" dirty="0">
                <a:solidFill>
                  <a:srgbClr val="EAF1FA"/>
                </a:solidFill>
                <a:latin typeface="Arial" pitchFamily="34" charset="0"/>
                <a:ea typeface="Arial" pitchFamily="34" charset="-122"/>
                <a:cs typeface="Arial" pitchFamily="34" charset="-120"/>
              </a:rPr>
              <a:t>Impact on the pricing review loop</a:t>
            </a:r>
            <a:endParaRPr lang="en-US" sz="1450" dirty="0"/>
          </a:p>
        </p:txBody>
      </p:sp>
      <p:sp>
        <p:nvSpPr>
          <p:cNvPr id="48" name="Shape 43"/>
          <p:cNvSpPr/>
          <p:nvPr/>
        </p:nvSpPr>
        <p:spPr>
          <a:xfrm>
            <a:off x="822960" y="5431536"/>
            <a:ext cx="82296" cy="82296"/>
          </a:xfrm>
          <a:prstGeom prst="ellipse">
            <a:avLst/>
          </a:prstGeom>
          <a:solidFill>
            <a:srgbClr val="7C6CFF"/>
          </a:solidFill>
          <a:ln w="12700">
            <a:solidFill>
              <a:srgbClr val="7C6CFF"/>
            </a:solidFill>
            <a:prstDash val="solid"/>
          </a:ln>
        </p:spPr>
      </p:sp>
      <p:sp>
        <p:nvSpPr>
          <p:cNvPr id="49" name="Text 44"/>
          <p:cNvSpPr/>
          <p:nvPr/>
        </p:nvSpPr>
        <p:spPr>
          <a:xfrm>
            <a:off x="1024128" y="5358384"/>
            <a:ext cx="502920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Cuts manual review time on flagged moves</a:t>
            </a:r>
            <a:endParaRPr lang="en-US" sz="1100" dirty="0"/>
          </a:p>
        </p:txBody>
      </p:sp>
      <p:sp>
        <p:nvSpPr>
          <p:cNvPr id="50" name="Shape 45"/>
          <p:cNvSpPr/>
          <p:nvPr/>
        </p:nvSpPr>
        <p:spPr>
          <a:xfrm>
            <a:off x="822960" y="5705856"/>
            <a:ext cx="82296" cy="82296"/>
          </a:xfrm>
          <a:prstGeom prst="ellipse">
            <a:avLst/>
          </a:prstGeom>
          <a:solidFill>
            <a:srgbClr val="7C6CFF"/>
          </a:solidFill>
          <a:ln w="12700">
            <a:solidFill>
              <a:srgbClr val="7C6CFF"/>
            </a:solidFill>
            <a:prstDash val="solid"/>
          </a:ln>
        </p:spPr>
      </p:sp>
      <p:sp>
        <p:nvSpPr>
          <p:cNvPr id="51" name="Text 46"/>
          <p:cNvSpPr/>
          <p:nvPr/>
        </p:nvSpPr>
        <p:spPr>
          <a:xfrm>
            <a:off x="1024128" y="5632704"/>
            <a:ext cx="502920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Catches risky price moves before damage compounds</a:t>
            </a:r>
            <a:endParaRPr lang="en-US" sz="1100" dirty="0"/>
          </a:p>
        </p:txBody>
      </p:sp>
      <p:sp>
        <p:nvSpPr>
          <p:cNvPr id="52" name="Shape 47"/>
          <p:cNvSpPr/>
          <p:nvPr/>
        </p:nvSpPr>
        <p:spPr>
          <a:xfrm>
            <a:off x="822960" y="5980176"/>
            <a:ext cx="82296" cy="82296"/>
          </a:xfrm>
          <a:prstGeom prst="ellipse">
            <a:avLst/>
          </a:prstGeom>
          <a:solidFill>
            <a:srgbClr val="7C6CFF"/>
          </a:solidFill>
          <a:ln w="12700">
            <a:solidFill>
              <a:srgbClr val="7C6CFF"/>
            </a:solidFill>
            <a:prstDash val="solid"/>
          </a:ln>
        </p:spPr>
      </p:sp>
      <p:sp>
        <p:nvSpPr>
          <p:cNvPr id="53" name="Text 48"/>
          <p:cNvSpPr/>
          <p:nvPr/>
        </p:nvSpPr>
        <p:spPr>
          <a:xfrm>
            <a:off x="1024128" y="5907024"/>
            <a:ext cx="502920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Gives reviewers evidence instead of black-box alerts</a:t>
            </a:r>
            <a:endParaRPr lang="en-US" sz="1100" dirty="0"/>
          </a:p>
        </p:txBody>
      </p:sp>
      <p:sp>
        <p:nvSpPr>
          <p:cNvPr id="54" name="Shape 49"/>
          <p:cNvSpPr/>
          <p:nvPr/>
        </p:nvSpPr>
        <p:spPr>
          <a:xfrm>
            <a:off x="6309360" y="5431536"/>
            <a:ext cx="82296" cy="82296"/>
          </a:xfrm>
          <a:prstGeom prst="ellipse">
            <a:avLst/>
          </a:prstGeom>
          <a:solidFill>
            <a:srgbClr val="7C6CFF"/>
          </a:solidFill>
          <a:ln w="12700">
            <a:solidFill>
              <a:srgbClr val="7C6CFF"/>
            </a:solidFill>
            <a:prstDash val="solid"/>
          </a:ln>
        </p:spPr>
      </p:sp>
      <p:sp>
        <p:nvSpPr>
          <p:cNvPr id="55" name="Text 50"/>
          <p:cNvSpPr/>
          <p:nvPr/>
        </p:nvSpPr>
        <p:spPr>
          <a:xfrm>
            <a:off x="6510528" y="5358384"/>
            <a:ext cx="502920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Leaves an audit trail for pricing governance</a:t>
            </a:r>
            <a:endParaRPr lang="en-US" sz="1100" dirty="0"/>
          </a:p>
        </p:txBody>
      </p:sp>
      <p:sp>
        <p:nvSpPr>
          <p:cNvPr id="56" name="Shape 51"/>
          <p:cNvSpPr/>
          <p:nvPr/>
        </p:nvSpPr>
        <p:spPr>
          <a:xfrm>
            <a:off x="6309360" y="5705856"/>
            <a:ext cx="82296" cy="82296"/>
          </a:xfrm>
          <a:prstGeom prst="ellipse">
            <a:avLst/>
          </a:prstGeom>
          <a:solidFill>
            <a:srgbClr val="7C6CFF"/>
          </a:solidFill>
          <a:ln w="12700">
            <a:solidFill>
              <a:srgbClr val="7C6CFF"/>
            </a:solidFill>
            <a:prstDash val="solid"/>
          </a:ln>
        </p:spPr>
      </p:sp>
      <p:sp>
        <p:nvSpPr>
          <p:cNvPr id="57" name="Text 52"/>
          <p:cNvSpPr/>
          <p:nvPr/>
        </p:nvSpPr>
        <p:spPr>
          <a:xfrm>
            <a:off x="6510528" y="5632704"/>
            <a:ext cx="5029200" cy="237744"/>
          </a:xfrm>
          <a:prstGeom prst="rect">
            <a:avLst/>
          </a:prstGeom>
          <a:noFill/>
          <a:ln/>
        </p:spPr>
        <p:txBody>
          <a:bodyPr wrap="square" lIns="0" tIns="0" rIns="0" bIns="0" rtlCol="0" anchor="t"/>
          <a:lstStyle/>
          <a:p>
            <a:pPr indent="0" marL="0">
              <a:buNone/>
            </a:pPr>
            <a:r>
              <a:rPr lang="en-US" sz="1100" dirty="0">
                <a:solidFill>
                  <a:srgbClr val="9CB0CB"/>
                </a:solidFill>
                <a:latin typeface="Arial" pitchFamily="34" charset="0"/>
                <a:ea typeface="Arial" pitchFamily="34" charset="-122"/>
                <a:cs typeface="Arial" pitchFamily="34" charset="-120"/>
              </a:rPr>
              <a:t>Answers one question: should this pricing decision be trusted?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222"/>
        </a:solidFill>
      </p:bgPr>
    </p:bg>
    <p:spTree>
      <p:nvGrpSpPr>
        <p:cNvPr id="1" name=""/>
        <p:cNvGrpSpPr/>
        <p:nvPr/>
      </p:nvGrpSpPr>
      <p:grpSpPr>
        <a:xfrm>
          <a:off x="0" y="0"/>
          <a:ext cx="0" cy="0"/>
          <a:chOff x="0" y="0"/>
          <a:chExt cx="0" cy="0"/>
        </a:xfrm>
      </p:grpSpPr>
      <p:sp>
        <p:nvSpPr>
          <p:cNvPr id="2" name="Text 0"/>
          <p:cNvSpPr/>
          <p:nvPr/>
        </p:nvSpPr>
        <p:spPr>
          <a:xfrm>
            <a:off x="548640" y="384048"/>
            <a:ext cx="11094415" cy="237744"/>
          </a:xfrm>
          <a:prstGeom prst="rect">
            <a:avLst/>
          </a:prstGeom>
          <a:noFill/>
          <a:ln/>
        </p:spPr>
        <p:txBody>
          <a:bodyPr wrap="square" lIns="0" tIns="0" rIns="0" bIns="0" rtlCol="0" anchor="t"/>
          <a:lstStyle/>
          <a:p>
            <a:pPr indent="0" marL="0">
              <a:buNone/>
            </a:pPr>
            <a:r>
              <a:rPr lang="en-US" sz="1050" b="1" spc="240" kern="0" dirty="0">
                <a:solidFill>
                  <a:srgbClr val="7C6CFF"/>
                </a:solidFill>
                <a:latin typeface="Arial" pitchFamily="34" charset="0"/>
                <a:ea typeface="Arial" pitchFamily="34" charset="-122"/>
                <a:cs typeface="Arial" pitchFamily="34" charset="-120"/>
              </a:rPr>
              <a:t>WHAT IS NEXT</a:t>
            </a:r>
            <a:endParaRPr lang="en-US" sz="1050" dirty="0"/>
          </a:p>
        </p:txBody>
      </p:sp>
      <p:sp>
        <p:nvSpPr>
          <p:cNvPr id="3" name="Text 1"/>
          <p:cNvSpPr/>
          <p:nvPr/>
        </p:nvSpPr>
        <p:spPr>
          <a:xfrm>
            <a:off x="548640" y="658368"/>
            <a:ext cx="11094415" cy="566928"/>
          </a:xfrm>
          <a:prstGeom prst="rect">
            <a:avLst/>
          </a:prstGeom>
          <a:noFill/>
          <a:ln/>
        </p:spPr>
        <p:txBody>
          <a:bodyPr wrap="square" lIns="0" tIns="0" rIns="0" bIns="0" rtlCol="0" anchor="t"/>
          <a:lstStyle/>
          <a:p>
            <a:pPr indent="0" marL="0">
              <a:buNone/>
            </a:pPr>
            <a:r>
              <a:rPr lang="en-US" sz="3200" b="1" spc="-30" kern="0" dirty="0">
                <a:solidFill>
                  <a:srgbClr val="EAF1FA"/>
                </a:solidFill>
                <a:latin typeface="Arial" pitchFamily="34" charset="0"/>
                <a:ea typeface="Arial" pitchFamily="34" charset="-122"/>
                <a:cs typeface="Arial" pitchFamily="34" charset="-120"/>
              </a:rPr>
              <a:t>Future Scope</a:t>
            </a:r>
            <a:endParaRPr lang="en-US" sz="3200" dirty="0"/>
          </a:p>
        </p:txBody>
      </p:sp>
      <p:sp>
        <p:nvSpPr>
          <p:cNvPr id="4" name="Text 2"/>
          <p:cNvSpPr/>
          <p:nvPr/>
        </p:nvSpPr>
        <p:spPr>
          <a:xfrm>
            <a:off x="11002975" y="6345936"/>
            <a:ext cx="640080" cy="256032"/>
          </a:xfrm>
          <a:prstGeom prst="rect">
            <a:avLst/>
          </a:prstGeom>
          <a:noFill/>
          <a:ln/>
        </p:spPr>
        <p:txBody>
          <a:bodyPr wrap="square" lIns="0" tIns="0" rIns="0" bIns="0" rtlCol="0" anchor="t"/>
          <a:lstStyle/>
          <a:p>
            <a:pPr algn="r" indent="0" marL="0">
              <a:buNone/>
            </a:pPr>
            <a:r>
              <a:rPr lang="en-US" sz="950" dirty="0">
                <a:solidFill>
                  <a:srgbClr val="6E8299"/>
                </a:solidFill>
                <a:latin typeface="Courier New" pitchFamily="34" charset="0"/>
                <a:ea typeface="Courier New" pitchFamily="34" charset="-122"/>
                <a:cs typeface="Courier New" pitchFamily="34" charset="-120"/>
              </a:rPr>
              <a:t>08</a:t>
            </a:r>
            <a:endParaRPr lang="en-US" sz="950" dirty="0"/>
          </a:p>
        </p:txBody>
      </p:sp>
      <p:sp>
        <p:nvSpPr>
          <p:cNvPr id="5" name="Shape 3"/>
          <p:cNvSpPr/>
          <p:nvPr/>
        </p:nvSpPr>
        <p:spPr>
          <a:xfrm>
            <a:off x="548640" y="1325880"/>
            <a:ext cx="2574722" cy="914400"/>
          </a:xfrm>
          <a:prstGeom prst="roundRect">
            <a:avLst>
              <a:gd name="adj" fmla="val 6000"/>
            </a:avLst>
          </a:prstGeom>
          <a:solidFill>
            <a:srgbClr val="0F1D33"/>
          </a:solidFill>
          <a:ln w="12700">
            <a:solidFill>
              <a:srgbClr val="1E3454"/>
            </a:solidFill>
            <a:prstDash val="solid"/>
          </a:ln>
        </p:spPr>
      </p:sp>
      <p:sp>
        <p:nvSpPr>
          <p:cNvPr id="6" name="Shape 4"/>
          <p:cNvSpPr/>
          <p:nvPr/>
        </p:nvSpPr>
        <p:spPr>
          <a:xfrm>
            <a:off x="731520" y="1490472"/>
            <a:ext cx="329184" cy="329184"/>
          </a:xfrm>
          <a:prstGeom prst="roundRect">
            <a:avLst>
              <a:gd name="adj" fmla="val 77778"/>
            </a:avLst>
          </a:prstGeom>
          <a:solidFill>
            <a:srgbClr val="0B1728"/>
          </a:solidFill>
          <a:ln w="12700">
            <a:solidFill>
              <a:srgbClr val="1E3454"/>
            </a:solidFill>
            <a:prstDash val="solid"/>
          </a:ln>
        </p:spPr>
      </p:sp>
      <p:pic>
        <p:nvPicPr>
          <p:cNvPr id="7" name="Image 0" descr="preencoded.png">    </p:cNvPr>
          <p:cNvPicPr>
            <a:picLocks noChangeAspect="1"/>
          </p:cNvPicPr>
          <p:nvPr/>
        </p:nvPicPr>
        <p:blipFill>
          <a:blip r:embed="rId1"/>
          <a:stretch>
            <a:fillRect/>
          </a:stretch>
        </p:blipFill>
        <p:spPr>
          <a:xfrm>
            <a:off x="817108" y="1576060"/>
            <a:ext cx="158008" cy="158008"/>
          </a:xfrm>
          <a:prstGeom prst="rect">
            <a:avLst/>
          </a:prstGeom>
        </p:spPr>
      </p:pic>
      <p:sp>
        <p:nvSpPr>
          <p:cNvPr id="8" name="Text 5"/>
          <p:cNvSpPr/>
          <p:nvPr/>
        </p:nvSpPr>
        <p:spPr>
          <a:xfrm>
            <a:off x="1133856" y="1527048"/>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Real pricing feeds</a:t>
            </a:r>
            <a:endParaRPr lang="en-US" sz="1200" dirty="0"/>
          </a:p>
        </p:txBody>
      </p:sp>
      <p:sp>
        <p:nvSpPr>
          <p:cNvPr id="9" name="Text 6"/>
          <p:cNvSpPr/>
          <p:nvPr/>
        </p:nvSpPr>
        <p:spPr>
          <a:xfrm>
            <a:off x="731520" y="1828800"/>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Connect to enterprise pricing and competitor data</a:t>
            </a:r>
            <a:endParaRPr lang="en-US" sz="1000" dirty="0"/>
          </a:p>
        </p:txBody>
      </p:sp>
      <p:sp>
        <p:nvSpPr>
          <p:cNvPr id="10" name="Shape 7"/>
          <p:cNvSpPr/>
          <p:nvPr/>
        </p:nvSpPr>
        <p:spPr>
          <a:xfrm>
            <a:off x="3388538" y="1325880"/>
            <a:ext cx="2574722" cy="914400"/>
          </a:xfrm>
          <a:prstGeom prst="roundRect">
            <a:avLst>
              <a:gd name="adj" fmla="val 6000"/>
            </a:avLst>
          </a:prstGeom>
          <a:solidFill>
            <a:srgbClr val="0F1D33"/>
          </a:solidFill>
          <a:ln w="12700">
            <a:solidFill>
              <a:srgbClr val="1E3454"/>
            </a:solidFill>
            <a:prstDash val="solid"/>
          </a:ln>
        </p:spPr>
      </p:sp>
      <p:sp>
        <p:nvSpPr>
          <p:cNvPr id="11" name="Shape 8"/>
          <p:cNvSpPr/>
          <p:nvPr/>
        </p:nvSpPr>
        <p:spPr>
          <a:xfrm>
            <a:off x="3571418" y="1490472"/>
            <a:ext cx="329184" cy="329184"/>
          </a:xfrm>
          <a:prstGeom prst="roundRect">
            <a:avLst>
              <a:gd name="adj" fmla="val 77778"/>
            </a:avLst>
          </a:prstGeom>
          <a:solidFill>
            <a:srgbClr val="0B1728"/>
          </a:solidFill>
          <a:ln w="12700">
            <a:solidFill>
              <a:srgbClr val="1E3454"/>
            </a:solidFill>
            <a:prstDash val="solid"/>
          </a:ln>
        </p:spPr>
      </p:sp>
      <p:pic>
        <p:nvPicPr>
          <p:cNvPr id="12" name="Image 1" descr="preencoded.png">    </p:cNvPr>
          <p:cNvPicPr>
            <a:picLocks noChangeAspect="1"/>
          </p:cNvPicPr>
          <p:nvPr/>
        </p:nvPicPr>
        <p:blipFill>
          <a:blip r:embed="rId2"/>
          <a:stretch>
            <a:fillRect/>
          </a:stretch>
        </p:blipFill>
        <p:spPr>
          <a:xfrm>
            <a:off x="3657006" y="1576060"/>
            <a:ext cx="158008" cy="158008"/>
          </a:xfrm>
          <a:prstGeom prst="rect">
            <a:avLst/>
          </a:prstGeom>
        </p:spPr>
      </p:pic>
      <p:sp>
        <p:nvSpPr>
          <p:cNvPr id="13" name="Text 9"/>
          <p:cNvSpPr/>
          <p:nvPr/>
        </p:nvSpPr>
        <p:spPr>
          <a:xfrm>
            <a:off x="3973754" y="1527048"/>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Cloud Exasol backend</a:t>
            </a:r>
            <a:endParaRPr lang="en-US" sz="1200" dirty="0"/>
          </a:p>
        </p:txBody>
      </p:sp>
      <p:sp>
        <p:nvSpPr>
          <p:cNvPr id="14" name="Text 10"/>
          <p:cNvSpPr/>
          <p:nvPr/>
        </p:nvSpPr>
        <p:spPr>
          <a:xfrm>
            <a:off x="3571418" y="1828800"/>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Move from Exasol Personal to a persistent SaaS deployment</a:t>
            </a:r>
            <a:endParaRPr lang="en-US" sz="1000" dirty="0"/>
          </a:p>
        </p:txBody>
      </p:sp>
      <p:sp>
        <p:nvSpPr>
          <p:cNvPr id="15" name="Shape 11"/>
          <p:cNvSpPr/>
          <p:nvPr/>
        </p:nvSpPr>
        <p:spPr>
          <a:xfrm>
            <a:off x="6228436" y="1325880"/>
            <a:ext cx="2574722" cy="914400"/>
          </a:xfrm>
          <a:prstGeom prst="roundRect">
            <a:avLst>
              <a:gd name="adj" fmla="val 6000"/>
            </a:avLst>
          </a:prstGeom>
          <a:solidFill>
            <a:srgbClr val="0F1D33"/>
          </a:solidFill>
          <a:ln w="12700">
            <a:solidFill>
              <a:srgbClr val="1E3454"/>
            </a:solidFill>
            <a:prstDash val="solid"/>
          </a:ln>
        </p:spPr>
      </p:sp>
      <p:sp>
        <p:nvSpPr>
          <p:cNvPr id="16" name="Shape 12"/>
          <p:cNvSpPr/>
          <p:nvPr/>
        </p:nvSpPr>
        <p:spPr>
          <a:xfrm>
            <a:off x="6411316" y="1490472"/>
            <a:ext cx="329184" cy="329184"/>
          </a:xfrm>
          <a:prstGeom prst="roundRect">
            <a:avLst>
              <a:gd name="adj" fmla="val 77778"/>
            </a:avLst>
          </a:prstGeom>
          <a:solidFill>
            <a:srgbClr val="0B1728"/>
          </a:solidFill>
          <a:ln w="12700">
            <a:solidFill>
              <a:srgbClr val="1E3454"/>
            </a:solidFill>
            <a:prstDash val="solid"/>
          </a:ln>
        </p:spPr>
      </p:sp>
      <p:pic>
        <p:nvPicPr>
          <p:cNvPr id="17" name="Image 2" descr="preencoded.png">    </p:cNvPr>
          <p:cNvPicPr>
            <a:picLocks noChangeAspect="1"/>
          </p:cNvPicPr>
          <p:nvPr/>
        </p:nvPicPr>
        <p:blipFill>
          <a:blip r:embed="rId3"/>
          <a:stretch>
            <a:fillRect/>
          </a:stretch>
        </p:blipFill>
        <p:spPr>
          <a:xfrm>
            <a:off x="6496903" y="1576060"/>
            <a:ext cx="158008" cy="158008"/>
          </a:xfrm>
          <a:prstGeom prst="rect">
            <a:avLst/>
          </a:prstGeom>
        </p:spPr>
      </p:pic>
      <p:sp>
        <p:nvSpPr>
          <p:cNvPr id="18" name="Text 13"/>
          <p:cNvSpPr/>
          <p:nvPr/>
        </p:nvSpPr>
        <p:spPr>
          <a:xfrm>
            <a:off x="6813652" y="1527048"/>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Approval workflow</a:t>
            </a:r>
            <a:endParaRPr lang="en-US" sz="1200" dirty="0"/>
          </a:p>
        </p:txBody>
      </p:sp>
      <p:sp>
        <p:nvSpPr>
          <p:cNvPr id="19" name="Text 14"/>
          <p:cNvSpPr/>
          <p:nvPr/>
        </p:nvSpPr>
        <p:spPr>
          <a:xfrm>
            <a:off x="6411316" y="1828800"/>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Reviewer accepts, overrides or rolls back a flagged price</a:t>
            </a:r>
            <a:endParaRPr lang="en-US" sz="1000" dirty="0"/>
          </a:p>
        </p:txBody>
      </p:sp>
      <p:sp>
        <p:nvSpPr>
          <p:cNvPr id="20" name="Shape 15"/>
          <p:cNvSpPr/>
          <p:nvPr/>
        </p:nvSpPr>
        <p:spPr>
          <a:xfrm>
            <a:off x="9068333" y="1325880"/>
            <a:ext cx="2574722" cy="914400"/>
          </a:xfrm>
          <a:prstGeom prst="roundRect">
            <a:avLst>
              <a:gd name="adj" fmla="val 6000"/>
            </a:avLst>
          </a:prstGeom>
          <a:solidFill>
            <a:srgbClr val="0F1D33"/>
          </a:solidFill>
          <a:ln w="12700">
            <a:solidFill>
              <a:srgbClr val="1E3454"/>
            </a:solidFill>
            <a:prstDash val="solid"/>
          </a:ln>
        </p:spPr>
      </p:sp>
      <p:sp>
        <p:nvSpPr>
          <p:cNvPr id="21" name="Shape 16"/>
          <p:cNvSpPr/>
          <p:nvPr/>
        </p:nvSpPr>
        <p:spPr>
          <a:xfrm>
            <a:off x="9251213" y="1490472"/>
            <a:ext cx="329184" cy="329184"/>
          </a:xfrm>
          <a:prstGeom prst="roundRect">
            <a:avLst>
              <a:gd name="adj" fmla="val 77778"/>
            </a:avLst>
          </a:prstGeom>
          <a:solidFill>
            <a:srgbClr val="0B1728"/>
          </a:solidFill>
          <a:ln w="12700">
            <a:solidFill>
              <a:srgbClr val="1E3454"/>
            </a:solidFill>
            <a:prstDash val="solid"/>
          </a:ln>
        </p:spPr>
      </p:sp>
      <p:pic>
        <p:nvPicPr>
          <p:cNvPr id="22" name="Image 3" descr="preencoded.png">    </p:cNvPr>
          <p:cNvPicPr>
            <a:picLocks noChangeAspect="1"/>
          </p:cNvPicPr>
          <p:nvPr/>
        </p:nvPicPr>
        <p:blipFill>
          <a:blip r:embed="rId4"/>
          <a:stretch>
            <a:fillRect/>
          </a:stretch>
        </p:blipFill>
        <p:spPr>
          <a:xfrm>
            <a:off x="9336801" y="1576060"/>
            <a:ext cx="158008" cy="158008"/>
          </a:xfrm>
          <a:prstGeom prst="rect">
            <a:avLst/>
          </a:prstGeom>
        </p:spPr>
      </p:pic>
      <p:sp>
        <p:nvSpPr>
          <p:cNvPr id="23" name="Text 17"/>
          <p:cNvSpPr/>
          <p:nvPr/>
        </p:nvSpPr>
        <p:spPr>
          <a:xfrm>
            <a:off x="9653549" y="1527048"/>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Access and audit</a:t>
            </a:r>
            <a:endParaRPr lang="en-US" sz="1200" dirty="0"/>
          </a:p>
        </p:txBody>
      </p:sp>
      <p:sp>
        <p:nvSpPr>
          <p:cNvPr id="24" name="Text 18"/>
          <p:cNvSpPr/>
          <p:nvPr/>
        </p:nvSpPr>
        <p:spPr>
          <a:xfrm>
            <a:off x="9251213" y="1828800"/>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Role-based access with immutable decision logs</a:t>
            </a:r>
            <a:endParaRPr lang="en-US" sz="1000" dirty="0"/>
          </a:p>
        </p:txBody>
      </p:sp>
      <p:sp>
        <p:nvSpPr>
          <p:cNvPr id="25" name="Shape 19"/>
          <p:cNvSpPr/>
          <p:nvPr/>
        </p:nvSpPr>
        <p:spPr>
          <a:xfrm>
            <a:off x="548640" y="2441448"/>
            <a:ext cx="2574722" cy="914400"/>
          </a:xfrm>
          <a:prstGeom prst="roundRect">
            <a:avLst>
              <a:gd name="adj" fmla="val 6000"/>
            </a:avLst>
          </a:prstGeom>
          <a:solidFill>
            <a:srgbClr val="0F1D33"/>
          </a:solidFill>
          <a:ln w="12700">
            <a:solidFill>
              <a:srgbClr val="1E3454"/>
            </a:solidFill>
            <a:prstDash val="solid"/>
          </a:ln>
        </p:spPr>
      </p:sp>
      <p:sp>
        <p:nvSpPr>
          <p:cNvPr id="26" name="Shape 20"/>
          <p:cNvSpPr/>
          <p:nvPr/>
        </p:nvSpPr>
        <p:spPr>
          <a:xfrm>
            <a:off x="731520" y="2606040"/>
            <a:ext cx="329184" cy="329184"/>
          </a:xfrm>
          <a:prstGeom prst="roundRect">
            <a:avLst>
              <a:gd name="adj" fmla="val 77778"/>
            </a:avLst>
          </a:prstGeom>
          <a:solidFill>
            <a:srgbClr val="0B1728"/>
          </a:solidFill>
          <a:ln w="12700">
            <a:solidFill>
              <a:srgbClr val="1E3454"/>
            </a:solidFill>
            <a:prstDash val="solid"/>
          </a:ln>
        </p:spPr>
      </p:sp>
      <p:pic>
        <p:nvPicPr>
          <p:cNvPr id="27" name="Image 4" descr="preencoded.png">    </p:cNvPr>
          <p:cNvPicPr>
            <a:picLocks noChangeAspect="1"/>
          </p:cNvPicPr>
          <p:nvPr/>
        </p:nvPicPr>
        <p:blipFill>
          <a:blip r:embed="rId5"/>
          <a:stretch>
            <a:fillRect/>
          </a:stretch>
        </p:blipFill>
        <p:spPr>
          <a:xfrm>
            <a:off x="817108" y="2691628"/>
            <a:ext cx="158008" cy="158008"/>
          </a:xfrm>
          <a:prstGeom prst="rect">
            <a:avLst/>
          </a:prstGeom>
        </p:spPr>
      </p:pic>
      <p:sp>
        <p:nvSpPr>
          <p:cNvPr id="28" name="Text 21"/>
          <p:cNvSpPr/>
          <p:nvPr/>
        </p:nvSpPr>
        <p:spPr>
          <a:xfrm>
            <a:off x="1133856" y="2642616"/>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Stronger reward model</a:t>
            </a:r>
            <a:endParaRPr lang="en-US" sz="1200" dirty="0"/>
          </a:p>
        </p:txBody>
      </p:sp>
      <p:sp>
        <p:nvSpPr>
          <p:cNvPr id="29" name="Text 22"/>
          <p:cNvSpPr/>
          <p:nvPr/>
        </p:nvSpPr>
        <p:spPr>
          <a:xfrm>
            <a:off x="731520" y="2944368"/>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Train on real outcomes with causal evaluation</a:t>
            </a:r>
            <a:endParaRPr lang="en-US" sz="1000" dirty="0"/>
          </a:p>
        </p:txBody>
      </p:sp>
      <p:sp>
        <p:nvSpPr>
          <p:cNvPr id="30" name="Shape 23"/>
          <p:cNvSpPr/>
          <p:nvPr/>
        </p:nvSpPr>
        <p:spPr>
          <a:xfrm>
            <a:off x="3388538" y="2441448"/>
            <a:ext cx="2574722" cy="914400"/>
          </a:xfrm>
          <a:prstGeom prst="roundRect">
            <a:avLst>
              <a:gd name="adj" fmla="val 6000"/>
            </a:avLst>
          </a:prstGeom>
          <a:solidFill>
            <a:srgbClr val="0F1D33"/>
          </a:solidFill>
          <a:ln w="12700">
            <a:solidFill>
              <a:srgbClr val="1E3454"/>
            </a:solidFill>
            <a:prstDash val="solid"/>
          </a:ln>
        </p:spPr>
      </p:sp>
      <p:sp>
        <p:nvSpPr>
          <p:cNvPr id="31" name="Shape 24"/>
          <p:cNvSpPr/>
          <p:nvPr/>
        </p:nvSpPr>
        <p:spPr>
          <a:xfrm>
            <a:off x="3571418" y="2606040"/>
            <a:ext cx="329184" cy="329184"/>
          </a:xfrm>
          <a:prstGeom prst="roundRect">
            <a:avLst>
              <a:gd name="adj" fmla="val 77778"/>
            </a:avLst>
          </a:prstGeom>
          <a:solidFill>
            <a:srgbClr val="0B1728"/>
          </a:solidFill>
          <a:ln w="12700">
            <a:solidFill>
              <a:srgbClr val="1E3454"/>
            </a:solidFill>
            <a:prstDash val="solid"/>
          </a:ln>
        </p:spPr>
      </p:sp>
      <p:pic>
        <p:nvPicPr>
          <p:cNvPr id="32" name="Image 5" descr="preencoded.png">    </p:cNvPr>
          <p:cNvPicPr>
            <a:picLocks noChangeAspect="1"/>
          </p:cNvPicPr>
          <p:nvPr/>
        </p:nvPicPr>
        <p:blipFill>
          <a:blip r:embed="rId6"/>
          <a:stretch>
            <a:fillRect/>
          </a:stretch>
        </p:blipFill>
        <p:spPr>
          <a:xfrm>
            <a:off x="3657006" y="2691628"/>
            <a:ext cx="158008" cy="158008"/>
          </a:xfrm>
          <a:prstGeom prst="rect">
            <a:avLst/>
          </a:prstGeom>
        </p:spPr>
      </p:pic>
      <p:sp>
        <p:nvSpPr>
          <p:cNvPr id="33" name="Text 25"/>
          <p:cNvSpPr/>
          <p:nvPr/>
        </p:nvSpPr>
        <p:spPr>
          <a:xfrm>
            <a:off x="3973754" y="2642616"/>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Category risk view</a:t>
            </a:r>
            <a:endParaRPr lang="en-US" sz="1200" dirty="0"/>
          </a:p>
        </p:txBody>
      </p:sp>
      <p:sp>
        <p:nvSpPr>
          <p:cNvPr id="34" name="Text 26"/>
          <p:cNvSpPr/>
          <p:nvPr/>
        </p:nvSpPr>
        <p:spPr>
          <a:xfrm>
            <a:off x="3571418" y="2944368"/>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Aggregate risk and regret above the SKU level</a:t>
            </a:r>
            <a:endParaRPr lang="en-US" sz="1000" dirty="0"/>
          </a:p>
        </p:txBody>
      </p:sp>
      <p:sp>
        <p:nvSpPr>
          <p:cNvPr id="35" name="Shape 27"/>
          <p:cNvSpPr/>
          <p:nvPr/>
        </p:nvSpPr>
        <p:spPr>
          <a:xfrm>
            <a:off x="6228436" y="2441448"/>
            <a:ext cx="2574722" cy="914400"/>
          </a:xfrm>
          <a:prstGeom prst="roundRect">
            <a:avLst>
              <a:gd name="adj" fmla="val 6000"/>
            </a:avLst>
          </a:prstGeom>
          <a:solidFill>
            <a:srgbClr val="0F1D33"/>
          </a:solidFill>
          <a:ln w="12700">
            <a:solidFill>
              <a:srgbClr val="1E3454"/>
            </a:solidFill>
            <a:prstDash val="solid"/>
          </a:ln>
        </p:spPr>
      </p:sp>
      <p:sp>
        <p:nvSpPr>
          <p:cNvPr id="36" name="Shape 28"/>
          <p:cNvSpPr/>
          <p:nvPr/>
        </p:nvSpPr>
        <p:spPr>
          <a:xfrm>
            <a:off x="6411316" y="2606040"/>
            <a:ext cx="329184" cy="329184"/>
          </a:xfrm>
          <a:prstGeom prst="roundRect">
            <a:avLst>
              <a:gd name="adj" fmla="val 77778"/>
            </a:avLst>
          </a:prstGeom>
          <a:solidFill>
            <a:srgbClr val="0B1728"/>
          </a:solidFill>
          <a:ln w="12700">
            <a:solidFill>
              <a:srgbClr val="1E3454"/>
            </a:solidFill>
            <a:prstDash val="solid"/>
          </a:ln>
        </p:spPr>
      </p:sp>
      <p:pic>
        <p:nvPicPr>
          <p:cNvPr id="37" name="Image 6" descr="preencoded.png">    </p:cNvPr>
          <p:cNvPicPr>
            <a:picLocks noChangeAspect="1"/>
          </p:cNvPicPr>
          <p:nvPr/>
        </p:nvPicPr>
        <p:blipFill>
          <a:blip r:embed="rId7"/>
          <a:stretch>
            <a:fillRect/>
          </a:stretch>
        </p:blipFill>
        <p:spPr>
          <a:xfrm>
            <a:off x="6496903" y="2691628"/>
            <a:ext cx="158008" cy="158008"/>
          </a:xfrm>
          <a:prstGeom prst="rect">
            <a:avLst/>
          </a:prstGeom>
        </p:spPr>
      </p:pic>
      <p:sp>
        <p:nvSpPr>
          <p:cNvPr id="38" name="Text 29"/>
          <p:cNvSpPr/>
          <p:nvPr/>
        </p:nvSpPr>
        <p:spPr>
          <a:xfrm>
            <a:off x="6813652" y="2642616"/>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Severity alerting</a:t>
            </a:r>
            <a:endParaRPr lang="en-US" sz="1200" dirty="0"/>
          </a:p>
        </p:txBody>
      </p:sp>
      <p:sp>
        <p:nvSpPr>
          <p:cNvPr id="39" name="Text 30"/>
          <p:cNvSpPr/>
          <p:nvPr/>
        </p:nvSpPr>
        <p:spPr>
          <a:xfrm>
            <a:off x="6411316" y="2944368"/>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Slack and email routing for high severity decisions</a:t>
            </a:r>
            <a:endParaRPr lang="en-US" sz="1000" dirty="0"/>
          </a:p>
        </p:txBody>
      </p:sp>
      <p:sp>
        <p:nvSpPr>
          <p:cNvPr id="40" name="Shape 31"/>
          <p:cNvSpPr/>
          <p:nvPr/>
        </p:nvSpPr>
        <p:spPr>
          <a:xfrm>
            <a:off x="9068333" y="2441448"/>
            <a:ext cx="2574722" cy="914400"/>
          </a:xfrm>
          <a:prstGeom prst="roundRect">
            <a:avLst>
              <a:gd name="adj" fmla="val 6000"/>
            </a:avLst>
          </a:prstGeom>
          <a:solidFill>
            <a:srgbClr val="0F1D33"/>
          </a:solidFill>
          <a:ln w="12700">
            <a:solidFill>
              <a:srgbClr val="1E3454"/>
            </a:solidFill>
            <a:prstDash val="solid"/>
          </a:ln>
        </p:spPr>
      </p:sp>
      <p:sp>
        <p:nvSpPr>
          <p:cNvPr id="41" name="Shape 32"/>
          <p:cNvSpPr/>
          <p:nvPr/>
        </p:nvSpPr>
        <p:spPr>
          <a:xfrm>
            <a:off x="9251213" y="2606040"/>
            <a:ext cx="329184" cy="329184"/>
          </a:xfrm>
          <a:prstGeom prst="roundRect">
            <a:avLst>
              <a:gd name="adj" fmla="val 77778"/>
            </a:avLst>
          </a:prstGeom>
          <a:solidFill>
            <a:srgbClr val="0B1728"/>
          </a:solidFill>
          <a:ln w="12700">
            <a:solidFill>
              <a:srgbClr val="1E3454"/>
            </a:solidFill>
            <a:prstDash val="solid"/>
          </a:ln>
        </p:spPr>
      </p:sp>
      <p:pic>
        <p:nvPicPr>
          <p:cNvPr id="42" name="Image 7" descr="preencoded.png">    </p:cNvPr>
          <p:cNvPicPr>
            <a:picLocks noChangeAspect="1"/>
          </p:cNvPicPr>
          <p:nvPr/>
        </p:nvPicPr>
        <p:blipFill>
          <a:blip r:embed="rId8"/>
          <a:stretch>
            <a:fillRect/>
          </a:stretch>
        </p:blipFill>
        <p:spPr>
          <a:xfrm>
            <a:off x="9336801" y="2691628"/>
            <a:ext cx="158008" cy="158008"/>
          </a:xfrm>
          <a:prstGeom prst="rect">
            <a:avLst/>
          </a:prstGeom>
        </p:spPr>
      </p:pic>
      <p:sp>
        <p:nvSpPr>
          <p:cNvPr id="43" name="Text 33"/>
          <p:cNvSpPr/>
          <p:nvPr/>
        </p:nvSpPr>
        <p:spPr>
          <a:xfrm>
            <a:off x="9653549" y="2642616"/>
            <a:ext cx="1806626" cy="219456"/>
          </a:xfrm>
          <a:prstGeom prst="rect">
            <a:avLst/>
          </a:prstGeom>
          <a:noFill/>
          <a:ln/>
        </p:spPr>
        <p:txBody>
          <a:bodyPr wrap="square" lIns="0" tIns="0" rIns="0" bIns="0" rtlCol="0" anchor="t"/>
          <a:lstStyle/>
          <a:p>
            <a:pPr indent="0" marL="0">
              <a:buNone/>
            </a:pPr>
            <a:r>
              <a:rPr lang="en-US" sz="1200" b="1" dirty="0">
                <a:solidFill>
                  <a:srgbClr val="EAF1FA"/>
                </a:solidFill>
                <a:latin typeface="Arial" pitchFamily="34" charset="0"/>
                <a:ea typeface="Arial" pitchFamily="34" charset="-122"/>
                <a:cs typeface="Arial" pitchFamily="34" charset="-120"/>
              </a:rPr>
              <a:t>Policy simulation</a:t>
            </a:r>
            <a:endParaRPr lang="en-US" sz="1200" dirty="0"/>
          </a:p>
        </p:txBody>
      </p:sp>
      <p:sp>
        <p:nvSpPr>
          <p:cNvPr id="44" name="Text 34"/>
          <p:cNvSpPr/>
          <p:nvPr/>
        </p:nvSpPr>
        <p:spPr>
          <a:xfrm>
            <a:off x="9251213" y="2944368"/>
            <a:ext cx="2208962" cy="365760"/>
          </a:xfrm>
          <a:prstGeom prst="rect">
            <a:avLst/>
          </a:prstGeom>
          <a:noFill/>
          <a:ln/>
        </p:spPr>
        <p:txBody>
          <a:bodyPr wrap="square" lIns="0" tIns="0" rIns="0" bIns="0" rtlCol="0" anchor="t"/>
          <a:lstStyle/>
          <a:p>
            <a:pPr indent="0" marL="0">
              <a:lnSpc>
                <a:spcPts val="1200"/>
              </a:lnSpc>
              <a:buNone/>
            </a:pPr>
            <a:r>
              <a:rPr lang="en-US" sz="1000" dirty="0">
                <a:solidFill>
                  <a:srgbClr val="9CB0CB"/>
                </a:solidFill>
                <a:latin typeface="Arial" pitchFamily="34" charset="0"/>
                <a:ea typeface="Arial" pitchFamily="34" charset="-122"/>
                <a:cs typeface="Arial" pitchFamily="34" charset="-120"/>
              </a:rPr>
              <a:t>A/B testing and what-if policy replay</a:t>
            </a:r>
            <a:endParaRPr lang="en-US" sz="1000" dirty="0"/>
          </a:p>
        </p:txBody>
      </p:sp>
      <p:sp>
        <p:nvSpPr>
          <p:cNvPr id="45" name="Shape 35"/>
          <p:cNvSpPr/>
          <p:nvPr/>
        </p:nvSpPr>
        <p:spPr>
          <a:xfrm>
            <a:off x="548640" y="3611880"/>
            <a:ext cx="11094415" cy="1700784"/>
          </a:xfrm>
          <a:prstGeom prst="roundRect">
            <a:avLst>
              <a:gd name="adj" fmla="val 2688"/>
            </a:avLst>
          </a:prstGeom>
          <a:solidFill>
            <a:srgbClr val="1A1938"/>
          </a:solidFill>
          <a:ln w="12700">
            <a:solidFill>
              <a:srgbClr val="3D3A78"/>
            </a:solidFill>
            <a:prstDash val="solid"/>
          </a:ln>
        </p:spPr>
      </p:sp>
      <p:sp>
        <p:nvSpPr>
          <p:cNvPr id="46" name="Text 36"/>
          <p:cNvSpPr/>
          <p:nvPr/>
        </p:nvSpPr>
        <p:spPr>
          <a:xfrm>
            <a:off x="1645920" y="3803904"/>
            <a:ext cx="8899855" cy="292608"/>
          </a:xfrm>
          <a:prstGeom prst="rect">
            <a:avLst/>
          </a:prstGeom>
          <a:noFill/>
          <a:ln/>
        </p:spPr>
        <p:txBody>
          <a:bodyPr wrap="square" lIns="0" tIns="0" rIns="0" bIns="0" rtlCol="0" anchor="t"/>
          <a:lstStyle/>
          <a:p>
            <a:pPr algn="ctr" indent="0" marL="0">
              <a:buNone/>
            </a:pPr>
            <a:r>
              <a:rPr lang="en-US" sz="1300" dirty="0">
                <a:solidFill>
                  <a:srgbClr val="AFB4E8"/>
                </a:solidFill>
                <a:latin typeface="Arial" pitchFamily="34" charset="0"/>
                <a:ea typeface="Arial" pitchFamily="34" charset="-122"/>
                <a:cs typeface="Arial" pitchFamily="34" charset="-120"/>
              </a:rPr>
              <a:t>RaGeX turns AI pricing from an opaque automation risk into a monitored, explainable and auditable decision system.</a:t>
            </a:r>
            <a:endParaRPr lang="en-US" sz="1300" dirty="0"/>
          </a:p>
        </p:txBody>
      </p:sp>
      <p:sp>
        <p:nvSpPr>
          <p:cNvPr id="47" name="Text 37"/>
          <p:cNvSpPr/>
          <p:nvPr/>
        </p:nvSpPr>
        <p:spPr>
          <a:xfrm>
            <a:off x="914400" y="4224528"/>
            <a:ext cx="10362895" cy="914400"/>
          </a:xfrm>
          <a:prstGeom prst="rect">
            <a:avLst/>
          </a:prstGeom>
          <a:noFill/>
          <a:ln/>
        </p:spPr>
        <p:txBody>
          <a:bodyPr wrap="square" lIns="0" tIns="0" rIns="0" bIns="0" rtlCol="0" anchor="t"/>
          <a:lstStyle/>
          <a:p>
            <a:pPr algn="ctr" indent="0" marL="0">
              <a:lnSpc>
                <a:spcPts val="3400"/>
              </a:lnSpc>
              <a:buNone/>
            </a:pPr>
            <a:r>
              <a:rPr lang="en-US" sz="2600" b="1" spc="-20" kern="0" dirty="0">
                <a:solidFill>
                  <a:srgbClr val="E3E4FF"/>
                </a:solidFill>
                <a:latin typeface="Arial" pitchFamily="34" charset="0"/>
                <a:ea typeface="Arial" pitchFamily="34" charset="-122"/>
                <a:cs typeface="Arial" pitchFamily="34" charset="-120"/>
              </a:rPr>
              <a:t>"Every price decision should be explainable</a:t>
            </a:r>
            <a:endParaRPr lang="en-US" sz="2600" dirty="0"/>
          </a:p>
          <a:p>
            <a:pPr algn="ctr" indent="0" marL="0">
              <a:lnSpc>
                <a:spcPts val="3400"/>
              </a:lnSpc>
              <a:buNone/>
            </a:pPr>
            <a:r>
              <a:rPr lang="en-US" sz="2600" b="1" spc="-20" kern="0" dirty="0">
                <a:solidFill>
                  <a:srgbClr val="E3E4FF"/>
                </a:solidFill>
                <a:latin typeface="Arial" pitchFamily="34" charset="0"/>
                <a:ea typeface="Arial" pitchFamily="34" charset="-122"/>
                <a:cs typeface="Arial" pitchFamily="34" charset="-120"/>
              </a:rPr>
              <a:t>before it costs money."</a:t>
            </a:r>
            <a:endParaRPr lang="en-US" sz="2600" dirty="0"/>
          </a:p>
        </p:txBody>
      </p:sp>
      <p:sp>
        <p:nvSpPr>
          <p:cNvPr id="48" name="Shape 38"/>
          <p:cNvSpPr/>
          <p:nvPr/>
        </p:nvSpPr>
        <p:spPr>
          <a:xfrm>
            <a:off x="548640" y="5504688"/>
            <a:ext cx="1589989" cy="457200"/>
          </a:xfrm>
          <a:prstGeom prst="roundRect">
            <a:avLst>
              <a:gd name="adj" fmla="val 10000"/>
            </a:avLst>
          </a:prstGeom>
          <a:solidFill>
            <a:srgbClr val="0F1D33"/>
          </a:solidFill>
          <a:ln w="12700">
            <a:solidFill>
              <a:srgbClr val="1E3454"/>
            </a:solidFill>
            <a:prstDash val="solid"/>
          </a:ln>
        </p:spPr>
      </p:sp>
      <p:sp>
        <p:nvSpPr>
          <p:cNvPr id="49" name="Text 39"/>
          <p:cNvSpPr/>
          <p:nvPr/>
        </p:nvSpPr>
        <p:spPr>
          <a:xfrm>
            <a:off x="603504" y="5632704"/>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Simulator</a:t>
            </a:r>
            <a:endParaRPr lang="en-US" sz="950" dirty="0"/>
          </a:p>
        </p:txBody>
      </p:sp>
      <p:sp>
        <p:nvSpPr>
          <p:cNvPr id="50" name="Shape 40"/>
          <p:cNvSpPr/>
          <p:nvPr/>
        </p:nvSpPr>
        <p:spPr>
          <a:xfrm>
            <a:off x="2202637" y="5733288"/>
            <a:ext cx="182880" cy="0"/>
          </a:xfrm>
          <a:prstGeom prst="line">
            <a:avLst/>
          </a:prstGeom>
          <a:noFill/>
          <a:ln w="19050">
            <a:solidFill>
              <a:srgbClr val="2E4A72"/>
            </a:solidFill>
            <a:prstDash val="solid"/>
            <a:tailEnd type="triangle"/>
          </a:ln>
        </p:spPr>
      </p:sp>
      <p:sp>
        <p:nvSpPr>
          <p:cNvPr id="51" name="Shape 41"/>
          <p:cNvSpPr/>
          <p:nvPr/>
        </p:nvSpPr>
        <p:spPr>
          <a:xfrm>
            <a:off x="2449525" y="5504688"/>
            <a:ext cx="1589989" cy="457200"/>
          </a:xfrm>
          <a:prstGeom prst="roundRect">
            <a:avLst>
              <a:gd name="adj" fmla="val 10000"/>
            </a:avLst>
          </a:prstGeom>
          <a:solidFill>
            <a:srgbClr val="0D2434"/>
          </a:solidFill>
          <a:ln w="12700">
            <a:solidFill>
              <a:srgbClr val="1D5673"/>
            </a:solidFill>
            <a:prstDash val="solid"/>
          </a:ln>
        </p:spPr>
      </p:sp>
      <p:sp>
        <p:nvSpPr>
          <p:cNvPr id="52" name="Text 42"/>
          <p:cNvSpPr/>
          <p:nvPr/>
        </p:nvSpPr>
        <p:spPr>
          <a:xfrm>
            <a:off x="2504389" y="5632704"/>
            <a:ext cx="1480261" cy="201168"/>
          </a:xfrm>
          <a:prstGeom prst="rect">
            <a:avLst/>
          </a:prstGeom>
          <a:noFill/>
          <a:ln/>
        </p:spPr>
        <p:txBody>
          <a:bodyPr wrap="square" lIns="0" tIns="0" rIns="0" bIns="0" rtlCol="0" anchor="t"/>
          <a:lstStyle/>
          <a:p>
            <a:pPr algn="ctr" indent="0" marL="0">
              <a:buNone/>
            </a:pPr>
            <a:r>
              <a:rPr lang="en-US" sz="950" b="1" dirty="0">
                <a:solidFill>
                  <a:srgbClr val="35C4F0"/>
                </a:solidFill>
                <a:latin typeface="Arial" pitchFamily="34" charset="0"/>
                <a:ea typeface="Arial" pitchFamily="34" charset="-122"/>
                <a:cs typeface="Arial" pitchFamily="34" charset="-120"/>
              </a:rPr>
              <a:t>Exasol Personal</a:t>
            </a:r>
            <a:endParaRPr lang="en-US" sz="950" dirty="0"/>
          </a:p>
        </p:txBody>
      </p:sp>
      <p:sp>
        <p:nvSpPr>
          <p:cNvPr id="53" name="Shape 43"/>
          <p:cNvSpPr/>
          <p:nvPr/>
        </p:nvSpPr>
        <p:spPr>
          <a:xfrm>
            <a:off x="4103522" y="5733288"/>
            <a:ext cx="182880" cy="0"/>
          </a:xfrm>
          <a:prstGeom prst="line">
            <a:avLst/>
          </a:prstGeom>
          <a:noFill/>
          <a:ln w="19050">
            <a:solidFill>
              <a:srgbClr val="2E4A72"/>
            </a:solidFill>
            <a:prstDash val="solid"/>
            <a:tailEnd type="triangle"/>
          </a:ln>
        </p:spPr>
      </p:sp>
      <p:sp>
        <p:nvSpPr>
          <p:cNvPr id="54" name="Shape 44"/>
          <p:cNvSpPr/>
          <p:nvPr/>
        </p:nvSpPr>
        <p:spPr>
          <a:xfrm>
            <a:off x="4350410" y="5504688"/>
            <a:ext cx="1589989" cy="457200"/>
          </a:xfrm>
          <a:prstGeom prst="roundRect">
            <a:avLst>
              <a:gd name="adj" fmla="val 10000"/>
            </a:avLst>
          </a:prstGeom>
          <a:solidFill>
            <a:srgbClr val="0F1D33"/>
          </a:solidFill>
          <a:ln w="12700">
            <a:solidFill>
              <a:srgbClr val="1E3454"/>
            </a:solidFill>
            <a:prstDash val="solid"/>
          </a:ln>
        </p:spPr>
      </p:sp>
      <p:sp>
        <p:nvSpPr>
          <p:cNvPr id="55" name="Text 45"/>
          <p:cNvSpPr/>
          <p:nvPr/>
        </p:nvSpPr>
        <p:spPr>
          <a:xfrm>
            <a:off x="4405274" y="5632704"/>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Guardrail</a:t>
            </a:r>
            <a:endParaRPr lang="en-US" sz="950" dirty="0"/>
          </a:p>
        </p:txBody>
      </p:sp>
      <p:sp>
        <p:nvSpPr>
          <p:cNvPr id="56" name="Shape 46"/>
          <p:cNvSpPr/>
          <p:nvPr/>
        </p:nvSpPr>
        <p:spPr>
          <a:xfrm>
            <a:off x="6004408" y="5733288"/>
            <a:ext cx="182880" cy="0"/>
          </a:xfrm>
          <a:prstGeom prst="line">
            <a:avLst/>
          </a:prstGeom>
          <a:noFill/>
          <a:ln w="19050">
            <a:solidFill>
              <a:srgbClr val="2E4A72"/>
            </a:solidFill>
            <a:prstDash val="solid"/>
            <a:tailEnd type="triangle"/>
          </a:ln>
        </p:spPr>
      </p:sp>
      <p:sp>
        <p:nvSpPr>
          <p:cNvPr id="57" name="Shape 47"/>
          <p:cNvSpPr/>
          <p:nvPr/>
        </p:nvSpPr>
        <p:spPr>
          <a:xfrm>
            <a:off x="6251296" y="5504688"/>
            <a:ext cx="1589989" cy="457200"/>
          </a:xfrm>
          <a:prstGeom prst="roundRect">
            <a:avLst>
              <a:gd name="adj" fmla="val 10000"/>
            </a:avLst>
          </a:prstGeom>
          <a:solidFill>
            <a:srgbClr val="0F1D33"/>
          </a:solidFill>
          <a:ln w="12700">
            <a:solidFill>
              <a:srgbClr val="1E3454"/>
            </a:solidFill>
            <a:prstDash val="solid"/>
          </a:ln>
        </p:spPr>
      </p:sp>
      <p:sp>
        <p:nvSpPr>
          <p:cNvPr id="58" name="Text 48"/>
          <p:cNvSpPr/>
          <p:nvPr/>
        </p:nvSpPr>
        <p:spPr>
          <a:xfrm>
            <a:off x="6306160" y="5632704"/>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Regret Engine</a:t>
            </a:r>
            <a:endParaRPr lang="en-US" sz="950" dirty="0"/>
          </a:p>
        </p:txBody>
      </p:sp>
      <p:sp>
        <p:nvSpPr>
          <p:cNvPr id="59" name="Shape 49"/>
          <p:cNvSpPr/>
          <p:nvPr/>
        </p:nvSpPr>
        <p:spPr>
          <a:xfrm>
            <a:off x="7905293" y="5733288"/>
            <a:ext cx="182880" cy="0"/>
          </a:xfrm>
          <a:prstGeom prst="line">
            <a:avLst/>
          </a:prstGeom>
          <a:noFill/>
          <a:ln w="19050">
            <a:solidFill>
              <a:srgbClr val="2E4A72"/>
            </a:solidFill>
            <a:prstDash val="solid"/>
            <a:tailEnd type="triangle"/>
          </a:ln>
        </p:spPr>
      </p:sp>
      <p:sp>
        <p:nvSpPr>
          <p:cNvPr id="60" name="Shape 50"/>
          <p:cNvSpPr/>
          <p:nvPr/>
        </p:nvSpPr>
        <p:spPr>
          <a:xfrm>
            <a:off x="8152181" y="5504688"/>
            <a:ext cx="1589989" cy="457200"/>
          </a:xfrm>
          <a:prstGeom prst="roundRect">
            <a:avLst>
              <a:gd name="adj" fmla="val 10000"/>
            </a:avLst>
          </a:prstGeom>
          <a:solidFill>
            <a:srgbClr val="0F1D33"/>
          </a:solidFill>
          <a:ln w="12700">
            <a:solidFill>
              <a:srgbClr val="1E3454"/>
            </a:solidFill>
            <a:prstDash val="solid"/>
          </a:ln>
        </p:spPr>
      </p:sp>
      <p:sp>
        <p:nvSpPr>
          <p:cNvPr id="61" name="Text 51"/>
          <p:cNvSpPr/>
          <p:nvPr/>
        </p:nvSpPr>
        <p:spPr>
          <a:xfrm>
            <a:off x="8207045" y="5632704"/>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RAG Explanation</a:t>
            </a:r>
            <a:endParaRPr lang="en-US" sz="950" dirty="0"/>
          </a:p>
        </p:txBody>
      </p:sp>
      <p:sp>
        <p:nvSpPr>
          <p:cNvPr id="62" name="Shape 52"/>
          <p:cNvSpPr/>
          <p:nvPr/>
        </p:nvSpPr>
        <p:spPr>
          <a:xfrm>
            <a:off x="9806178" y="5733288"/>
            <a:ext cx="182880" cy="0"/>
          </a:xfrm>
          <a:prstGeom prst="line">
            <a:avLst/>
          </a:prstGeom>
          <a:noFill/>
          <a:ln w="19050">
            <a:solidFill>
              <a:srgbClr val="2E4A72"/>
            </a:solidFill>
            <a:prstDash val="solid"/>
            <a:tailEnd type="triangle"/>
          </a:ln>
        </p:spPr>
      </p:sp>
      <p:sp>
        <p:nvSpPr>
          <p:cNvPr id="63" name="Shape 53"/>
          <p:cNvSpPr/>
          <p:nvPr/>
        </p:nvSpPr>
        <p:spPr>
          <a:xfrm>
            <a:off x="10053066" y="5504688"/>
            <a:ext cx="1589989" cy="457200"/>
          </a:xfrm>
          <a:prstGeom prst="roundRect">
            <a:avLst>
              <a:gd name="adj" fmla="val 10000"/>
            </a:avLst>
          </a:prstGeom>
          <a:solidFill>
            <a:srgbClr val="0F1D33"/>
          </a:solidFill>
          <a:ln w="12700">
            <a:solidFill>
              <a:srgbClr val="1E3454"/>
            </a:solidFill>
            <a:prstDash val="solid"/>
          </a:ln>
        </p:spPr>
      </p:sp>
      <p:sp>
        <p:nvSpPr>
          <p:cNvPr id="64" name="Text 54"/>
          <p:cNvSpPr/>
          <p:nvPr/>
        </p:nvSpPr>
        <p:spPr>
          <a:xfrm>
            <a:off x="10107930" y="5632704"/>
            <a:ext cx="1480261" cy="201168"/>
          </a:xfrm>
          <a:prstGeom prst="rect">
            <a:avLst/>
          </a:prstGeom>
          <a:noFill/>
          <a:ln/>
        </p:spPr>
        <p:txBody>
          <a:bodyPr wrap="square" lIns="0" tIns="0" rIns="0" bIns="0" rtlCol="0" anchor="t"/>
          <a:lstStyle/>
          <a:p>
            <a:pPr algn="ctr" indent="0" marL="0">
              <a:buNone/>
            </a:pPr>
            <a:r>
              <a:rPr lang="en-US" sz="950" b="1" dirty="0">
                <a:solidFill>
                  <a:srgbClr val="9CB0CB"/>
                </a:solidFill>
                <a:latin typeface="Arial" pitchFamily="34" charset="0"/>
                <a:ea typeface="Arial" pitchFamily="34" charset="-122"/>
                <a:cs typeface="Arial" pitchFamily="34" charset="-120"/>
              </a:rPr>
              <a:t>Dashboard</a:t>
            </a:r>
            <a:endParaRPr lang="en-US" sz="950" dirty="0"/>
          </a:p>
        </p:txBody>
      </p:sp>
      <p:sp>
        <p:nvSpPr>
          <p:cNvPr id="65" name="Text 55"/>
          <p:cNvSpPr/>
          <p:nvPr/>
        </p:nvSpPr>
        <p:spPr>
          <a:xfrm>
            <a:off x="548640" y="6236208"/>
            <a:ext cx="9601200" cy="237744"/>
          </a:xfrm>
          <a:prstGeom prst="rect">
            <a:avLst/>
          </a:prstGeom>
          <a:noFill/>
          <a:ln/>
        </p:spPr>
        <p:txBody>
          <a:bodyPr wrap="square" lIns="0" tIns="0" rIns="0" bIns="0" rtlCol="0" anchor="t"/>
          <a:lstStyle/>
          <a:p>
            <a:pPr indent="0" marL="0">
              <a:buNone/>
            </a:pPr>
            <a:r>
              <a:rPr lang="en-US" sz="950" dirty="0">
                <a:solidFill>
                  <a:srgbClr val="6E8299"/>
                </a:solidFill>
                <a:latin typeface="Arial" pitchFamily="34" charset="0"/>
                <a:ea typeface="Arial" pitchFamily="34" charset="-122"/>
                <a:cs typeface="Arial" pitchFamily="34" charset="-120"/>
              </a:rPr>
              <a:t>Team Divija, Riya and Ranbir      Exasol Personal Challenge      Working demo prototype on synthetic data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RaGeX Pricing Guardrail</dc:title>
  <dc:subject>PptxGenJS Presentation</dc:subject>
  <dc:creator>Divija, Riya, Ranbir</dc:creator>
  <cp:lastModifiedBy>Divija, Riya, Ranbir</cp:lastModifiedBy>
  <cp:revision>1</cp:revision>
  <dcterms:created xsi:type="dcterms:W3CDTF">2026-08-23T17:10:17Z</dcterms:created>
  <dcterms:modified xsi:type="dcterms:W3CDTF">2026-08-23T17:10:17Z</dcterms:modified>
</cp:coreProperties>
</file>